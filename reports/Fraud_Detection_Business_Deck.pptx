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Smarter Fraud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00A3E0"/>
                </a:solidFill>
                <a:latin typeface="Calibri"/>
              </a:defRPr>
            </a:pPr>
            <a:r>
              <a:t>Using AI to Protect Customers and Reduce Losses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BBCC"/>
                </a:solidFill>
                <a:latin typeface="Calibri"/>
              </a:defRPr>
            </a:pPr>
            <a:r>
              <a:t>Executive Summary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232F3E"/>
                </a:solidFill>
                <a:latin typeface="Calibri"/>
              </a:defRPr>
            </a:pPr>
            <a:r>
              <a:t>Credit card fraud costs the financial industry billions annually. As digital payments grow, so do fraudulent attacks. Customers who are charged for purchases they didn't make lose trust. The challenge: catch fraud quickly without disrupting legitimate transactions.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743200"/>
            <a:ext cx="3200400" cy="2286000"/>
          </a:xfrm>
          <a:prstGeom prst="roundRect">
            <a:avLst/>
          </a:prstGeom>
          <a:solidFill>
            <a:srgbClr val="F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74C3C"/>
                </a:solidFill>
                <a:latin typeface="Calibri"/>
              </a:defRPr>
            </a:pPr>
            <a:r>
              <a:t>The Cost of Missed Fraud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Financial losses to the company</a:t>
            </a:r>
          </a:p>
          <a:p>
            <a:pPr>
              <a:spcAft>
                <a:spcPts val="10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Chargebacks and disputes</a:t>
            </a:r>
          </a:p>
          <a:p>
            <a:pPr>
              <a:spcAft>
                <a:spcPts val="10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Damaged customer trust</a:t>
            </a:r>
          </a:p>
          <a:p>
            <a:pPr>
              <a:spcAft>
                <a:spcPts val="10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Regulatory scrutiny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2743200"/>
            <a:ext cx="3200400" cy="2286000"/>
          </a:xfrm>
          <a:prstGeom prst="roundRect">
            <a:avLst/>
          </a:prstGeom>
          <a:solidFill>
            <a:srgbClr val="FD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28346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9900"/>
                </a:solidFill>
                <a:latin typeface="Calibri"/>
              </a:defRPr>
            </a:pPr>
            <a:r>
              <a:t>The Cost of False Alarms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329184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Legitimate purchases blocked</a:t>
            </a:r>
          </a:p>
          <a:p>
            <a:pPr>
              <a:spcAft>
                <a:spcPts val="10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Frustrated customers</a:t>
            </a:r>
          </a:p>
          <a:p>
            <a:pPr>
              <a:spcAft>
                <a:spcPts val="10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Increased call center volume</a:t>
            </a:r>
          </a:p>
          <a:p>
            <a:pPr>
              <a:spcAft>
                <a:spcPts val="10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Customer churn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2743200"/>
            <a:ext cx="3200400" cy="2286000"/>
          </a:xfrm>
          <a:prstGeom prst="roundRect">
            <a:avLst/>
          </a:prstGeom>
          <a:solidFill>
            <a:srgbClr val="E8FD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0" y="28346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CC71"/>
                </a:solidFill>
                <a:latin typeface="Calibri"/>
              </a:defRPr>
            </a:pPr>
            <a:r>
              <a:t>The Goal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29184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Catch as much fraud as possible</a:t>
            </a:r>
          </a:p>
          <a:p>
            <a:pPr>
              <a:spcAft>
                <a:spcPts val="10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Minimize false alarms</a:t>
            </a:r>
          </a:p>
          <a:p>
            <a:pPr>
              <a:spcAft>
                <a:spcPts val="10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Real-time decision making</a:t>
            </a:r>
          </a:p>
          <a:p>
            <a:pPr>
              <a:spcAft>
                <a:spcPts val="10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Fair treatment across all customers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Our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232F3E"/>
                </a:solidFill>
                <a:latin typeface="Calibri"/>
              </a:defRPr>
            </a:pPr>
            <a:r>
              <a:t>We built an AI model that learns from millions of past transactions to identify patterns that distinguish fraudulent activity from legitimate purchases.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560320"/>
            <a:ext cx="2560320" cy="228600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A3E0"/>
                </a:solidFill>
                <a:latin typeface="Calibri"/>
              </a:defRPr>
            </a:pPr>
            <a:r>
              <a:t>Analyze</a:t>
            </a:r>
            <a:br/>
            <a:r>
              <a:t>Historical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32F3E"/>
                </a:solidFill>
                <a:latin typeface="Calibri"/>
              </a:defRPr>
            </a:pPr>
            <a:r>
              <a:t>Study millions of</a:t>
            </a:r>
            <a:br/>
            <a:r>
              <a:t>past transactions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3200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A3E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2560320"/>
            <a:ext cx="2560320" cy="2286000"/>
          </a:xfrm>
          <a:prstGeom prst="roundRect">
            <a:avLst/>
          </a:prstGeom>
          <a:solidFill>
            <a:srgbClr val="FD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265176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9900"/>
                </a:solidFill>
                <a:latin typeface="Calibri"/>
              </a:defRPr>
            </a:pPr>
            <a:r>
              <a:t>Learn</a:t>
            </a:r>
            <a:br/>
            <a:r>
              <a:t>Fraud Patterns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34747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32F3E"/>
                </a:solidFill>
                <a:latin typeface="Calibri"/>
              </a:defRPr>
            </a:pPr>
            <a:r>
              <a:t>AI identifies what</a:t>
            </a:r>
            <a:br/>
            <a:r>
              <a:t>fraud looks like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3200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A3E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560320"/>
            <a:ext cx="2560320" cy="2286000"/>
          </a:xfrm>
          <a:prstGeom prst="roundRect">
            <a:avLst/>
          </a:prstGeom>
          <a:solidFill>
            <a:srgbClr val="E8FD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65176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CC71"/>
                </a:solidFill>
                <a:latin typeface="Calibri"/>
              </a:defRPr>
            </a:pPr>
            <a:r>
              <a:t>Score Every</a:t>
            </a:r>
            <a:br/>
            <a:r>
              <a:t>Transaction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4747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32F3E"/>
                </a:solidFill>
                <a:latin typeface="Calibri"/>
              </a:defRPr>
            </a:pPr>
            <a:r>
              <a:t>Each transaction gets</a:t>
            </a:r>
            <a:br/>
            <a:r>
              <a:t>a fraud risk 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3200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A3E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2560320"/>
            <a:ext cx="2560320" cy="2286000"/>
          </a:xfrm>
          <a:prstGeom prst="roundRect">
            <a:avLst/>
          </a:prstGeom>
          <a:solidFill>
            <a:srgbClr val="F0E8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265176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8E44AD"/>
                </a:solidFill>
                <a:latin typeface="Calibri"/>
              </a:defRPr>
            </a:pPr>
            <a:r>
              <a:t>Flag</a:t>
            </a:r>
            <a:br/>
            <a:r>
              <a:t>Suspicious Activity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34747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32F3E"/>
                </a:solidFill>
                <a:latin typeface="Calibri"/>
              </a:defRPr>
            </a:pPr>
            <a:r>
              <a:t>High-risk transactions</a:t>
            </a:r>
            <a:br/>
            <a:r>
              <a:t>are flagged for review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303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F8C8D"/>
                </a:solidFill>
                <a:latin typeface="Calibri"/>
              </a:defRPr>
            </a:pPr>
            <a:r>
              <a:t>The model evaluates 15 key signals per transaction including amount, merchant, time of day, location, and customer profile.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What the AI Looks 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32F3E"/>
                </a:solidFill>
                <a:latin typeface="Calibri"/>
              </a:defRPr>
            </a:pPr>
            <a:r>
              <a:t>The model analyzes 15 key signals from each transaction to determine fraud risk: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2560320" cy="320040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A3E0"/>
                </a:solidFill>
                <a:latin typeface="Calibri"/>
              </a:defRPr>
            </a:pPr>
            <a:r>
              <a:t>Transaction Details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2286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• How much was spent</a:t>
            </a:r>
          </a:p>
          <a:p>
            <a:pPr>
              <a:spcAft>
                <a:spcPts val="8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• What type of purchase</a:t>
            </a:r>
          </a:p>
          <a:p>
            <a:pPr>
              <a:spcAft>
                <a:spcPts val="8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• Which merchant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1828800"/>
            <a:ext cx="2560320" cy="3200400"/>
          </a:xfrm>
          <a:prstGeom prst="roundRect">
            <a:avLst/>
          </a:prstGeom>
          <a:solidFill>
            <a:srgbClr val="FD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9202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9900"/>
                </a:solidFill>
                <a:latin typeface="Calibri"/>
              </a:defRPr>
            </a:pPr>
            <a:r>
              <a:t>Timing Patterns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40" y="2468880"/>
            <a:ext cx="2286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• Time of day</a:t>
            </a:r>
          </a:p>
          <a:p>
            <a:pPr>
              <a:spcAft>
                <a:spcPts val="8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• Day of week</a:t>
            </a:r>
          </a:p>
          <a:p>
            <a:pPr>
              <a:spcAft>
                <a:spcPts val="8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• Month and season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828800"/>
            <a:ext cx="2560320" cy="3200400"/>
          </a:xfrm>
          <a:prstGeom prst="roundRect">
            <a:avLst/>
          </a:prstGeom>
          <a:solidFill>
            <a:srgbClr val="E8FD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9202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CC71"/>
                </a:solidFill>
                <a:latin typeface="Calibri"/>
              </a:defRPr>
            </a:pPr>
            <a:r>
              <a:t>Customer Profile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2286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• Customer age</a:t>
            </a:r>
          </a:p>
          <a:p>
            <a:pPr>
              <a:spcAft>
                <a:spcPts val="8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• Location (city, state, ZIP)</a:t>
            </a:r>
          </a:p>
          <a:p>
            <a:pPr>
              <a:spcAft>
                <a:spcPts val="8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• City population size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35440" y="1828800"/>
            <a:ext cx="2560320" cy="3200400"/>
          </a:xfrm>
          <a:prstGeom prst="roundRect">
            <a:avLst/>
          </a:prstGeom>
          <a:solidFill>
            <a:srgbClr val="F0E8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0" y="19202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8E44AD"/>
                </a:solidFill>
                <a:latin typeface="Calibri"/>
              </a:defRPr>
            </a:pPr>
            <a:r>
              <a:t>Behavioral Signals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2468880"/>
            <a:ext cx="2286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• Unusual spending amounts</a:t>
            </a:r>
          </a:p>
          <a:p>
            <a:pPr>
              <a:spcAft>
                <a:spcPts val="8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• Transactions at odd hours</a:t>
            </a:r>
          </a:p>
          <a:p>
            <a:pPr>
              <a:spcAft>
                <a:spcPts val="8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• Patterns across categories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303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7F8C8D"/>
                </a:solidFill>
                <a:latin typeface="Calibri"/>
              </a:defRPr>
            </a:pPr>
            <a:r>
              <a:t>These signals were selected from a larger set using statistical analysis to identify the most predictive factors.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Results at a Glance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474720" cy="274320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32F3E"/>
                </a:solidFill>
                <a:latin typeface="Calibri"/>
              </a:defRPr>
            </a:pPr>
            <a:r>
              <a:t>Fraud Detected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2ECC71"/>
                </a:solidFill>
                <a:latin typeface="Calibri"/>
              </a:defRPr>
            </a:pPr>
            <a:r>
              <a:t>88.7%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of fraudulent transactions</a:t>
            </a:r>
            <a:br/>
            <a:r>
              <a:t>caught by the model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59" y="1371600"/>
            <a:ext cx="3474720" cy="274320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59" y="15544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32F3E"/>
                </a:solidFill>
                <a:latin typeface="Calibri"/>
              </a:defRPr>
            </a:pPr>
            <a:r>
              <a:t>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59" y="201168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A3E0"/>
                </a:solidFill>
                <a:latin typeface="Calibri"/>
              </a:defRPr>
            </a:pPr>
            <a:r>
              <a:t>94.9%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59" y="292608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of fraud alerts are</a:t>
            </a:r>
            <a:br/>
            <a:r>
              <a:t>actual fraud (not false alarms)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371600"/>
            <a:ext cx="3474720" cy="274320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5544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32F3E"/>
                </a:solidFill>
                <a:latin typeface="Calibri"/>
              </a:defRPr>
            </a:pPr>
            <a:r>
              <a:t>Overall Accuracy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01168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8E44AD"/>
                </a:solidFill>
                <a:latin typeface="Calibri"/>
              </a:defRPr>
            </a:pPr>
            <a:r>
              <a:t>99.9%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92608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of all transactions</a:t>
            </a:r>
            <a:br/>
            <a:r>
              <a:t>correctly classified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5720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32F3E"/>
                </a:solidFill>
                <a:latin typeface="Calibri"/>
              </a:defRPr>
            </a:pPr>
            <a:r>
              <a:t>Out of 259,335 test transactions containing 1,501 fraud cases, the model correctly identified 1,331 fraudulent transactions while generating only 72 false alarms.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What This Means in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32F3E"/>
                </a:solidFill>
                <a:latin typeface="Calibri"/>
              </a:defRPr>
            </a:pPr>
            <a:r>
              <a:t>For every 259,335 transactions processed: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5029200" cy="1371600"/>
          </a:xfrm>
          <a:prstGeom prst="roundRect">
            <a:avLst/>
          </a:prstGeom>
          <a:solidFill>
            <a:srgbClr val="E8FD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ECC71"/>
                </a:solidFill>
                <a:latin typeface="Calibri"/>
              </a:defRPr>
            </a:pPr>
            <a:r>
              <a:t>Fraud Caught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32F3E"/>
                </a:solidFill>
                <a:latin typeface="Calibri"/>
              </a:defRPr>
            </a:pPr>
            <a:r>
              <a:t>1,331 fraudulent transactions stopped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011680"/>
            <a:ext cx="5029200" cy="1371600"/>
          </a:xfrm>
          <a:prstGeom prst="roundRect">
            <a:avLst/>
          </a:prstGeom>
          <a:solidFill>
            <a:srgbClr val="F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2103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74C3C"/>
                </a:solidFill>
                <a:latin typeface="Calibri"/>
              </a:defRPr>
            </a:pPr>
            <a:r>
              <a:t>Fraud Missed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56032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32F3E"/>
                </a:solidFill>
                <a:latin typeface="Calibri"/>
              </a:defRPr>
            </a:pPr>
            <a:r>
              <a:t>170 fraudulent transactions slipped through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40480"/>
            <a:ext cx="5029200" cy="1371600"/>
          </a:xfrm>
          <a:prstGeom prst="roundRect">
            <a:avLst/>
          </a:prstGeom>
          <a:solidFill>
            <a:srgbClr val="FD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9900"/>
                </a:solidFill>
                <a:latin typeface="Calibri"/>
              </a:defRPr>
            </a:pPr>
            <a:r>
              <a:t>False Alarms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38912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32F3E"/>
                </a:solidFill>
                <a:latin typeface="Calibri"/>
              </a:defRPr>
            </a:pPr>
            <a:r>
              <a:t>Only 72 legitimate transactions incorrectly flagged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840480"/>
            <a:ext cx="5029200" cy="137160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39319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A3E0"/>
                </a:solidFill>
                <a:latin typeface="Calibri"/>
              </a:defRPr>
            </a:pPr>
            <a:r>
              <a:t>Smooth Sailing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38912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32F3E"/>
                </a:solidFill>
                <a:latin typeface="Calibri"/>
              </a:defRPr>
            </a:pPr>
            <a:r>
              <a:t>257,762 legitimate transactions processed normally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69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ECC71"/>
                </a:solidFill>
                <a:latin typeface="Calibri"/>
              </a:defRPr>
            </a:pPr>
            <a:r>
              <a:t>This means 99.97% of legitimate customers experience zero disruption from the fraud detection system.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How We Improved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32F3E"/>
                </a:solidFill>
                <a:latin typeface="Calibri"/>
              </a:defRPr>
            </a:pPr>
            <a:r>
              <a:t>We tested 10 different AI approaches and fine-tuned the best performer. The optimization dramatically reduced false alarms while maintaining fraud detection.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86000"/>
            <a:ext cx="5029200" cy="2743200"/>
          </a:xfrm>
          <a:prstGeom prst="roundRect">
            <a:avLst/>
          </a:prstGeom>
          <a:solidFill>
            <a:srgbClr val="FD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9900"/>
                </a:solidFill>
                <a:latin typeface="Calibri"/>
              </a:defRPr>
            </a:pPr>
            <a:r>
              <a:t>Before Optimization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32F3E"/>
                </a:solidFill>
                <a:latin typeface="Calibri"/>
              </a:defRPr>
            </a:pPr>
            <a:r>
              <a:t>89.1% of fraud detected</a:t>
            </a:r>
          </a:p>
          <a:p>
            <a:pPr>
              <a:spcAft>
                <a:spcPts val="600"/>
              </a:spcAft>
              <a:defRPr sz="1600">
                <a:solidFill>
                  <a:srgbClr val="232F3E"/>
                </a:solidFill>
                <a:latin typeface="Calibri"/>
              </a:defRPr>
            </a:pPr>
            <a:r>
              <a:t>81.8% alert accuracy</a:t>
            </a:r>
          </a:p>
          <a:p>
            <a:pPr>
              <a:spcAft>
                <a:spcPts val="600"/>
              </a:spcAft>
              <a:defRPr sz="1600">
                <a:solidFill>
                  <a:srgbClr val="232F3E"/>
                </a:solidFill>
                <a:latin typeface="Calibri"/>
              </a:defRPr>
            </a:pPr>
            <a:r>
              <a:t>More false alarms disrupting customers</a:t>
            </a:r>
          </a:p>
          <a:p>
            <a:pPr>
              <a:spcAft>
                <a:spcPts val="600"/>
              </a:spcAft>
              <a:defRPr sz="1600">
                <a:solidFill>
                  <a:srgbClr val="232F3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232F3E"/>
                </a:solidFill>
                <a:latin typeface="Calibri"/>
              </a:defRPr>
            </a:pPr>
            <a:r>
              <a:t>Good at catching fraud, but too many</a:t>
            </a:r>
          </a:p>
          <a:p>
            <a:pPr>
              <a:spcAft>
                <a:spcPts val="600"/>
              </a:spcAft>
              <a:defRPr sz="1600">
                <a:solidFill>
                  <a:srgbClr val="232F3E"/>
                </a:solidFill>
                <a:latin typeface="Calibri"/>
              </a:defRPr>
            </a:pPr>
            <a:r>
              <a:t>legitimate transactions were flagged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286000"/>
            <a:ext cx="5029200" cy="2743200"/>
          </a:xfrm>
          <a:prstGeom prst="roundRect">
            <a:avLst/>
          </a:prstGeom>
          <a:solidFill>
            <a:srgbClr val="E8FD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23774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ECC71"/>
                </a:solidFill>
                <a:latin typeface="Calibri"/>
              </a:defRPr>
            </a:pPr>
            <a:r>
              <a:t>After Optimization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92608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32F3E"/>
                </a:solidFill>
                <a:latin typeface="Calibri"/>
              </a:defRPr>
            </a:pPr>
            <a:r>
              <a:t>88.7% of fraud detected</a:t>
            </a:r>
          </a:p>
          <a:p>
            <a:pPr>
              <a:spcAft>
                <a:spcPts val="600"/>
              </a:spcAft>
              <a:defRPr sz="1600">
                <a:solidFill>
                  <a:srgbClr val="232F3E"/>
                </a:solidFill>
                <a:latin typeface="Calibri"/>
              </a:defRPr>
            </a:pPr>
            <a:r>
              <a:t>94.9% alert accuracy</a:t>
            </a:r>
          </a:p>
          <a:p>
            <a:pPr>
              <a:spcAft>
                <a:spcPts val="600"/>
              </a:spcAft>
              <a:defRPr sz="1600">
                <a:solidFill>
                  <a:srgbClr val="232F3E"/>
                </a:solidFill>
                <a:latin typeface="Calibri"/>
              </a:defRPr>
            </a:pPr>
            <a:r>
              <a:t>Far fewer false alarms</a:t>
            </a:r>
          </a:p>
          <a:p>
            <a:pPr>
              <a:spcAft>
                <a:spcPts val="600"/>
              </a:spcAft>
              <a:defRPr sz="1600">
                <a:solidFill>
                  <a:srgbClr val="232F3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232F3E"/>
                </a:solidFill>
                <a:latin typeface="Calibri"/>
              </a:defRPr>
            </a:pPr>
            <a:r>
              <a:t>Nearly the same fraud detection with</a:t>
            </a:r>
          </a:p>
          <a:p>
            <a:pPr>
              <a:spcAft>
                <a:spcPts val="600"/>
              </a:spcAft>
              <a:defRPr sz="1600">
                <a:solidFill>
                  <a:srgbClr val="232F3E"/>
                </a:solidFill>
                <a:latin typeface="Calibri"/>
              </a:defRPr>
            </a:pPr>
            <a:r>
              <a:t>dramatically better precision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303520"/>
            <a:ext cx="10515600" cy="73152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232F3E"/>
                </a:solidFill>
                <a:latin typeface="Calibri"/>
              </a:defRPr>
            </a:pPr>
            <a:r>
              <a:t>Result: 16% improvement in alert accuracy with less than 1% reduction in fraud detection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Fairness — Protecting All Customers Equally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32F3E"/>
                </a:solidFill>
                <a:latin typeface="Calibri"/>
              </a:defRPr>
            </a:pPr>
            <a:r>
              <a:t>We audited the model to ensure it treats all customer groups fairly, regardless of gender or age. No customer segment should be disproportionately affected by missed fraud or false alarms.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86000"/>
            <a:ext cx="5029200" cy="2286000"/>
          </a:xfrm>
          <a:prstGeom prst="roundRect">
            <a:avLst/>
          </a:prstGeom>
          <a:solidFill>
            <a:srgbClr val="E8FD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ECC71"/>
                </a:solidFill>
                <a:latin typeface="Calibri"/>
              </a:defRPr>
            </a:pPr>
            <a:r>
              <a:t>Gender Fairness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F3E"/>
                </a:solidFill>
                <a:latin typeface="Calibri"/>
              </a:defRPr>
            </a:pPr>
            <a:r>
              <a:t>✓  Female fraud detection: 88.4%</a:t>
            </a:r>
          </a:p>
          <a:p>
            <a:pPr>
              <a:spcAft>
                <a:spcPts val="800"/>
              </a:spcAft>
              <a:defRPr sz="1600">
                <a:solidFill>
                  <a:srgbClr val="232F3E"/>
                </a:solidFill>
                <a:latin typeface="Calibri"/>
              </a:defRPr>
            </a:pPr>
            <a:r>
              <a:t>✓  Male fraud detection: 89.0%</a:t>
            </a:r>
          </a:p>
          <a:p>
            <a:pPr>
              <a:spcAft>
                <a:spcPts val="800"/>
              </a:spcAft>
              <a:defRPr sz="1600">
                <a:solidFill>
                  <a:srgbClr val="232F3E"/>
                </a:solidFill>
                <a:latin typeface="Calibri"/>
              </a:defRPr>
            </a:pPr>
            <a:r>
              <a:t>✓  Minimal difference — model is fair</a:t>
            </a:r>
          </a:p>
          <a:p>
            <a:pPr>
              <a:spcAft>
                <a:spcPts val="800"/>
              </a:spcAft>
              <a:defRPr sz="1600">
                <a:solidFill>
                  <a:srgbClr val="232F3E"/>
                </a:solidFill>
                <a:latin typeface="Calibri"/>
              </a:defRPr>
            </a:pPr>
            <a:r>
              <a:t>✓  Near-zero false alarm rate for both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286000"/>
            <a:ext cx="5029200" cy="228600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23774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A3E0"/>
                </a:solidFill>
                <a:latin typeface="Calibri"/>
              </a:defRPr>
            </a:pPr>
            <a:r>
              <a:t>Age Group Fairness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92608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F3E"/>
                </a:solidFill>
                <a:latin typeface="Calibri"/>
              </a:defRPr>
            </a:pPr>
            <a:r>
              <a:t>✓  Under 25: 87.1% detection</a:t>
            </a:r>
          </a:p>
          <a:p>
            <a:pPr>
              <a:spcAft>
                <a:spcPts val="800"/>
              </a:spcAft>
              <a:defRPr sz="1600">
                <a:solidFill>
                  <a:srgbClr val="232F3E"/>
                </a:solidFill>
                <a:latin typeface="Calibri"/>
              </a:defRPr>
            </a:pPr>
            <a:r>
              <a:t>✓  25-45: 85.0% detection</a:t>
            </a:r>
          </a:p>
          <a:p>
            <a:pPr>
              <a:spcAft>
                <a:spcPts val="800"/>
              </a:spcAft>
              <a:defRPr sz="1600">
                <a:solidFill>
                  <a:srgbClr val="232F3E"/>
                </a:solidFill>
                <a:latin typeface="Calibri"/>
              </a:defRPr>
            </a:pPr>
            <a:r>
              <a:t>✓  45-65: 90.2% detection</a:t>
            </a:r>
          </a:p>
          <a:p>
            <a:pPr>
              <a:spcAft>
                <a:spcPts val="800"/>
              </a:spcAft>
              <a:defRPr sz="1600">
                <a:solidFill>
                  <a:srgbClr val="232F3E"/>
                </a:solidFill>
                <a:latin typeface="Calibri"/>
              </a:defRPr>
            </a:pPr>
            <a:r>
              <a:t>✓  65+: 93.3%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46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32F3E"/>
                </a:solidFill>
                <a:latin typeface="Calibri"/>
              </a:defRPr>
            </a:pPr>
            <a:r>
              <a:t>Younger customers have slightly lower detection rates. We recommend additional monitoring and targeted improvements for this group to ensure equitable protection.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669280"/>
            <a:ext cx="10515600" cy="548640"/>
          </a:xfrm>
          <a:prstGeom prst="roundRect">
            <a:avLst/>
          </a:prstGeom>
          <a:solidFill>
            <a:srgbClr val="E8FD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232F3E"/>
                </a:solidFill>
                <a:latin typeface="Calibri"/>
              </a:defRPr>
            </a:pPr>
            <a:r>
              <a:t>False alarm rates are near zero across all demographics — legitimate customers are rarely disrupted.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How the Model Makes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32F3E"/>
                </a:solidFill>
                <a:latin typeface="Calibri"/>
              </a:defRPr>
            </a:pPr>
            <a:r>
              <a:t>The AI model is not a black box. We can explain exactly why each transaction was flagged or approved. This transparency is critical for regulatory compliance and customer trust.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86000"/>
            <a:ext cx="5029200" cy="3200400"/>
          </a:xfrm>
          <a:prstGeom prst="roundRect">
            <a:avLst/>
          </a:prstGeom>
          <a:solidFill>
            <a:srgbClr val="F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74C3C"/>
                </a:solidFill>
                <a:latin typeface="Calibri"/>
              </a:defRPr>
            </a:pPr>
            <a:r>
              <a:t>Example: Flagged as Fraud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0175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→  Unusually high transaction amount</a:t>
            </a: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→  Purchase at 3 AM (unusual hour)</a:t>
            </a: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→  Merchant category rarely used</a:t>
            </a: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→  Different city than usual</a:t>
            </a: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Multiple risk signals combined to</a:t>
            </a: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push the score above the threshold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286000"/>
            <a:ext cx="5029200" cy="3200400"/>
          </a:xfrm>
          <a:prstGeom prst="roundRect">
            <a:avLst/>
          </a:prstGeom>
          <a:solidFill>
            <a:srgbClr val="E8FD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23774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ECC71"/>
                </a:solidFill>
                <a:latin typeface="Calibri"/>
              </a:defRPr>
            </a:pPr>
            <a:r>
              <a:t>Example: Approved as Legitimate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30175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→  Normal transaction amount</a:t>
            </a: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→  Purchase during business hours</a:t>
            </a: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→  Familiar merchant category</a:t>
            </a: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→  Customer's home city</a:t>
            </a: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All signals consistent with normal</a:t>
            </a: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spending behavior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760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F8C8D"/>
                </a:solidFill>
                <a:latin typeface="Calibri"/>
              </a:defRPr>
            </a:pPr>
            <a:r>
              <a:t>Every decision can be traced back to specific factors — enabling audit trails and dispute resolution.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Expected Business Impact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2651760" cy="3200400"/>
          </a:xfrm>
          <a:prstGeom prst="roundRect">
            <a:avLst/>
          </a:prstGeom>
          <a:solidFill>
            <a:srgbClr val="E8FD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ECC71"/>
                </a:solidFill>
                <a:latin typeface="Calibri"/>
              </a:defRPr>
            </a:pPr>
            <a:r>
              <a:t>Reduced</a:t>
            </a:r>
            <a:br/>
            <a:r>
              <a:t>Fraud Losses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232F3E"/>
                </a:solidFill>
                <a:latin typeface="Calibri"/>
              </a:defRPr>
            </a:pPr>
            <a:r>
              <a:t>88.7% of fraud</a:t>
            </a:r>
            <a:br/>
            <a:r>
              <a:t>caught before</a:t>
            </a:r>
            <a:br/>
            <a:r>
              <a:t>it costs money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371600"/>
            <a:ext cx="2651760" cy="320040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155448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A3E0"/>
                </a:solidFill>
                <a:latin typeface="Calibri"/>
              </a:defRPr>
            </a:pPr>
            <a:r>
              <a:t>Fewer Customer</a:t>
            </a:r>
            <a:br/>
            <a:r>
              <a:t>Complaints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5603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232F3E"/>
                </a:solidFill>
                <a:latin typeface="Calibri"/>
              </a:defRPr>
            </a:pPr>
            <a:r>
              <a:t>Only 0.03% of</a:t>
            </a:r>
            <a:br/>
            <a:r>
              <a:t>legitimate transactions</a:t>
            </a:r>
            <a:br/>
            <a:r>
              <a:t>incorrectly flagged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371600"/>
            <a:ext cx="2651760" cy="3200400"/>
          </a:xfrm>
          <a:prstGeom prst="roundRect">
            <a:avLst/>
          </a:prstGeom>
          <a:solidFill>
            <a:srgbClr val="FD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55448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9900"/>
                </a:solidFill>
                <a:latin typeface="Calibri"/>
              </a:defRPr>
            </a:pPr>
            <a:r>
              <a:t>Faster</a:t>
            </a:r>
            <a:br/>
            <a:r>
              <a:t>Resolution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5603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232F3E"/>
                </a:solidFill>
                <a:latin typeface="Calibri"/>
              </a:defRPr>
            </a:pPr>
            <a:r>
              <a:t>Automated scoring</a:t>
            </a:r>
            <a:br/>
            <a:r>
              <a:t>reduces manual</a:t>
            </a:r>
            <a:br/>
            <a:r>
              <a:t>review workload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1371600"/>
            <a:ext cx="2651760" cy="3200400"/>
          </a:xfrm>
          <a:prstGeom prst="roundRect">
            <a:avLst/>
          </a:prstGeom>
          <a:solidFill>
            <a:srgbClr val="F0E8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0" y="155448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E44AD"/>
                </a:solidFill>
                <a:latin typeface="Calibri"/>
              </a:defRPr>
            </a:pPr>
            <a:r>
              <a:t>Regulatory</a:t>
            </a:r>
            <a:br/>
            <a:r>
              <a:t>Compliance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25603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232F3E"/>
                </a:solidFill>
                <a:latin typeface="Calibri"/>
              </a:defRPr>
            </a:pPr>
            <a:r>
              <a:t>Explainable AI with</a:t>
            </a:r>
            <a:br/>
            <a:r>
              <a:t>fairness auditing</a:t>
            </a:r>
            <a:br/>
            <a:r>
              <a:t>across demographics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029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32F3E"/>
                </a:solidFill>
                <a:latin typeface="Calibri"/>
              </a:defRPr>
            </a:pPr>
            <a:r>
              <a:t>The model processes transactions in real-time, providing instant fraud risk scores that can be integrated into existing payment processing workflows.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Considerations &amp; Roadmap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029200" cy="3200400"/>
          </a:xfrm>
          <a:prstGeom prst="roundRect">
            <a:avLst/>
          </a:prstGeom>
          <a:solidFill>
            <a:srgbClr val="FD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9900"/>
                </a:solidFill>
                <a:latin typeface="Calibri"/>
              </a:defRPr>
            </a:pPr>
            <a:r>
              <a:t>Things to Keep in Mind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• Fraud patterns evolve — the model needs</a:t>
            </a:r>
          </a:p>
          <a:p>
            <a:pPr>
              <a:spcAft>
                <a:spcPts val="3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  periodic updates to stay effective</a:t>
            </a:r>
          </a:p>
          <a:p>
            <a:pPr>
              <a:spcAft>
                <a:spcPts val="300"/>
              </a:spcAft>
              <a:defRPr sz="1500">
                <a:solidFill>
                  <a:srgbClr val="232F3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• 170 out of 1,501 fraud cases were missed</a:t>
            </a:r>
          </a:p>
          <a:p>
            <a:pPr>
              <a:spcAft>
                <a:spcPts val="3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  (11.3%) — additional layers may be needed</a:t>
            </a:r>
          </a:p>
          <a:p>
            <a:pPr>
              <a:spcAft>
                <a:spcPts val="300"/>
              </a:spcAft>
              <a:defRPr sz="1500">
                <a:solidFill>
                  <a:srgbClr val="232F3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• Younger customers have slightly lower</a:t>
            </a:r>
          </a:p>
          <a:p>
            <a:pPr>
              <a:spcAft>
                <a:spcPts val="3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  protection — targeted improvements planned</a:t>
            </a:r>
          </a:p>
          <a:p>
            <a:pPr>
              <a:spcAft>
                <a:spcPts val="300"/>
              </a:spcAft>
              <a:defRPr sz="1500">
                <a:solidFill>
                  <a:srgbClr val="232F3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• Model trained on historical data — new</a:t>
            </a:r>
          </a:p>
          <a:p>
            <a:pPr>
              <a:spcAft>
                <a:spcPts val="3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  fraud types may require retraining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029200" cy="3200400"/>
          </a:xfrm>
          <a:prstGeom prst="roundRect">
            <a:avLst/>
          </a:prstGeom>
          <a:solidFill>
            <a:srgbClr val="E8FD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Calibri"/>
              </a:defRPr>
            </a:pPr>
            <a:r>
              <a:t>Recommended Next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01168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• Deploy model in production with</a:t>
            </a:r>
          </a:p>
          <a:p>
            <a:pPr>
              <a:spcAft>
                <a:spcPts val="3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  real-time transaction scoring</a:t>
            </a:r>
          </a:p>
          <a:p>
            <a:pPr>
              <a:spcAft>
                <a:spcPts val="300"/>
              </a:spcAft>
              <a:defRPr sz="1500">
                <a:solidFill>
                  <a:srgbClr val="232F3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• Set up automated monitoring to detect</a:t>
            </a:r>
          </a:p>
          <a:p>
            <a:pPr>
              <a:spcAft>
                <a:spcPts val="3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  when model performance degrades</a:t>
            </a:r>
          </a:p>
          <a:p>
            <a:pPr>
              <a:spcAft>
                <a:spcPts val="300"/>
              </a:spcAft>
              <a:defRPr sz="1500">
                <a:solidFill>
                  <a:srgbClr val="232F3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• Run A/B test against current rule-based</a:t>
            </a:r>
          </a:p>
          <a:p>
            <a:pPr>
              <a:spcAft>
                <a:spcPts val="3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  fraud detection system</a:t>
            </a:r>
          </a:p>
          <a:p>
            <a:pPr>
              <a:spcAft>
                <a:spcPts val="300"/>
              </a:spcAft>
              <a:defRPr sz="1500">
                <a:solidFill>
                  <a:srgbClr val="232F3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• Schedule quarterly model retraining</a:t>
            </a:r>
          </a:p>
          <a:p>
            <a:pPr>
              <a:spcAft>
                <a:spcPts val="3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  with latest transaction data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We built an AI-powered fraud detection system that catches 88.7% of fraudulent transactions with 94.9% accuracy, while disrupting less than 0.03% of legitimate customers.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4114800"/>
            <a:ext cx="2926080" cy="1371600"/>
          </a:xfrm>
          <a:prstGeom prst="roundRect">
            <a:avLst/>
          </a:prstGeom>
          <a:solidFill>
            <a:srgbClr val="24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2062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CC71"/>
                </a:solidFill>
                <a:latin typeface="Calibri"/>
              </a:defRPr>
            </a:pPr>
            <a:r>
              <a:t>88.7%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8463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Fraud Caught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4114800"/>
            <a:ext cx="2926080" cy="1371600"/>
          </a:xfrm>
          <a:prstGeom prst="roundRect">
            <a:avLst/>
          </a:prstGeom>
          <a:solidFill>
            <a:srgbClr val="24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42062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A3E0"/>
                </a:solidFill>
                <a:latin typeface="Calibri"/>
              </a:defRPr>
            </a:pPr>
            <a:r>
              <a:t>94.9%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48463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Alert Accuracy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4114800"/>
            <a:ext cx="2926080" cy="1371600"/>
          </a:xfrm>
          <a:prstGeom prst="roundRect">
            <a:avLst/>
          </a:prstGeom>
          <a:solidFill>
            <a:srgbClr val="24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42062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9900"/>
                </a:solidFill>
                <a:latin typeface="Calibri"/>
              </a:defRPr>
            </a:pPr>
            <a:r>
              <a:t>99.97%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48463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Customers Unaffected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BBCC"/>
                </a:solidFill>
                <a:latin typeface="Calibri"/>
              </a:defRPr>
            </a:pPr>
            <a:r>
              <a:t>The model is explainable, audited for fairness, and ready for production deployment.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