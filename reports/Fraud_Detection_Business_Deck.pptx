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7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AB962-C210-EA44-9889-CE048488103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E232A-BFA8-7D46-88A5-16F7A0080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91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E232A-BFA8-7D46-88A5-16F7A00800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67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E232A-BFA8-7D46-88A5-16F7A00800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5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Smarter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A3E0"/>
                </a:solidFill>
                <a:latin typeface="Calibri"/>
              </a:defRPr>
            </a:pPr>
            <a:r>
              <a:t>Using AI to Protect Customers and Reduce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CC"/>
                </a:solidFill>
                <a:latin typeface="Calibri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F3E"/>
                </a:solidFill>
                <a:latin typeface="Calibri"/>
              </a:defRPr>
            </a:pPr>
            <a:r>
              <a:t>Credit card fraud costs the financial industry billions annually. As digital payments grow, so do fraudulent attacks. Customers who are charged for purchases they didn't make lose trust. The challenge: catch fraud quickly without disrupting legitimate transactions.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3200400" cy="2286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The Cost of Missed Fraud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Financial losses to the company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Chargebacks and disputes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Damaged customer trust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Regulatory scrutiny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743200"/>
            <a:ext cx="3200400" cy="2286000"/>
          </a:xfrm>
          <a:prstGeom prst="round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  <a:latin typeface="Calibri"/>
              </a:defRPr>
            </a:pPr>
            <a:r>
              <a:t>The Cost of False Alarms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291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Legitimate purchases blocked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Frustrated customers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Increased call center volume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Customer churn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743200"/>
            <a:ext cx="3200400" cy="2286000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Calibri"/>
              </a:defRPr>
            </a:pPr>
            <a:r>
              <a:t>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291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Catch as much fraud as possible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Minimize false alarms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Real-time decision making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Fair treatment across all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F3E"/>
                </a:solidFill>
                <a:latin typeface="Calibri"/>
              </a:defRPr>
            </a:pPr>
            <a:r>
              <a:t>We built an AI model that learns from millions of past transactions to identify patterns that distinguish fraudulent activity from legitimate purchases.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3E0"/>
                </a:solidFill>
                <a:latin typeface="Calibri"/>
              </a:defRPr>
            </a:pPr>
            <a:r>
              <a:t>Analyze</a:t>
            </a:r>
            <a:br/>
            <a:r>
              <a:t>Historical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F3E"/>
                </a:solidFill>
                <a:latin typeface="Calibri"/>
              </a:defRPr>
            </a:pPr>
            <a:r>
              <a:t>Study millions of</a:t>
            </a:r>
            <a:br/>
            <a:r>
              <a:t>past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3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  <a:latin typeface="Calibri"/>
              </a:defRPr>
            </a:pPr>
            <a:r>
              <a:t>Learn</a:t>
            </a:r>
            <a:br/>
            <a:r>
              <a:t>Fraud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F3E"/>
                </a:solidFill>
                <a:latin typeface="Calibri"/>
              </a:defRPr>
            </a:pPr>
            <a:r>
              <a:t>AI identifies what</a:t>
            </a:r>
            <a:br/>
            <a:r>
              <a:t>fraud looks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3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Calibri"/>
              </a:defRPr>
            </a:pPr>
            <a:r>
              <a:t>Score Every</a:t>
            </a:r>
            <a:br/>
            <a:r>
              <a:t>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F3E"/>
                </a:solidFill>
                <a:latin typeface="Calibri"/>
              </a:defRPr>
            </a:pPr>
            <a:r>
              <a:t>Each transaction gets</a:t>
            </a:r>
            <a:br/>
            <a:r>
              <a:t>a fraud risk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3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F0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44AD"/>
                </a:solidFill>
                <a:latin typeface="Calibri"/>
              </a:defRPr>
            </a:pPr>
            <a:r>
              <a:t>Flag</a:t>
            </a:r>
            <a:br/>
            <a:r>
              <a:t>Suspicious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F3E"/>
                </a:solidFill>
                <a:latin typeface="Calibri"/>
              </a:defRPr>
            </a:pPr>
            <a:r>
              <a:t>High-risk transactions</a:t>
            </a:r>
            <a:br/>
            <a:r>
              <a:t>are flagged for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Calibri"/>
              </a:defRPr>
            </a:pPr>
            <a:r>
              <a:rPr dirty="0"/>
              <a:t>The model evaluates 15 key signals per transaction including amount, merchant, time of day, location, and customer profile.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the AI Looks 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F3E"/>
                </a:solidFill>
                <a:latin typeface="Calibri"/>
              </a:defRPr>
            </a:pPr>
            <a:r>
              <a:t>The model analyzes 15 key signals from each transaction to determine fraud risk: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32004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3E0"/>
                </a:solidFill>
                <a:latin typeface="Calibri"/>
              </a:defRPr>
            </a:pPr>
            <a:r>
              <a:t>Transaction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How much was spent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What type of purchase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Which merchant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560320" cy="3200400"/>
          </a:xfrm>
          <a:prstGeom prst="round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  <a:latin typeface="Calibri"/>
              </a:defRPr>
            </a:pPr>
            <a:r>
              <a:t>Timing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4688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Time of day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Day of week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Month and season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560320" cy="3200400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Calibri"/>
              </a:defRPr>
            </a:pPr>
            <a:r>
              <a:t>Customer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Customer age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Location (city, state, ZIP)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City population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560320" cy="3200400"/>
          </a:xfrm>
          <a:prstGeom prst="roundRect">
            <a:avLst/>
          </a:prstGeom>
          <a:solidFill>
            <a:srgbClr val="F0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44AD"/>
                </a:solidFill>
                <a:latin typeface="Calibri"/>
              </a:defRPr>
            </a:pPr>
            <a:r>
              <a:t>Behavioral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4688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Unusual spending amounts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Transactions at odd hours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Patterns across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These signals were selected from a larger set using statistical analysis to identify the most predictive factors.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Calibri"/>
              </a:defRPr>
            </a:pPr>
            <a:r>
              <a:t>Fraud Detected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88.7%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of fraudulent transactions</a:t>
            </a:r>
            <a:br/>
            <a:r>
              <a:t>caught by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47472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A3E0"/>
                </a:solidFill>
                <a:latin typeface="Calibri"/>
              </a:defRPr>
            </a:pPr>
            <a:r>
              <a:t>94.9%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of fraud alerts are</a:t>
            </a:r>
            <a:br/>
            <a:r>
              <a:t>actual fraud (not false alarms)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47472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Calibri"/>
              </a:defRPr>
            </a:pPr>
            <a:r>
              <a:t>Overall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E44AD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of all transactions</a:t>
            </a:r>
            <a:br/>
            <a:r>
              <a:t>correctly classified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E"/>
                </a:solidFill>
                <a:latin typeface="Calibri"/>
              </a:defRPr>
            </a:pPr>
            <a:r>
              <a:t>Out of 259,335 test transactions containing 1,501 fraud cases, the model correctly identified 1,331 fraudulent transactions while generating only 72 false alarms.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We Improved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F3E"/>
                </a:solidFill>
                <a:latin typeface="Calibri"/>
              </a:defRPr>
            </a:pPr>
            <a:r>
              <a:t>We tested 10 different AI approaches and fine-tuned the best performer. The optimization dramatically reduced false alarms while maintaining fraud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2743200"/>
          </a:xfrm>
          <a:prstGeom prst="round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  <a:latin typeface="Calibri"/>
              </a:defRPr>
            </a:pPr>
            <a:r>
              <a:t>Before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89.1% of fraud detected</a:t>
            </a:r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81.8% alert accuracy</a:t>
            </a:r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More false alarms disrupting customers</a:t>
            </a:r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Good at catching fraud, but too many</a:t>
            </a:r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legitimate transactions were flagged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029200" cy="2743200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After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88.7% of fraud detected</a:t>
            </a:r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94.9% alert accuracy</a:t>
            </a:r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Far fewer false alarms</a:t>
            </a:r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Nearly the same fraud detection with</a:t>
            </a:r>
          </a:p>
          <a:p>
            <a:pPr>
              <a:spcAft>
                <a:spcPts val="6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dramatically better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515600" cy="7315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F3E"/>
                </a:solidFill>
                <a:latin typeface="Calibri"/>
              </a:defRPr>
            </a:pPr>
            <a:r>
              <a:t>Result: 16% improvement in alert accuracy with less than 1% reduction in fraud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Fairness </a:t>
            </a:r>
            <a:r>
              <a:rPr lang="en-US" dirty="0"/>
              <a:t>: </a:t>
            </a:r>
            <a:r>
              <a:rPr dirty="0"/>
              <a:t>Protecting All Customers Equally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F3E"/>
                </a:solidFill>
                <a:latin typeface="Calibri"/>
              </a:defRPr>
            </a:pPr>
            <a:r>
              <a:t>We audited the model to ensure it treats all customer groups fairly, regardless of gender or age. No customer segment should be disproportionately affected by missed fraud or false alarms.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2286000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Gender Fairness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rPr dirty="0"/>
              <a:t>✓  Female fraud detection: 88.4%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rPr dirty="0"/>
              <a:t>✓  Male fraud detection: 89.0%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rPr dirty="0"/>
              <a:t>✓  Minimal difference </a:t>
            </a:r>
            <a:r>
              <a:rPr lang="en-US" dirty="0"/>
              <a:t>and </a:t>
            </a:r>
            <a:r>
              <a:rPr dirty="0"/>
              <a:t>model is fair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rPr dirty="0"/>
              <a:t>✓  Near-zero false alarm rate for both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02920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3E0"/>
                </a:solidFill>
                <a:latin typeface="Calibri"/>
              </a:defRPr>
            </a:pPr>
            <a:r>
              <a:t>Age Group Fairness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✓  Under 25: 87.1% detection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✓  25-45: 85.0% detection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✓  45-65: 90.2% detection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Calibri"/>
              </a:defRPr>
            </a:pPr>
            <a:r>
              <a:t>✓  65+: 93.3%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F3E"/>
                </a:solidFill>
                <a:latin typeface="Calibri"/>
              </a:defRPr>
            </a:pPr>
            <a:r>
              <a:t>Younger customers have slightly lower detection rates. We recommend additional monitoring and targeted improvements for this group to ensure equitable protection.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515600" cy="548640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F3E"/>
                </a:solidFill>
                <a:latin typeface="Calibri"/>
              </a:defRPr>
            </a:pPr>
            <a:r>
              <a:rPr dirty="0"/>
              <a:t>False alarm rates are near zero across all demographics </a:t>
            </a:r>
            <a:r>
              <a:rPr lang="en-US" dirty="0"/>
              <a:t>and </a:t>
            </a:r>
            <a:r>
              <a:rPr dirty="0"/>
              <a:t>legitimate customers are rarely disrupted.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the Model Makes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F3E"/>
                </a:solidFill>
                <a:latin typeface="Calibri"/>
              </a:defRPr>
            </a:pPr>
            <a:r>
              <a:t>The AI model is not a black box. We can explain exactly why each transaction was flagged or approved. This transparency is critical for regulatory compliance and customer 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32004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  <a:latin typeface="Calibri"/>
              </a:defRPr>
            </a:pPr>
            <a:r>
              <a:t>Example: Flagged as Fraud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→  Unusually high transaction amount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→  Purchase at 3 AM (unusual hour)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→  Merchant category rarely used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→  Different city than usual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Multiple risk signals combined to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push the score above the threshold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029200" cy="3200400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Example: Approved as Legitimate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0175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→  Normal transaction amount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→  Purchase during business hours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→  Familiar merchant category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→  Customer's home city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All signals consistent with normal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spending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7F8C8D"/>
                </a:solidFill>
                <a:latin typeface="Calibri"/>
              </a:defRPr>
            </a:pPr>
            <a:r>
              <a:rPr dirty="0"/>
              <a:t>Every decision can be traced back to specific factors</a:t>
            </a:r>
            <a:r>
              <a:rPr lang="en-US" dirty="0"/>
              <a:t> </a:t>
            </a:r>
            <a:r>
              <a:rPr dirty="0"/>
              <a:t>enabling audit trails and dispute resolution.</a:t>
            </a:r>
            <a:r>
              <a:rPr lang="en-US" dirty="0"/>
              <a:t> </a:t>
            </a:r>
            <a:r>
              <a:rPr lang="en-PH" dirty="0"/>
              <a:t>The model is explainable, audited for fairness, and ready for production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Expected Business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3200400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Reduced</a:t>
            </a:r>
            <a:br/>
            <a:r>
              <a:t>Fraud Losses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32F3E"/>
                </a:solidFill>
                <a:latin typeface="Calibri"/>
              </a:defRPr>
            </a:pPr>
            <a:r>
              <a:t>88.7% of fraud</a:t>
            </a:r>
            <a:br/>
            <a:r>
              <a:t>caught before</a:t>
            </a:r>
            <a:br/>
            <a:r>
              <a:t>it costs money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651760" cy="32004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3E0"/>
                </a:solidFill>
                <a:latin typeface="Calibri"/>
              </a:defRPr>
            </a:pPr>
            <a:r>
              <a:t>Fewer Customer</a:t>
            </a:r>
            <a:br/>
            <a:r>
              <a:t>Complaints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32F3E"/>
                </a:solidFill>
                <a:latin typeface="Calibri"/>
              </a:defRPr>
            </a:pPr>
            <a:r>
              <a:t>Only 0.03% of</a:t>
            </a:r>
            <a:br/>
            <a:r>
              <a:t>legitimate transactions</a:t>
            </a:r>
            <a:br/>
            <a:r>
              <a:t>incorrectly flagged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651760" cy="3200400"/>
          </a:xfrm>
          <a:prstGeom prst="round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  <a:latin typeface="Calibri"/>
              </a:defRPr>
            </a:pPr>
            <a:r>
              <a:t>Faster</a:t>
            </a:r>
            <a:br/>
            <a:r>
              <a:t>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32F3E"/>
                </a:solidFill>
                <a:latin typeface="Calibri"/>
              </a:defRPr>
            </a:pPr>
            <a:r>
              <a:t>Automated scoring</a:t>
            </a:r>
            <a:br/>
            <a:r>
              <a:t>reduces manual</a:t>
            </a:r>
            <a:br/>
            <a:r>
              <a:t>review workload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651760" cy="3200400"/>
          </a:xfrm>
          <a:prstGeom prst="roundRect">
            <a:avLst/>
          </a:prstGeom>
          <a:solidFill>
            <a:srgbClr val="F0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E44AD"/>
                </a:solidFill>
                <a:latin typeface="Calibri"/>
              </a:defRPr>
            </a:pPr>
            <a:r>
              <a:t>Regulatory</a:t>
            </a:r>
            <a:br/>
            <a: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5603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32F3E"/>
                </a:solidFill>
                <a:latin typeface="Calibri"/>
              </a:defRPr>
            </a:pPr>
            <a:r>
              <a:t>Explainable AI with</a:t>
            </a:r>
            <a:br/>
            <a:r>
              <a:t>fairness auditing</a:t>
            </a:r>
            <a:br/>
            <a:r>
              <a:t>across demographics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E"/>
                </a:solidFill>
                <a:latin typeface="Calibri"/>
              </a:defRPr>
            </a:pPr>
            <a:r>
              <a:t>The model processes transactions in real-time, providing instant fraud risk scores that can be integrated into existing payment processing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Considerations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599"/>
            <a:ext cx="5029200" cy="4351867"/>
          </a:xfrm>
          <a:prstGeom prst="round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Calibri"/>
              </a:defRPr>
            </a:pPr>
            <a:r>
              <a:t>Things to Keep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• Fraud patterns evolve</a:t>
            </a:r>
            <a:r>
              <a:rPr lang="en-US" dirty="0"/>
              <a:t>. T</a:t>
            </a:r>
            <a:r>
              <a:rPr dirty="0"/>
              <a:t>he model needs</a:t>
            </a:r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  periodic updates to stay effective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• 170 out of 1,501 fraud cases were missed</a:t>
            </a:r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  (11.3%)</a:t>
            </a:r>
            <a:r>
              <a:rPr lang="en-US" dirty="0"/>
              <a:t>. A</a:t>
            </a:r>
            <a:r>
              <a:rPr dirty="0"/>
              <a:t>dditional layers may be needed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• Younger customers have slightly lower</a:t>
            </a:r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  protection</a:t>
            </a:r>
            <a:r>
              <a:rPr lang="en-US" dirty="0"/>
              <a:t>. T</a:t>
            </a:r>
            <a:r>
              <a:rPr dirty="0"/>
              <a:t>argeted improvements </a:t>
            </a:r>
            <a:r>
              <a:rPr lang="en-US" dirty="0"/>
              <a:t>should be </a:t>
            </a:r>
            <a:r>
              <a:rPr dirty="0"/>
              <a:t>planned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• Model trained on historical dat</a:t>
            </a:r>
            <a:r>
              <a:rPr lang="en-US" dirty="0"/>
              <a:t>a. N</a:t>
            </a:r>
            <a:r>
              <a:rPr dirty="0"/>
              <a:t>ew</a:t>
            </a:r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  fraud types may require retraining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351866"/>
          </a:xfrm>
          <a:prstGeom prst="roundRect">
            <a:avLst/>
          </a:prstGeom>
          <a:solidFill>
            <a:srgbClr val="E8F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Recommended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572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• Deploy model in production with</a:t>
            </a:r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  real-time transaction scoring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• Set up automated monitoring to detect</a:t>
            </a:r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  when model performance degrades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• Run A/B test against current rule-based</a:t>
            </a:r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  fraud detection system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• Schedule quarterly model retraining</a:t>
            </a:r>
          </a:p>
          <a:p>
            <a:pPr>
              <a:spcAft>
                <a:spcPts val="3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dirty="0"/>
              <a:t>  with latest transaction data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949</Words>
  <Application>Microsoft Macintosh PowerPoint</Application>
  <PresentationFormat>Widescreen</PresentationFormat>
  <Paragraphs>151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Dimaapi, Leslie Ann</cp:lastModifiedBy>
  <cp:revision>2</cp:revision>
  <dcterms:created xsi:type="dcterms:W3CDTF">2013-01-27T09:14:16Z</dcterms:created>
  <dcterms:modified xsi:type="dcterms:W3CDTF">2026-04-13T14:54:53Z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2026-04-13T14:54:53Z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59ec822d-7e9d-4f0d-ad53-42468d92f9bb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