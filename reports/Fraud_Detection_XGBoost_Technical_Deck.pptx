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914400" y="1645920"/>
            <a:ext cx="10058400" cy="1097280"/>
          </a:xfrm>
          <a:prstGeom prst="rect">
            <a:avLst/>
          </a:prstGeom>
          <a:noFill/>
        </p:spPr>
        <p:txBody>
          <a:bodyPr wrap="square">
            <a:spAutoFit/>
          </a:bodyPr>
          <a:lstStyle/>
          <a:p>
            <a:pPr algn="ctr">
              <a:defRPr sz="4400" b="1">
                <a:solidFill>
                  <a:srgbClr val="FFFFFF"/>
                </a:solidFill>
                <a:latin typeface="Calibri"/>
              </a:defRPr>
            </a:pPr>
            <a:r>
              <a:t>Credit Card Fraud Detection</a:t>
            </a:r>
          </a:p>
        </p:txBody>
      </p:sp>
      <p:sp>
        <p:nvSpPr>
          <p:cNvPr id="3" name="TextBox 2"/>
          <p:cNvSpPr txBox="1"/>
          <p:nvPr/>
        </p:nvSpPr>
        <p:spPr>
          <a:xfrm>
            <a:off x="914400" y="2834640"/>
            <a:ext cx="10058400" cy="731520"/>
          </a:xfrm>
          <a:prstGeom prst="rect">
            <a:avLst/>
          </a:prstGeom>
          <a:noFill/>
        </p:spPr>
        <p:txBody>
          <a:bodyPr wrap="square">
            <a:spAutoFit/>
          </a:bodyPr>
          <a:lstStyle/>
          <a:p>
            <a:pPr algn="ctr">
              <a:defRPr sz="2800" b="0">
                <a:solidFill>
                  <a:srgbClr val="00A3E0"/>
                </a:solidFill>
                <a:latin typeface="Calibri"/>
              </a:defRPr>
            </a:pPr>
            <a:r>
              <a:t>XGBoost with SMOTE &amp; Hyperparameter Tuning</a:t>
            </a:r>
          </a:p>
        </p:txBody>
      </p:sp>
      <p:sp>
        <p:nvSpPr>
          <p:cNvPr id="4" name="TextBox 3"/>
          <p:cNvSpPr txBox="1"/>
          <p:nvPr/>
        </p:nvSpPr>
        <p:spPr>
          <a:xfrm>
            <a:off x="914400" y="3840480"/>
            <a:ext cx="10058400" cy="548640"/>
          </a:xfrm>
          <a:prstGeom prst="rect">
            <a:avLst/>
          </a:prstGeom>
          <a:noFill/>
        </p:spPr>
        <p:txBody>
          <a:bodyPr wrap="square">
            <a:spAutoFit/>
          </a:bodyPr>
          <a:lstStyle/>
          <a:p>
            <a:pPr algn="ctr">
              <a:defRPr sz="2000" b="0">
                <a:solidFill>
                  <a:srgbClr val="AABBCC"/>
                </a:solidFill>
                <a:latin typeface="Calibri"/>
              </a:defRPr>
            </a:pPr>
            <a:r>
              <a:t>Technical Deep Dive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82296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FFFFFF"/>
                </a:solidFill>
                <a:latin typeface="Calibri"/>
              </a:defRPr>
            </a:pPr>
            <a:r>
              <a:t>Problem Statement</a:t>
            </a:r>
          </a:p>
        </p:txBody>
      </p:sp>
      <p:sp>
        <p:nvSpPr>
          <p:cNvPr id="3" name="TextBox 2"/>
          <p:cNvSpPr txBox="1"/>
          <p:nvPr/>
        </p:nvSpPr>
        <p:spPr>
          <a:xfrm>
            <a:off x="731520" y="1188720"/>
            <a:ext cx="10515600" cy="914400"/>
          </a:xfrm>
          <a:prstGeom prst="rect">
            <a:avLst/>
          </a:prstGeom>
          <a:noFill/>
        </p:spPr>
        <p:txBody>
          <a:bodyPr wrap="square">
            <a:spAutoFit/>
          </a:bodyPr>
          <a:lstStyle/>
          <a:p>
            <a:pPr algn="l">
              <a:defRPr sz="1800" b="0">
                <a:solidFill>
                  <a:srgbClr val="232F3E"/>
                </a:solidFill>
                <a:latin typeface="Calibri"/>
              </a:defRPr>
            </a:pPr>
            <a:r>
              <a:t>A financial services company processes millions of credit card transactions daily. Fraudulent transactions lead to financial losses and reduced customer trust. The goal is to build an ML model that maximizes detection of fraud (high recall) while maintaining acceptable precision.</a:t>
            </a:r>
          </a:p>
        </p:txBody>
      </p:sp>
      <p:sp>
        <p:nvSpPr>
          <p:cNvPr id="4" name="TextBox 3"/>
          <p:cNvSpPr txBox="1"/>
          <p:nvPr/>
        </p:nvSpPr>
        <p:spPr>
          <a:xfrm>
            <a:off x="731520" y="2560320"/>
            <a:ext cx="4572000" cy="457200"/>
          </a:xfrm>
          <a:prstGeom prst="rect">
            <a:avLst/>
          </a:prstGeom>
          <a:noFill/>
        </p:spPr>
        <p:txBody>
          <a:bodyPr wrap="square">
            <a:spAutoFit/>
          </a:bodyPr>
          <a:lstStyle/>
          <a:p>
            <a:pPr algn="l">
              <a:defRPr sz="2000" b="1">
                <a:solidFill>
                  <a:srgbClr val="232F3E"/>
                </a:solidFill>
                <a:latin typeface="Calibri"/>
              </a:defRPr>
            </a:pPr>
            <a:r>
              <a:t>Key Challenges:</a:t>
            </a:r>
          </a:p>
        </p:txBody>
      </p:sp>
      <p:sp>
        <p:nvSpPr>
          <p:cNvPr id="5" name="TextBox 4"/>
          <p:cNvSpPr txBox="1"/>
          <p:nvPr/>
        </p:nvSpPr>
        <p:spPr>
          <a:xfrm>
            <a:off x="731520" y="3017520"/>
            <a:ext cx="5029200" cy="1828800"/>
          </a:xfrm>
          <a:prstGeom prst="rect">
            <a:avLst/>
          </a:prstGeom>
          <a:noFill/>
        </p:spPr>
        <p:txBody>
          <a:bodyPr wrap="square">
            <a:spAutoFit/>
          </a:bodyPr>
          <a:lstStyle/>
          <a:p>
            <a:pPr>
              <a:spcAft>
                <a:spcPts val="800"/>
              </a:spcAft>
              <a:defRPr sz="1600">
                <a:solidFill>
                  <a:srgbClr val="232F3E"/>
                </a:solidFill>
                <a:latin typeface="Calibri"/>
              </a:defRPr>
            </a:pPr>
            <a:r>
              <a:t>• Severe class imbalance (fraud is rare)</a:t>
            </a:r>
          </a:p>
          <a:p>
            <a:pPr>
              <a:spcAft>
                <a:spcPts val="800"/>
              </a:spcAft>
              <a:defRPr sz="1600">
                <a:solidFill>
                  <a:srgbClr val="232F3E"/>
                </a:solidFill>
                <a:latin typeface="Calibri"/>
              </a:defRPr>
            </a:pPr>
            <a:r>
              <a:t>• High cost of missed fraud (false negatives)</a:t>
            </a:r>
          </a:p>
          <a:p>
            <a:pPr>
              <a:spcAft>
                <a:spcPts val="800"/>
              </a:spcAft>
              <a:defRPr sz="1600">
                <a:solidFill>
                  <a:srgbClr val="232F3E"/>
                </a:solidFill>
                <a:latin typeface="Calibri"/>
              </a:defRPr>
            </a:pPr>
            <a:r>
              <a:t>• Need to minimize false alarms (false positives)</a:t>
            </a:r>
          </a:p>
          <a:p>
            <a:pPr>
              <a:spcAft>
                <a:spcPts val="800"/>
              </a:spcAft>
              <a:defRPr sz="1600">
                <a:solidFill>
                  <a:srgbClr val="232F3E"/>
                </a:solidFill>
                <a:latin typeface="Calibri"/>
              </a:defRPr>
            </a:pPr>
            <a:r>
              <a:t>• Evolving fraud patterns over time</a:t>
            </a:r>
          </a:p>
        </p:txBody>
      </p:sp>
      <p:sp>
        <p:nvSpPr>
          <p:cNvPr id="6" name="TextBox 5"/>
          <p:cNvSpPr txBox="1"/>
          <p:nvPr/>
        </p:nvSpPr>
        <p:spPr>
          <a:xfrm>
            <a:off x="6400800" y="2560320"/>
            <a:ext cx="4572000" cy="457200"/>
          </a:xfrm>
          <a:prstGeom prst="rect">
            <a:avLst/>
          </a:prstGeom>
          <a:noFill/>
        </p:spPr>
        <p:txBody>
          <a:bodyPr wrap="square">
            <a:spAutoFit/>
          </a:bodyPr>
          <a:lstStyle/>
          <a:p>
            <a:pPr algn="l">
              <a:defRPr sz="2000" b="1">
                <a:solidFill>
                  <a:srgbClr val="232F3E"/>
                </a:solidFill>
                <a:latin typeface="Calibri"/>
              </a:defRPr>
            </a:pPr>
            <a:r>
              <a:t>Evaluation Metrics:</a:t>
            </a:r>
          </a:p>
        </p:txBody>
      </p:sp>
      <p:sp>
        <p:nvSpPr>
          <p:cNvPr id="7" name="TextBox 6"/>
          <p:cNvSpPr txBox="1"/>
          <p:nvPr/>
        </p:nvSpPr>
        <p:spPr>
          <a:xfrm>
            <a:off x="6400800" y="3017520"/>
            <a:ext cx="5029200" cy="1828800"/>
          </a:xfrm>
          <a:prstGeom prst="rect">
            <a:avLst/>
          </a:prstGeom>
          <a:noFill/>
        </p:spPr>
        <p:txBody>
          <a:bodyPr wrap="square">
            <a:spAutoFit/>
          </a:bodyPr>
          <a:lstStyle/>
          <a:p>
            <a:pPr>
              <a:spcAft>
                <a:spcPts val="800"/>
              </a:spcAft>
              <a:defRPr sz="1600">
                <a:solidFill>
                  <a:srgbClr val="232F3E"/>
                </a:solidFill>
                <a:latin typeface="Calibri"/>
              </a:defRPr>
            </a:pPr>
            <a:r>
              <a:t>• Recall — catch as much fraud as possible</a:t>
            </a:r>
          </a:p>
          <a:p>
            <a:pPr>
              <a:spcAft>
                <a:spcPts val="800"/>
              </a:spcAft>
              <a:defRPr sz="1600">
                <a:solidFill>
                  <a:srgbClr val="232F3E"/>
                </a:solidFill>
                <a:latin typeface="Calibri"/>
              </a:defRPr>
            </a:pPr>
            <a:r>
              <a:t>• Precision — minimize false alarms</a:t>
            </a:r>
          </a:p>
          <a:p>
            <a:pPr>
              <a:spcAft>
                <a:spcPts val="800"/>
              </a:spcAft>
              <a:defRPr sz="1600">
                <a:solidFill>
                  <a:srgbClr val="232F3E"/>
                </a:solidFill>
                <a:latin typeface="Calibri"/>
              </a:defRPr>
            </a:pPr>
            <a:r>
              <a:t>• F1-Score — harmonic mean of precision/recall</a:t>
            </a:r>
          </a:p>
          <a:p>
            <a:pPr>
              <a:spcAft>
                <a:spcPts val="800"/>
              </a:spcAft>
              <a:defRPr sz="1600">
                <a:solidFill>
                  <a:srgbClr val="232F3E"/>
                </a:solidFill>
                <a:latin typeface="Calibri"/>
              </a:defRPr>
            </a:pPr>
            <a:r>
              <a:t>• PR-AUC — primary metric for imbalanced data</a:t>
            </a:r>
          </a:p>
          <a:p>
            <a:pPr>
              <a:spcAft>
                <a:spcPts val="800"/>
              </a:spcAft>
              <a:defRPr sz="1600">
                <a:solidFill>
                  <a:srgbClr val="232F3E"/>
                </a:solidFill>
                <a:latin typeface="Calibri"/>
              </a:defRPr>
            </a:pPr>
            <a:r>
              <a:t>• ROC-AUC — overall discrimination ability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82296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FFFFFF"/>
                </a:solidFill>
                <a:latin typeface="Calibri"/>
              </a:defRPr>
            </a:pPr>
            <a:r>
              <a:t>Dataset Overview</a:t>
            </a:r>
          </a:p>
        </p:txBody>
      </p:sp>
      <p:sp>
        <p:nvSpPr>
          <p:cNvPr id="3" name="Rounded Rectangle 2"/>
          <p:cNvSpPr/>
          <p:nvPr/>
        </p:nvSpPr>
        <p:spPr>
          <a:xfrm>
            <a:off x="731520" y="1371600"/>
            <a:ext cx="5029200" cy="182880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463040"/>
            <a:ext cx="4754880" cy="365760"/>
          </a:xfrm>
          <a:prstGeom prst="rect">
            <a:avLst/>
          </a:prstGeom>
          <a:noFill/>
        </p:spPr>
        <p:txBody>
          <a:bodyPr wrap="square">
            <a:spAutoFit/>
          </a:bodyPr>
          <a:lstStyle/>
          <a:p>
            <a:pPr algn="l">
              <a:defRPr sz="2000" b="1">
                <a:solidFill>
                  <a:srgbClr val="00A3E0"/>
                </a:solidFill>
                <a:latin typeface="Calibri"/>
              </a:defRPr>
            </a:pPr>
            <a:r>
              <a:t>Source</a:t>
            </a:r>
          </a:p>
        </p:txBody>
      </p:sp>
      <p:sp>
        <p:nvSpPr>
          <p:cNvPr id="5" name="TextBox 4"/>
          <p:cNvSpPr txBox="1"/>
          <p:nvPr/>
        </p:nvSpPr>
        <p:spPr>
          <a:xfrm>
            <a:off x="914400" y="1920240"/>
            <a:ext cx="4754880" cy="1097280"/>
          </a:xfrm>
          <a:prstGeom prst="rect">
            <a:avLst/>
          </a:prstGeom>
          <a:noFill/>
        </p:spPr>
        <p:txBody>
          <a:bodyPr wrap="square">
            <a:spAutoFit/>
          </a:bodyPr>
          <a:lstStyle/>
          <a:p>
            <a:pPr>
              <a:spcAft>
                <a:spcPts val="800"/>
              </a:spcAft>
              <a:defRPr sz="1500">
                <a:solidFill>
                  <a:srgbClr val="232F3E"/>
                </a:solidFill>
                <a:latin typeface="Calibri"/>
              </a:defRPr>
            </a:pPr>
            <a:r>
              <a:t>• Kaggle: kartik2112/fraud-detection</a:t>
            </a:r>
          </a:p>
          <a:p>
            <a:pPr>
              <a:spcAft>
                <a:spcPts val="800"/>
              </a:spcAft>
              <a:defRPr sz="1500">
                <a:solidFill>
                  <a:srgbClr val="232F3E"/>
                </a:solidFill>
                <a:latin typeface="Calibri"/>
              </a:defRPr>
            </a:pPr>
            <a:r>
              <a:t>• Transaction-level labeled data</a:t>
            </a:r>
          </a:p>
          <a:p>
            <a:pPr>
              <a:spcAft>
                <a:spcPts val="800"/>
              </a:spcAft>
              <a:defRPr sz="1500">
                <a:solidFill>
                  <a:srgbClr val="232F3E"/>
                </a:solidFill>
                <a:latin typeface="Calibri"/>
              </a:defRPr>
            </a:pPr>
            <a:r>
              <a:t>• fraudTrain.csv used for training</a:t>
            </a:r>
          </a:p>
        </p:txBody>
      </p:sp>
      <p:sp>
        <p:nvSpPr>
          <p:cNvPr id="6" name="Rounded Rectangle 5"/>
          <p:cNvSpPr/>
          <p:nvPr/>
        </p:nvSpPr>
        <p:spPr>
          <a:xfrm>
            <a:off x="6400800" y="1371600"/>
            <a:ext cx="5029200" cy="1828800"/>
          </a:xfrm>
          <a:prstGeom prst="roundRect">
            <a:avLst/>
          </a:prstGeom>
          <a:solidFill>
            <a:srgbClr val="FDF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463040"/>
            <a:ext cx="4754880" cy="365760"/>
          </a:xfrm>
          <a:prstGeom prst="rect">
            <a:avLst/>
          </a:prstGeom>
          <a:noFill/>
        </p:spPr>
        <p:txBody>
          <a:bodyPr wrap="square">
            <a:spAutoFit/>
          </a:bodyPr>
          <a:lstStyle/>
          <a:p>
            <a:pPr algn="l">
              <a:defRPr sz="2000" b="1">
                <a:solidFill>
                  <a:srgbClr val="FF9900"/>
                </a:solidFill>
                <a:latin typeface="Calibri"/>
              </a:defRPr>
            </a:pPr>
            <a:r>
              <a:t>Class Distribution</a:t>
            </a:r>
          </a:p>
        </p:txBody>
      </p:sp>
      <p:sp>
        <p:nvSpPr>
          <p:cNvPr id="8" name="TextBox 7"/>
          <p:cNvSpPr txBox="1"/>
          <p:nvPr/>
        </p:nvSpPr>
        <p:spPr>
          <a:xfrm>
            <a:off x="6583680" y="1920240"/>
            <a:ext cx="4754880" cy="1097280"/>
          </a:xfrm>
          <a:prstGeom prst="rect">
            <a:avLst/>
          </a:prstGeom>
          <a:noFill/>
        </p:spPr>
        <p:txBody>
          <a:bodyPr wrap="square">
            <a:spAutoFit/>
          </a:bodyPr>
          <a:lstStyle/>
          <a:p>
            <a:pPr>
              <a:spcAft>
                <a:spcPts val="800"/>
              </a:spcAft>
              <a:defRPr sz="1500">
                <a:solidFill>
                  <a:srgbClr val="232F3E"/>
                </a:solidFill>
                <a:latin typeface="Calibri"/>
              </a:defRPr>
            </a:pPr>
            <a:r>
              <a:t>• Highly imbalanced dataset</a:t>
            </a:r>
          </a:p>
          <a:p>
            <a:pPr>
              <a:spcAft>
                <a:spcPts val="800"/>
              </a:spcAft>
              <a:defRPr sz="1500">
                <a:solidFill>
                  <a:srgbClr val="232F3E"/>
                </a:solidFill>
                <a:latin typeface="Calibri"/>
              </a:defRPr>
            </a:pPr>
            <a:r>
              <a:t>• Legitimate: ~99.4%</a:t>
            </a:r>
          </a:p>
          <a:p>
            <a:pPr>
              <a:spcAft>
                <a:spcPts val="800"/>
              </a:spcAft>
              <a:defRPr sz="1500">
                <a:solidFill>
                  <a:srgbClr val="232F3E"/>
                </a:solidFill>
                <a:latin typeface="Calibri"/>
              </a:defRPr>
            </a:pPr>
            <a:r>
              <a:t>• Fraudulent: ~0.6%</a:t>
            </a:r>
          </a:p>
        </p:txBody>
      </p:sp>
      <p:sp>
        <p:nvSpPr>
          <p:cNvPr id="9" name="TextBox 8"/>
          <p:cNvSpPr txBox="1"/>
          <p:nvPr/>
        </p:nvSpPr>
        <p:spPr>
          <a:xfrm>
            <a:off x="731520" y="3657600"/>
            <a:ext cx="10515600" cy="457200"/>
          </a:xfrm>
          <a:prstGeom prst="rect">
            <a:avLst/>
          </a:prstGeom>
          <a:noFill/>
        </p:spPr>
        <p:txBody>
          <a:bodyPr wrap="square">
            <a:spAutoFit/>
          </a:bodyPr>
          <a:lstStyle/>
          <a:p>
            <a:pPr algn="l">
              <a:defRPr sz="1600" b="0">
                <a:solidFill>
                  <a:srgbClr val="232F3E"/>
                </a:solidFill>
                <a:latin typeface="Calibri"/>
              </a:defRPr>
            </a:pPr>
            <a:r>
              <a:t>Train/Test Split: 80/20 with stratification on target variable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82296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FFFFFF"/>
                </a:solidFill>
                <a:latin typeface="Calibri"/>
              </a:defRPr>
            </a:pPr>
            <a:r>
              <a:t>ML Pipeline</a:t>
            </a:r>
          </a:p>
        </p:txBody>
      </p:sp>
      <p:sp>
        <p:nvSpPr>
          <p:cNvPr id="3" name="Rounded Rectangle 2"/>
          <p:cNvSpPr/>
          <p:nvPr/>
        </p:nvSpPr>
        <p:spPr>
          <a:xfrm>
            <a:off x="457200" y="1645920"/>
            <a:ext cx="1280160" cy="118872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2F3E"/>
                </a:solidFill>
                <a:latin typeface="Calibri"/>
              </a:defRPr>
            </a:pPr>
            <a:r>
              <a:t>1. Data</a:t>
            </a:r>
            <a:br/>
            <a:r>
              <a:t>Loading</a:t>
            </a:r>
          </a:p>
        </p:txBody>
      </p:sp>
      <p:sp>
        <p:nvSpPr>
          <p:cNvPr id="4" name="TextBox 3"/>
          <p:cNvSpPr txBox="1"/>
          <p:nvPr/>
        </p:nvSpPr>
        <p:spPr>
          <a:xfrm>
            <a:off x="1691640" y="1920240"/>
            <a:ext cx="274320" cy="457200"/>
          </a:xfrm>
          <a:prstGeom prst="rect">
            <a:avLst/>
          </a:prstGeom>
          <a:noFill/>
        </p:spPr>
        <p:txBody>
          <a:bodyPr wrap="square">
            <a:spAutoFit/>
          </a:bodyPr>
          <a:lstStyle/>
          <a:p>
            <a:pPr algn="ctr">
              <a:defRPr sz="2200" b="1">
                <a:solidFill>
                  <a:srgbClr val="00A3E0"/>
                </a:solidFill>
                <a:latin typeface="Calibri"/>
              </a:defRPr>
            </a:pPr>
            <a:r>
              <a:t>→</a:t>
            </a:r>
          </a:p>
        </p:txBody>
      </p:sp>
      <p:sp>
        <p:nvSpPr>
          <p:cNvPr id="5" name="Rounded Rectangle 4"/>
          <p:cNvSpPr/>
          <p:nvPr/>
        </p:nvSpPr>
        <p:spPr>
          <a:xfrm>
            <a:off x="1874519" y="1645920"/>
            <a:ext cx="1280160" cy="118872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2F3E"/>
                </a:solidFill>
                <a:latin typeface="Calibri"/>
              </a:defRPr>
            </a:pPr>
            <a:r>
              <a:t>2. Pre-</a:t>
            </a:r>
            <a:br/>
            <a:r>
              <a:t>processing</a:t>
            </a:r>
          </a:p>
        </p:txBody>
      </p:sp>
      <p:sp>
        <p:nvSpPr>
          <p:cNvPr id="6" name="TextBox 5"/>
          <p:cNvSpPr txBox="1"/>
          <p:nvPr/>
        </p:nvSpPr>
        <p:spPr>
          <a:xfrm>
            <a:off x="3108960" y="1920240"/>
            <a:ext cx="274320" cy="457200"/>
          </a:xfrm>
          <a:prstGeom prst="rect">
            <a:avLst/>
          </a:prstGeom>
          <a:noFill/>
        </p:spPr>
        <p:txBody>
          <a:bodyPr wrap="square">
            <a:spAutoFit/>
          </a:bodyPr>
          <a:lstStyle/>
          <a:p>
            <a:pPr algn="ctr">
              <a:defRPr sz="2200" b="1">
                <a:solidFill>
                  <a:srgbClr val="00A3E0"/>
                </a:solidFill>
                <a:latin typeface="Calibri"/>
              </a:defRPr>
            </a:pPr>
            <a:r>
              <a:t>→</a:t>
            </a:r>
          </a:p>
        </p:txBody>
      </p:sp>
      <p:sp>
        <p:nvSpPr>
          <p:cNvPr id="7" name="Rounded Rectangle 6"/>
          <p:cNvSpPr/>
          <p:nvPr/>
        </p:nvSpPr>
        <p:spPr>
          <a:xfrm>
            <a:off x="3291840" y="1645920"/>
            <a:ext cx="1280160" cy="1188720"/>
          </a:xfrm>
          <a:prstGeom prst="roundRect">
            <a:avLst/>
          </a:prstGeom>
          <a:solidFill>
            <a:srgbClr val="FDF2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2F3E"/>
                </a:solidFill>
                <a:latin typeface="Calibri"/>
              </a:defRPr>
            </a:pPr>
            <a:r>
              <a:t>3. Feature</a:t>
            </a:r>
            <a:br/>
            <a:r>
              <a:t>Engineering</a:t>
            </a:r>
          </a:p>
        </p:txBody>
      </p:sp>
      <p:sp>
        <p:nvSpPr>
          <p:cNvPr id="8" name="TextBox 7"/>
          <p:cNvSpPr txBox="1"/>
          <p:nvPr/>
        </p:nvSpPr>
        <p:spPr>
          <a:xfrm>
            <a:off x="4526280" y="1920240"/>
            <a:ext cx="274320" cy="457200"/>
          </a:xfrm>
          <a:prstGeom prst="rect">
            <a:avLst/>
          </a:prstGeom>
          <a:noFill/>
        </p:spPr>
        <p:txBody>
          <a:bodyPr wrap="square">
            <a:spAutoFit/>
          </a:bodyPr>
          <a:lstStyle/>
          <a:p>
            <a:pPr algn="ctr">
              <a:defRPr sz="2200" b="1">
                <a:solidFill>
                  <a:srgbClr val="00A3E0"/>
                </a:solidFill>
                <a:latin typeface="Calibri"/>
              </a:defRPr>
            </a:pPr>
            <a:r>
              <a:t>→</a:t>
            </a:r>
          </a:p>
        </p:txBody>
      </p:sp>
      <p:sp>
        <p:nvSpPr>
          <p:cNvPr id="9" name="Rounded Rectangle 8"/>
          <p:cNvSpPr/>
          <p:nvPr/>
        </p:nvSpPr>
        <p:spPr>
          <a:xfrm>
            <a:off x="4709160" y="1645920"/>
            <a:ext cx="1280160" cy="1188720"/>
          </a:xfrm>
          <a:prstGeom prst="roundRect">
            <a:avLst/>
          </a:prstGeom>
          <a:solidFill>
            <a:srgbClr val="FDF2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2F3E"/>
                </a:solidFill>
                <a:latin typeface="Calibri"/>
              </a:defRPr>
            </a:pPr>
            <a:r>
              <a:t>4. Feature</a:t>
            </a:r>
            <a:br/>
            <a:r>
              <a:t>Selection</a:t>
            </a:r>
          </a:p>
        </p:txBody>
      </p:sp>
      <p:sp>
        <p:nvSpPr>
          <p:cNvPr id="10" name="TextBox 9"/>
          <p:cNvSpPr txBox="1"/>
          <p:nvPr/>
        </p:nvSpPr>
        <p:spPr>
          <a:xfrm>
            <a:off x="5943600" y="1920240"/>
            <a:ext cx="274320" cy="457200"/>
          </a:xfrm>
          <a:prstGeom prst="rect">
            <a:avLst/>
          </a:prstGeom>
          <a:noFill/>
        </p:spPr>
        <p:txBody>
          <a:bodyPr wrap="square">
            <a:spAutoFit/>
          </a:bodyPr>
          <a:lstStyle/>
          <a:p>
            <a:pPr algn="ctr">
              <a:defRPr sz="2200" b="1">
                <a:solidFill>
                  <a:srgbClr val="00A3E0"/>
                </a:solidFill>
                <a:latin typeface="Calibri"/>
              </a:defRPr>
            </a:pPr>
            <a:r>
              <a:t>→</a:t>
            </a:r>
          </a:p>
        </p:txBody>
      </p:sp>
      <p:sp>
        <p:nvSpPr>
          <p:cNvPr id="11" name="Rounded Rectangle 10"/>
          <p:cNvSpPr/>
          <p:nvPr/>
        </p:nvSpPr>
        <p:spPr>
          <a:xfrm>
            <a:off x="6126480" y="1645920"/>
            <a:ext cx="1280160" cy="1188720"/>
          </a:xfrm>
          <a:prstGeom prst="roundRect">
            <a:avLst/>
          </a:prstGeom>
          <a:solidFill>
            <a:srgbClr val="E8FDE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2F3E"/>
                </a:solidFill>
                <a:latin typeface="Calibri"/>
              </a:defRPr>
            </a:pPr>
            <a:r>
              <a:t>5. SMOTE</a:t>
            </a:r>
            <a:br/>
            <a:r>
              <a:t>Balancing</a:t>
            </a:r>
          </a:p>
        </p:txBody>
      </p:sp>
      <p:sp>
        <p:nvSpPr>
          <p:cNvPr id="12" name="TextBox 11"/>
          <p:cNvSpPr txBox="1"/>
          <p:nvPr/>
        </p:nvSpPr>
        <p:spPr>
          <a:xfrm>
            <a:off x="7360920" y="1920240"/>
            <a:ext cx="274320" cy="457200"/>
          </a:xfrm>
          <a:prstGeom prst="rect">
            <a:avLst/>
          </a:prstGeom>
          <a:noFill/>
        </p:spPr>
        <p:txBody>
          <a:bodyPr wrap="square">
            <a:spAutoFit/>
          </a:bodyPr>
          <a:lstStyle/>
          <a:p>
            <a:pPr algn="ctr">
              <a:defRPr sz="2200" b="1">
                <a:solidFill>
                  <a:srgbClr val="00A3E0"/>
                </a:solidFill>
                <a:latin typeface="Calibri"/>
              </a:defRPr>
            </a:pPr>
            <a:r>
              <a:t>→</a:t>
            </a:r>
          </a:p>
        </p:txBody>
      </p:sp>
      <p:sp>
        <p:nvSpPr>
          <p:cNvPr id="13" name="Rounded Rectangle 12"/>
          <p:cNvSpPr/>
          <p:nvPr/>
        </p:nvSpPr>
        <p:spPr>
          <a:xfrm>
            <a:off x="7543800" y="1645920"/>
            <a:ext cx="1280160" cy="1188720"/>
          </a:xfrm>
          <a:prstGeom prst="roundRect">
            <a:avLst/>
          </a:prstGeom>
          <a:solidFill>
            <a:srgbClr val="E8FDE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2F3E"/>
                </a:solidFill>
                <a:latin typeface="Calibri"/>
              </a:defRPr>
            </a:pPr>
            <a:r>
              <a:t>6. Model</a:t>
            </a:r>
            <a:br/>
            <a:r>
              <a:t>Training</a:t>
            </a:r>
          </a:p>
        </p:txBody>
      </p:sp>
      <p:sp>
        <p:nvSpPr>
          <p:cNvPr id="14" name="TextBox 13"/>
          <p:cNvSpPr txBox="1"/>
          <p:nvPr/>
        </p:nvSpPr>
        <p:spPr>
          <a:xfrm>
            <a:off x="8778240" y="1920240"/>
            <a:ext cx="274320" cy="457200"/>
          </a:xfrm>
          <a:prstGeom prst="rect">
            <a:avLst/>
          </a:prstGeom>
          <a:noFill/>
        </p:spPr>
        <p:txBody>
          <a:bodyPr wrap="square">
            <a:spAutoFit/>
          </a:bodyPr>
          <a:lstStyle/>
          <a:p>
            <a:pPr algn="ctr">
              <a:defRPr sz="2200" b="1">
                <a:solidFill>
                  <a:srgbClr val="00A3E0"/>
                </a:solidFill>
                <a:latin typeface="Calibri"/>
              </a:defRPr>
            </a:pPr>
            <a:r>
              <a:t>→</a:t>
            </a:r>
          </a:p>
        </p:txBody>
      </p:sp>
      <p:sp>
        <p:nvSpPr>
          <p:cNvPr id="15" name="Rounded Rectangle 14"/>
          <p:cNvSpPr/>
          <p:nvPr/>
        </p:nvSpPr>
        <p:spPr>
          <a:xfrm>
            <a:off x="8961120" y="1645920"/>
            <a:ext cx="1280160" cy="1188720"/>
          </a:xfrm>
          <a:prstGeom prst="roundRect">
            <a:avLst/>
          </a:prstGeom>
          <a:solidFill>
            <a:srgbClr val="E8E0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2F3E"/>
                </a:solidFill>
                <a:latin typeface="Calibri"/>
              </a:defRPr>
            </a:pPr>
            <a:r>
              <a:t>7. Hyper-</a:t>
            </a:r>
            <a:br/>
            <a:r>
              <a:t>parameter</a:t>
            </a:r>
            <a:br/>
            <a:r>
              <a:t>Tuning</a:t>
            </a:r>
          </a:p>
        </p:txBody>
      </p:sp>
      <p:sp>
        <p:nvSpPr>
          <p:cNvPr id="16" name="TextBox 15"/>
          <p:cNvSpPr txBox="1"/>
          <p:nvPr/>
        </p:nvSpPr>
        <p:spPr>
          <a:xfrm>
            <a:off x="10195560" y="1920240"/>
            <a:ext cx="274320" cy="457200"/>
          </a:xfrm>
          <a:prstGeom prst="rect">
            <a:avLst/>
          </a:prstGeom>
          <a:noFill/>
        </p:spPr>
        <p:txBody>
          <a:bodyPr wrap="square">
            <a:spAutoFit/>
          </a:bodyPr>
          <a:lstStyle/>
          <a:p>
            <a:pPr algn="ctr">
              <a:defRPr sz="2200" b="1">
                <a:solidFill>
                  <a:srgbClr val="00A3E0"/>
                </a:solidFill>
                <a:latin typeface="Calibri"/>
              </a:defRPr>
            </a:pPr>
            <a:r>
              <a:t>→</a:t>
            </a:r>
          </a:p>
        </p:txBody>
      </p:sp>
      <p:sp>
        <p:nvSpPr>
          <p:cNvPr id="17" name="Rounded Rectangle 16"/>
          <p:cNvSpPr/>
          <p:nvPr/>
        </p:nvSpPr>
        <p:spPr>
          <a:xfrm>
            <a:off x="10378440" y="1645920"/>
            <a:ext cx="1280160" cy="1188720"/>
          </a:xfrm>
          <a:prstGeom prst="roundRect">
            <a:avLst/>
          </a:prstGeom>
          <a:solidFill>
            <a:srgbClr val="E8E0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2F3E"/>
                </a:solidFill>
                <a:latin typeface="Calibri"/>
              </a:defRPr>
            </a:pPr>
            <a:r>
              <a:t>8. Eval &amp;</a:t>
            </a:r>
            <a:br/>
            <a:r>
              <a:t>SHAP</a:t>
            </a:r>
          </a:p>
        </p:txBody>
      </p:sp>
      <p:sp>
        <p:nvSpPr>
          <p:cNvPr id="18" name="TextBox 17"/>
          <p:cNvSpPr txBox="1"/>
          <p:nvPr/>
        </p:nvSpPr>
        <p:spPr>
          <a:xfrm>
            <a:off x="731520" y="3291840"/>
            <a:ext cx="10515600" cy="457200"/>
          </a:xfrm>
          <a:prstGeom prst="rect">
            <a:avLst/>
          </a:prstGeom>
          <a:noFill/>
        </p:spPr>
        <p:txBody>
          <a:bodyPr wrap="square">
            <a:spAutoFit/>
          </a:bodyPr>
          <a:lstStyle/>
          <a:p>
            <a:pPr algn="l">
              <a:defRPr sz="2000" b="1">
                <a:solidFill>
                  <a:srgbClr val="232F3E"/>
                </a:solidFill>
                <a:latin typeface="Calibri"/>
              </a:defRPr>
            </a:pPr>
            <a:r>
              <a:t>Key Pipeline Details:</a:t>
            </a:r>
          </a:p>
        </p:txBody>
      </p:sp>
      <p:sp>
        <p:nvSpPr>
          <p:cNvPr id="19" name="TextBox 18"/>
          <p:cNvSpPr txBox="1"/>
          <p:nvPr/>
        </p:nvSpPr>
        <p:spPr>
          <a:xfrm>
            <a:off x="731520" y="3749039"/>
            <a:ext cx="5029200" cy="2286000"/>
          </a:xfrm>
          <a:prstGeom prst="rect">
            <a:avLst/>
          </a:prstGeom>
          <a:noFill/>
        </p:spPr>
        <p:txBody>
          <a:bodyPr wrap="square">
            <a:spAutoFit/>
          </a:bodyPr>
          <a:lstStyle/>
          <a:p>
            <a:pPr>
              <a:spcAft>
                <a:spcPts val="800"/>
              </a:spcAft>
              <a:defRPr sz="1500">
                <a:solidFill>
                  <a:srgbClr val="232F3E"/>
                </a:solidFill>
                <a:latin typeface="Calibri"/>
              </a:defRPr>
            </a:pPr>
            <a:r>
              <a:t>• Winsorization for outlier handling (amt)</a:t>
            </a:r>
          </a:p>
          <a:p>
            <a:pPr>
              <a:spcAft>
                <a:spcPts val="800"/>
              </a:spcAft>
              <a:defRPr sz="1500">
                <a:solidFill>
                  <a:srgbClr val="232F3E"/>
                </a:solidFill>
                <a:latin typeface="Calibri"/>
              </a:defRPr>
            </a:pPr>
            <a:r>
              <a:t>• Label encoding for categoricals</a:t>
            </a:r>
          </a:p>
          <a:p>
            <a:pPr>
              <a:spcAft>
                <a:spcPts val="800"/>
              </a:spcAft>
              <a:defRPr sz="1500">
                <a:solidFill>
                  <a:srgbClr val="232F3E"/>
                </a:solidFill>
                <a:latin typeface="Calibri"/>
              </a:defRPr>
            </a:pPr>
            <a:r>
              <a:t>• StandardScaler for numerical features</a:t>
            </a:r>
          </a:p>
          <a:p>
            <a:pPr>
              <a:spcAft>
                <a:spcPts val="800"/>
              </a:spcAft>
              <a:defRPr sz="1500">
                <a:solidFill>
                  <a:srgbClr val="232F3E"/>
                </a:solidFill>
                <a:latin typeface="Calibri"/>
              </a:defRPr>
            </a:pPr>
            <a:r>
              <a:t>• Haversine distance (customer ↔ merchant)</a:t>
            </a:r>
          </a:p>
        </p:txBody>
      </p:sp>
      <p:sp>
        <p:nvSpPr>
          <p:cNvPr id="20" name="TextBox 19"/>
          <p:cNvSpPr txBox="1"/>
          <p:nvPr/>
        </p:nvSpPr>
        <p:spPr>
          <a:xfrm>
            <a:off x="6400800" y="3749039"/>
            <a:ext cx="5029200" cy="2286000"/>
          </a:xfrm>
          <a:prstGeom prst="rect">
            <a:avLst/>
          </a:prstGeom>
          <a:noFill/>
        </p:spPr>
        <p:txBody>
          <a:bodyPr wrap="square">
            <a:spAutoFit/>
          </a:bodyPr>
          <a:lstStyle/>
          <a:p>
            <a:pPr>
              <a:spcAft>
                <a:spcPts val="800"/>
              </a:spcAft>
              <a:defRPr sz="1500">
                <a:solidFill>
                  <a:srgbClr val="232F3E"/>
                </a:solidFill>
                <a:latin typeface="Calibri"/>
              </a:defRPr>
            </a:pPr>
            <a:r>
              <a:t>• Time features: hour, day, month, year, day_of_week</a:t>
            </a:r>
          </a:p>
          <a:p>
            <a:pPr>
              <a:spcAft>
                <a:spcPts val="800"/>
              </a:spcAft>
              <a:defRPr sz="1500">
                <a:solidFill>
                  <a:srgbClr val="232F3E"/>
                </a:solidFill>
                <a:latin typeface="Calibri"/>
              </a:defRPr>
            </a:pPr>
            <a:r>
              <a:t>• Age derived from DOB and transaction date</a:t>
            </a:r>
          </a:p>
          <a:p>
            <a:pPr>
              <a:spcAft>
                <a:spcPts val="800"/>
              </a:spcAft>
              <a:defRPr sz="1500">
                <a:solidFill>
                  <a:srgbClr val="232F3E"/>
                </a:solidFill>
                <a:latin typeface="Calibri"/>
              </a:defRPr>
            </a:pPr>
            <a:r>
              <a:t>• Amount binning (5 bins)</a:t>
            </a:r>
          </a:p>
          <a:p>
            <a:pPr>
              <a:spcAft>
                <a:spcPts val="800"/>
              </a:spcAft>
              <a:defRPr sz="1500">
                <a:solidFill>
                  <a:srgbClr val="232F3E"/>
                </a:solidFill>
                <a:latin typeface="Calibri"/>
              </a:defRPr>
            </a:pPr>
            <a:r>
              <a:t>• SelectKBest (f_classif) → 15 features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82296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FFFFFF"/>
                </a:solidFill>
                <a:latin typeface="Calibri"/>
              </a:defRPr>
            </a:pPr>
            <a:r>
              <a:t>Feature Selection — Top 15 Features (SelectKBest)</a:t>
            </a:r>
          </a:p>
        </p:txBody>
      </p:sp>
      <p:sp>
        <p:nvSpPr>
          <p:cNvPr id="3" name="Rounded Rectangle 2"/>
          <p:cNvSpPr/>
          <p:nvPr/>
        </p:nvSpPr>
        <p:spPr>
          <a:xfrm>
            <a:off x="731520" y="1188720"/>
            <a:ext cx="5029200" cy="45720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Calibri"/>
              </a:defRPr>
            </a:pPr>
            <a:r>
              <a:t>Feature</a:t>
            </a:r>
          </a:p>
        </p:txBody>
      </p:sp>
      <p:sp>
        <p:nvSpPr>
          <p:cNvPr id="4" name="Rounded Rectangle 3"/>
          <p:cNvSpPr/>
          <p:nvPr/>
        </p:nvSpPr>
        <p:spPr>
          <a:xfrm>
            <a:off x="731520" y="1188720"/>
            <a:ext cx="2286000" cy="45720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Calibri"/>
              </a:defRPr>
            </a:pPr>
            <a:r>
              <a:t>Feature</a:t>
            </a:r>
          </a:p>
        </p:txBody>
      </p:sp>
      <p:sp>
        <p:nvSpPr>
          <p:cNvPr id="5" name="Rounded Rectangle 4"/>
          <p:cNvSpPr/>
          <p:nvPr/>
        </p:nvSpPr>
        <p:spPr>
          <a:xfrm>
            <a:off x="3017520" y="1188720"/>
            <a:ext cx="2743200" cy="45720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Calibri"/>
              </a:defRPr>
            </a:pPr>
            <a:r>
              <a:t>Description</a:t>
            </a:r>
          </a:p>
        </p:txBody>
      </p:sp>
      <p:sp>
        <p:nvSpPr>
          <p:cNvPr id="6" name="Rounded Rectangle 5"/>
          <p:cNvSpPr/>
          <p:nvPr/>
        </p:nvSpPr>
        <p:spPr>
          <a:xfrm>
            <a:off x="731520" y="1645920"/>
            <a:ext cx="2286000" cy="4114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2F3E"/>
                </a:solidFill>
                <a:latin typeface="Calibri"/>
              </a:defRPr>
            </a:pPr>
            <a:r>
              <a:t>merchant</a:t>
            </a:r>
          </a:p>
        </p:txBody>
      </p:sp>
      <p:sp>
        <p:nvSpPr>
          <p:cNvPr id="7" name="Rounded Rectangle 6"/>
          <p:cNvSpPr/>
          <p:nvPr/>
        </p:nvSpPr>
        <p:spPr>
          <a:xfrm>
            <a:off x="3017520" y="1645920"/>
            <a:ext cx="2743200" cy="4114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232F3E"/>
                </a:solidFill>
                <a:latin typeface="Calibri"/>
              </a:defRPr>
            </a:pPr>
            <a:r>
              <a:t>Merchant identifier</a:t>
            </a:r>
          </a:p>
        </p:txBody>
      </p:sp>
      <p:sp>
        <p:nvSpPr>
          <p:cNvPr id="8" name="Rounded Rectangle 7"/>
          <p:cNvSpPr/>
          <p:nvPr/>
        </p:nvSpPr>
        <p:spPr>
          <a:xfrm>
            <a:off x="731520" y="2057400"/>
            <a:ext cx="228600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2F3E"/>
                </a:solidFill>
                <a:latin typeface="Calibri"/>
              </a:defRPr>
            </a:pPr>
            <a:r>
              <a:t>category</a:t>
            </a:r>
          </a:p>
        </p:txBody>
      </p:sp>
      <p:sp>
        <p:nvSpPr>
          <p:cNvPr id="9" name="Rounded Rectangle 8"/>
          <p:cNvSpPr/>
          <p:nvPr/>
        </p:nvSpPr>
        <p:spPr>
          <a:xfrm>
            <a:off x="3017520" y="2057400"/>
            <a:ext cx="274320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232F3E"/>
                </a:solidFill>
                <a:latin typeface="Calibri"/>
              </a:defRPr>
            </a:pPr>
            <a:r>
              <a:t>Transaction category</a:t>
            </a:r>
          </a:p>
        </p:txBody>
      </p:sp>
      <p:sp>
        <p:nvSpPr>
          <p:cNvPr id="10" name="Rounded Rectangle 9"/>
          <p:cNvSpPr/>
          <p:nvPr/>
        </p:nvSpPr>
        <p:spPr>
          <a:xfrm>
            <a:off x="731520" y="2468880"/>
            <a:ext cx="2286000" cy="4114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2F3E"/>
                </a:solidFill>
                <a:latin typeface="Calibri"/>
              </a:defRPr>
            </a:pPr>
            <a:r>
              <a:t>gender</a:t>
            </a:r>
          </a:p>
        </p:txBody>
      </p:sp>
      <p:sp>
        <p:nvSpPr>
          <p:cNvPr id="11" name="Rounded Rectangle 10"/>
          <p:cNvSpPr/>
          <p:nvPr/>
        </p:nvSpPr>
        <p:spPr>
          <a:xfrm>
            <a:off x="3017520" y="2468880"/>
            <a:ext cx="2743200" cy="4114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232F3E"/>
                </a:solidFill>
                <a:latin typeface="Calibri"/>
              </a:defRPr>
            </a:pPr>
            <a:r>
              <a:t>Cardholder gender</a:t>
            </a:r>
          </a:p>
        </p:txBody>
      </p:sp>
      <p:sp>
        <p:nvSpPr>
          <p:cNvPr id="12" name="Rounded Rectangle 11"/>
          <p:cNvSpPr/>
          <p:nvPr/>
        </p:nvSpPr>
        <p:spPr>
          <a:xfrm>
            <a:off x="731520" y="2880360"/>
            <a:ext cx="228600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2F3E"/>
                </a:solidFill>
                <a:latin typeface="Calibri"/>
              </a:defRPr>
            </a:pPr>
            <a:r>
              <a:t>city</a:t>
            </a:r>
          </a:p>
        </p:txBody>
      </p:sp>
      <p:sp>
        <p:nvSpPr>
          <p:cNvPr id="13" name="Rounded Rectangle 12"/>
          <p:cNvSpPr/>
          <p:nvPr/>
        </p:nvSpPr>
        <p:spPr>
          <a:xfrm>
            <a:off x="3017520" y="2880360"/>
            <a:ext cx="274320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232F3E"/>
                </a:solidFill>
                <a:latin typeface="Calibri"/>
              </a:defRPr>
            </a:pPr>
            <a:r>
              <a:t>Cardholder city</a:t>
            </a:r>
          </a:p>
        </p:txBody>
      </p:sp>
      <p:sp>
        <p:nvSpPr>
          <p:cNvPr id="14" name="Rounded Rectangle 13"/>
          <p:cNvSpPr/>
          <p:nvPr/>
        </p:nvSpPr>
        <p:spPr>
          <a:xfrm>
            <a:off x="731520" y="3291840"/>
            <a:ext cx="2286000" cy="4114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2F3E"/>
                </a:solidFill>
                <a:latin typeface="Calibri"/>
              </a:defRPr>
            </a:pPr>
            <a:r>
              <a:t>state</a:t>
            </a:r>
          </a:p>
        </p:txBody>
      </p:sp>
      <p:sp>
        <p:nvSpPr>
          <p:cNvPr id="15" name="Rounded Rectangle 14"/>
          <p:cNvSpPr/>
          <p:nvPr/>
        </p:nvSpPr>
        <p:spPr>
          <a:xfrm>
            <a:off x="3017520" y="3291840"/>
            <a:ext cx="2743200" cy="4114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232F3E"/>
                </a:solidFill>
                <a:latin typeface="Calibri"/>
              </a:defRPr>
            </a:pPr>
            <a:r>
              <a:t>Cardholder state</a:t>
            </a:r>
          </a:p>
        </p:txBody>
      </p:sp>
      <p:sp>
        <p:nvSpPr>
          <p:cNvPr id="16" name="Rounded Rectangle 15"/>
          <p:cNvSpPr/>
          <p:nvPr/>
        </p:nvSpPr>
        <p:spPr>
          <a:xfrm>
            <a:off x="731520" y="3703320"/>
            <a:ext cx="228600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2F3E"/>
                </a:solidFill>
                <a:latin typeface="Calibri"/>
              </a:defRPr>
            </a:pPr>
            <a:r>
              <a:t>zip</a:t>
            </a:r>
          </a:p>
        </p:txBody>
      </p:sp>
      <p:sp>
        <p:nvSpPr>
          <p:cNvPr id="17" name="Rounded Rectangle 16"/>
          <p:cNvSpPr/>
          <p:nvPr/>
        </p:nvSpPr>
        <p:spPr>
          <a:xfrm>
            <a:off x="3017520" y="3703320"/>
            <a:ext cx="274320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232F3E"/>
                </a:solidFill>
                <a:latin typeface="Calibri"/>
              </a:defRPr>
            </a:pPr>
            <a:r>
              <a:t>ZIP code</a:t>
            </a:r>
          </a:p>
        </p:txBody>
      </p:sp>
      <p:sp>
        <p:nvSpPr>
          <p:cNvPr id="18" name="Rounded Rectangle 17"/>
          <p:cNvSpPr/>
          <p:nvPr/>
        </p:nvSpPr>
        <p:spPr>
          <a:xfrm>
            <a:off x="731520" y="4114800"/>
            <a:ext cx="2286000" cy="4114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2F3E"/>
                </a:solidFill>
                <a:latin typeface="Calibri"/>
              </a:defRPr>
            </a:pPr>
            <a:r>
              <a:t>city_pop</a:t>
            </a:r>
          </a:p>
        </p:txBody>
      </p:sp>
      <p:sp>
        <p:nvSpPr>
          <p:cNvPr id="19" name="Rounded Rectangle 18"/>
          <p:cNvSpPr/>
          <p:nvPr/>
        </p:nvSpPr>
        <p:spPr>
          <a:xfrm>
            <a:off x="3017520" y="4114800"/>
            <a:ext cx="2743200" cy="4114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232F3E"/>
                </a:solidFill>
                <a:latin typeface="Calibri"/>
              </a:defRPr>
            </a:pPr>
            <a:r>
              <a:t>City population</a:t>
            </a:r>
          </a:p>
        </p:txBody>
      </p:sp>
      <p:sp>
        <p:nvSpPr>
          <p:cNvPr id="20" name="Rounded Rectangle 19"/>
          <p:cNvSpPr/>
          <p:nvPr/>
        </p:nvSpPr>
        <p:spPr>
          <a:xfrm>
            <a:off x="731520" y="4526280"/>
            <a:ext cx="228600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2F3E"/>
                </a:solidFill>
                <a:latin typeface="Calibri"/>
              </a:defRPr>
            </a:pPr>
            <a:r>
              <a:t>amt_winsorized</a:t>
            </a:r>
          </a:p>
        </p:txBody>
      </p:sp>
      <p:sp>
        <p:nvSpPr>
          <p:cNvPr id="21" name="Rounded Rectangle 20"/>
          <p:cNvSpPr/>
          <p:nvPr/>
        </p:nvSpPr>
        <p:spPr>
          <a:xfrm>
            <a:off x="3017520" y="4526280"/>
            <a:ext cx="274320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232F3E"/>
                </a:solidFill>
                <a:latin typeface="Calibri"/>
              </a:defRPr>
            </a:pPr>
            <a:r>
              <a:t>Winsorized transaction amount</a:t>
            </a:r>
          </a:p>
        </p:txBody>
      </p:sp>
      <p:sp>
        <p:nvSpPr>
          <p:cNvPr id="22" name="Rounded Rectangle 21"/>
          <p:cNvSpPr/>
          <p:nvPr/>
        </p:nvSpPr>
        <p:spPr>
          <a:xfrm>
            <a:off x="6400800" y="1188720"/>
            <a:ext cx="2286000" cy="45720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Calibri"/>
              </a:defRPr>
            </a:pPr>
            <a:r>
              <a:t>Feature</a:t>
            </a:r>
          </a:p>
        </p:txBody>
      </p:sp>
      <p:sp>
        <p:nvSpPr>
          <p:cNvPr id="23" name="Rounded Rectangle 22"/>
          <p:cNvSpPr/>
          <p:nvPr/>
        </p:nvSpPr>
        <p:spPr>
          <a:xfrm>
            <a:off x="8686800" y="1188720"/>
            <a:ext cx="2743200" cy="45720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Calibri"/>
              </a:defRPr>
            </a:pPr>
            <a:r>
              <a:t>Description</a:t>
            </a:r>
          </a:p>
        </p:txBody>
      </p:sp>
      <p:sp>
        <p:nvSpPr>
          <p:cNvPr id="24" name="Rounded Rectangle 23"/>
          <p:cNvSpPr/>
          <p:nvPr/>
        </p:nvSpPr>
        <p:spPr>
          <a:xfrm>
            <a:off x="6400800" y="1645920"/>
            <a:ext cx="2286000" cy="4114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2F3E"/>
                </a:solidFill>
                <a:latin typeface="Calibri"/>
              </a:defRPr>
            </a:pPr>
            <a:r>
              <a:t>trans_hour</a:t>
            </a:r>
          </a:p>
        </p:txBody>
      </p:sp>
      <p:sp>
        <p:nvSpPr>
          <p:cNvPr id="25" name="Rounded Rectangle 24"/>
          <p:cNvSpPr/>
          <p:nvPr/>
        </p:nvSpPr>
        <p:spPr>
          <a:xfrm>
            <a:off x="8686800" y="1645920"/>
            <a:ext cx="2743200" cy="4114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232F3E"/>
                </a:solidFill>
                <a:latin typeface="Calibri"/>
              </a:defRPr>
            </a:pPr>
            <a:r>
              <a:t>Hour of transaction</a:t>
            </a:r>
          </a:p>
        </p:txBody>
      </p:sp>
      <p:sp>
        <p:nvSpPr>
          <p:cNvPr id="26" name="Rounded Rectangle 25"/>
          <p:cNvSpPr/>
          <p:nvPr/>
        </p:nvSpPr>
        <p:spPr>
          <a:xfrm>
            <a:off x="6400800" y="2057400"/>
            <a:ext cx="228600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2F3E"/>
                </a:solidFill>
                <a:latin typeface="Calibri"/>
              </a:defRPr>
            </a:pPr>
            <a:r>
              <a:t>trans_day_of_week</a:t>
            </a:r>
          </a:p>
        </p:txBody>
      </p:sp>
      <p:sp>
        <p:nvSpPr>
          <p:cNvPr id="27" name="Rounded Rectangle 26"/>
          <p:cNvSpPr/>
          <p:nvPr/>
        </p:nvSpPr>
        <p:spPr>
          <a:xfrm>
            <a:off x="8686800" y="2057400"/>
            <a:ext cx="274320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232F3E"/>
                </a:solidFill>
                <a:latin typeface="Calibri"/>
              </a:defRPr>
            </a:pPr>
            <a:r>
              <a:t>Day of week</a:t>
            </a:r>
          </a:p>
        </p:txBody>
      </p:sp>
      <p:sp>
        <p:nvSpPr>
          <p:cNvPr id="28" name="Rounded Rectangle 27"/>
          <p:cNvSpPr/>
          <p:nvPr/>
        </p:nvSpPr>
        <p:spPr>
          <a:xfrm>
            <a:off x="6400800" y="2468880"/>
            <a:ext cx="2286000" cy="4114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2F3E"/>
                </a:solidFill>
                <a:latin typeface="Calibri"/>
              </a:defRPr>
            </a:pPr>
            <a:r>
              <a:t>trans_month</a:t>
            </a:r>
          </a:p>
        </p:txBody>
      </p:sp>
      <p:sp>
        <p:nvSpPr>
          <p:cNvPr id="29" name="Rounded Rectangle 28"/>
          <p:cNvSpPr/>
          <p:nvPr/>
        </p:nvSpPr>
        <p:spPr>
          <a:xfrm>
            <a:off x="8686800" y="2468880"/>
            <a:ext cx="2743200" cy="4114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232F3E"/>
                </a:solidFill>
                <a:latin typeface="Calibri"/>
              </a:defRPr>
            </a:pPr>
            <a:r>
              <a:t>Month of transaction</a:t>
            </a:r>
          </a:p>
        </p:txBody>
      </p:sp>
      <p:sp>
        <p:nvSpPr>
          <p:cNvPr id="30" name="Rounded Rectangle 29"/>
          <p:cNvSpPr/>
          <p:nvPr/>
        </p:nvSpPr>
        <p:spPr>
          <a:xfrm>
            <a:off x="6400800" y="2880360"/>
            <a:ext cx="228600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2F3E"/>
                </a:solidFill>
                <a:latin typeface="Calibri"/>
              </a:defRPr>
            </a:pPr>
            <a:r>
              <a:t>trans_day</a:t>
            </a:r>
          </a:p>
        </p:txBody>
      </p:sp>
      <p:sp>
        <p:nvSpPr>
          <p:cNvPr id="31" name="Rounded Rectangle 30"/>
          <p:cNvSpPr/>
          <p:nvPr/>
        </p:nvSpPr>
        <p:spPr>
          <a:xfrm>
            <a:off x="8686800" y="2880360"/>
            <a:ext cx="274320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232F3E"/>
                </a:solidFill>
                <a:latin typeface="Calibri"/>
              </a:defRPr>
            </a:pPr>
            <a:r>
              <a:t>Day of month</a:t>
            </a:r>
          </a:p>
        </p:txBody>
      </p:sp>
      <p:sp>
        <p:nvSpPr>
          <p:cNvPr id="32" name="Rounded Rectangle 31"/>
          <p:cNvSpPr/>
          <p:nvPr/>
        </p:nvSpPr>
        <p:spPr>
          <a:xfrm>
            <a:off x="6400800" y="3291840"/>
            <a:ext cx="2286000" cy="4114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2F3E"/>
                </a:solidFill>
                <a:latin typeface="Calibri"/>
              </a:defRPr>
            </a:pPr>
            <a:r>
              <a:t>trans_year</a:t>
            </a:r>
          </a:p>
        </p:txBody>
      </p:sp>
      <p:sp>
        <p:nvSpPr>
          <p:cNvPr id="33" name="Rounded Rectangle 32"/>
          <p:cNvSpPr/>
          <p:nvPr/>
        </p:nvSpPr>
        <p:spPr>
          <a:xfrm>
            <a:off x="8686800" y="3291840"/>
            <a:ext cx="2743200" cy="4114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232F3E"/>
                </a:solidFill>
                <a:latin typeface="Calibri"/>
              </a:defRPr>
            </a:pPr>
            <a:r>
              <a:t>Year of transaction</a:t>
            </a:r>
          </a:p>
        </p:txBody>
      </p:sp>
      <p:sp>
        <p:nvSpPr>
          <p:cNvPr id="34" name="Rounded Rectangle 33"/>
          <p:cNvSpPr/>
          <p:nvPr/>
        </p:nvSpPr>
        <p:spPr>
          <a:xfrm>
            <a:off x="6400800" y="3703320"/>
            <a:ext cx="228600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2F3E"/>
                </a:solidFill>
                <a:latin typeface="Calibri"/>
              </a:defRPr>
            </a:pPr>
            <a:r>
              <a:t>age</a:t>
            </a:r>
          </a:p>
        </p:txBody>
      </p:sp>
      <p:sp>
        <p:nvSpPr>
          <p:cNvPr id="35" name="Rounded Rectangle 34"/>
          <p:cNvSpPr/>
          <p:nvPr/>
        </p:nvSpPr>
        <p:spPr>
          <a:xfrm>
            <a:off x="8686800" y="3703320"/>
            <a:ext cx="274320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232F3E"/>
                </a:solidFill>
                <a:latin typeface="Calibri"/>
              </a:defRPr>
            </a:pPr>
            <a:r>
              <a:t>Cardholder age</a:t>
            </a:r>
          </a:p>
        </p:txBody>
      </p:sp>
      <p:sp>
        <p:nvSpPr>
          <p:cNvPr id="36" name="Rounded Rectangle 35"/>
          <p:cNvSpPr/>
          <p:nvPr/>
        </p:nvSpPr>
        <p:spPr>
          <a:xfrm>
            <a:off x="6400800" y="4114800"/>
            <a:ext cx="2286000" cy="4114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2F3E"/>
                </a:solidFill>
                <a:latin typeface="Calibri"/>
              </a:defRPr>
            </a:pPr>
            <a:r>
              <a:t>amt_bin</a:t>
            </a:r>
          </a:p>
        </p:txBody>
      </p:sp>
      <p:sp>
        <p:nvSpPr>
          <p:cNvPr id="37" name="Rounded Rectangle 36"/>
          <p:cNvSpPr/>
          <p:nvPr/>
        </p:nvSpPr>
        <p:spPr>
          <a:xfrm>
            <a:off x="8686800" y="4114800"/>
            <a:ext cx="2743200" cy="4114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232F3E"/>
                </a:solidFill>
                <a:latin typeface="Calibri"/>
              </a:defRPr>
            </a:pPr>
            <a:r>
              <a:t>Binned transaction amount</a:t>
            </a:r>
          </a:p>
        </p:txBody>
      </p:sp>
      <p:sp>
        <p:nvSpPr>
          <p:cNvPr id="38" name="TextBox 37"/>
          <p:cNvSpPr txBox="1"/>
          <p:nvPr/>
        </p:nvSpPr>
        <p:spPr>
          <a:xfrm>
            <a:off x="731520" y="5303520"/>
            <a:ext cx="10515600" cy="457200"/>
          </a:xfrm>
          <a:prstGeom prst="rect">
            <a:avLst/>
          </a:prstGeom>
          <a:noFill/>
        </p:spPr>
        <p:txBody>
          <a:bodyPr wrap="square">
            <a:spAutoFit/>
          </a:bodyPr>
          <a:lstStyle/>
          <a:p>
            <a:pPr algn="l">
              <a:defRPr sz="1500" b="0">
                <a:solidFill>
                  <a:srgbClr val="232F3E"/>
                </a:solidFill>
                <a:latin typeface="Calibri"/>
              </a:defRPr>
            </a:pPr>
            <a:r>
              <a:t>Selection method: SelectKBest with ANOVA F-statistic (f_classif) scoring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82296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FFFFFF"/>
                </a:solidFill>
                <a:latin typeface="Calibri"/>
              </a:defRPr>
            </a:pPr>
            <a:r>
              <a:t>Handling Class Imbalance — SMOTE</a:t>
            </a:r>
          </a:p>
        </p:txBody>
      </p:sp>
      <p:sp>
        <p:nvSpPr>
          <p:cNvPr id="3" name="TextBox 2"/>
          <p:cNvSpPr txBox="1"/>
          <p:nvPr/>
        </p:nvSpPr>
        <p:spPr>
          <a:xfrm>
            <a:off x="731520" y="1188720"/>
            <a:ext cx="10515600" cy="731520"/>
          </a:xfrm>
          <a:prstGeom prst="rect">
            <a:avLst/>
          </a:prstGeom>
          <a:noFill/>
        </p:spPr>
        <p:txBody>
          <a:bodyPr wrap="square">
            <a:spAutoFit/>
          </a:bodyPr>
          <a:lstStyle/>
          <a:p>
            <a:pPr algn="l">
              <a:defRPr sz="1800" b="0">
                <a:solidFill>
                  <a:srgbClr val="232F3E"/>
                </a:solidFill>
                <a:latin typeface="Calibri"/>
              </a:defRPr>
            </a:pPr>
            <a:r>
              <a:t>SMOTE (Synthetic Minority Oversampling Technique) generates synthetic samples for the minority class by interpolating between existing minority samples and their nearest neighbors.</a:t>
            </a:r>
          </a:p>
        </p:txBody>
      </p:sp>
      <p:sp>
        <p:nvSpPr>
          <p:cNvPr id="4" name="Rounded Rectangle 3"/>
          <p:cNvSpPr/>
          <p:nvPr/>
        </p:nvSpPr>
        <p:spPr>
          <a:xfrm>
            <a:off x="731520" y="2286000"/>
            <a:ext cx="5029200" cy="1828800"/>
          </a:xfrm>
          <a:prstGeom prst="roundRect">
            <a:avLst/>
          </a:prstGeom>
          <a:solidFill>
            <a:srgbClr val="FD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377440"/>
            <a:ext cx="4754880" cy="365760"/>
          </a:xfrm>
          <a:prstGeom prst="rect">
            <a:avLst/>
          </a:prstGeom>
          <a:noFill/>
        </p:spPr>
        <p:txBody>
          <a:bodyPr wrap="square">
            <a:spAutoFit/>
          </a:bodyPr>
          <a:lstStyle/>
          <a:p>
            <a:pPr algn="l">
              <a:defRPr sz="2000" b="1">
                <a:solidFill>
                  <a:srgbClr val="E74C3C"/>
                </a:solidFill>
                <a:latin typeface="Calibri"/>
              </a:defRPr>
            </a:pPr>
            <a:r>
              <a:t>Before SMOTE</a:t>
            </a:r>
          </a:p>
        </p:txBody>
      </p:sp>
      <p:sp>
        <p:nvSpPr>
          <p:cNvPr id="6" name="TextBox 5"/>
          <p:cNvSpPr txBox="1"/>
          <p:nvPr/>
        </p:nvSpPr>
        <p:spPr>
          <a:xfrm>
            <a:off x="914400" y="2834640"/>
            <a:ext cx="4754880" cy="1097280"/>
          </a:xfrm>
          <a:prstGeom prst="rect">
            <a:avLst/>
          </a:prstGeom>
          <a:noFill/>
        </p:spPr>
        <p:txBody>
          <a:bodyPr wrap="square">
            <a:spAutoFit/>
          </a:bodyPr>
          <a:lstStyle/>
          <a:p>
            <a:pPr>
              <a:spcAft>
                <a:spcPts val="800"/>
              </a:spcAft>
              <a:defRPr sz="1500">
                <a:solidFill>
                  <a:srgbClr val="232F3E"/>
                </a:solidFill>
                <a:latin typeface="Calibri"/>
              </a:defRPr>
            </a:pPr>
            <a:r>
              <a:t>• Legitimate: ~99.4% (1,031,335 samples)</a:t>
            </a:r>
          </a:p>
          <a:p>
            <a:pPr>
              <a:spcAft>
                <a:spcPts val="800"/>
              </a:spcAft>
              <a:defRPr sz="1500">
                <a:solidFill>
                  <a:srgbClr val="232F3E"/>
                </a:solidFill>
                <a:latin typeface="Calibri"/>
              </a:defRPr>
            </a:pPr>
            <a:r>
              <a:t>• Fraudulent: ~0.6% (6,005 samples)</a:t>
            </a:r>
          </a:p>
          <a:p>
            <a:pPr>
              <a:spcAft>
                <a:spcPts val="800"/>
              </a:spcAft>
              <a:defRPr sz="1500">
                <a:solidFill>
                  <a:srgbClr val="232F3E"/>
                </a:solidFill>
                <a:latin typeface="Calibri"/>
              </a:defRPr>
            </a:pPr>
            <a:r>
              <a:t>• Ratio: ~172:1</a:t>
            </a:r>
          </a:p>
        </p:txBody>
      </p:sp>
      <p:sp>
        <p:nvSpPr>
          <p:cNvPr id="7" name="Rounded Rectangle 6"/>
          <p:cNvSpPr/>
          <p:nvPr/>
        </p:nvSpPr>
        <p:spPr>
          <a:xfrm>
            <a:off x="6400800" y="2286000"/>
            <a:ext cx="5029200" cy="1828800"/>
          </a:xfrm>
          <a:prstGeom prst="roundRect">
            <a:avLst/>
          </a:prstGeom>
          <a:solidFill>
            <a:srgbClr val="E8F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2377440"/>
            <a:ext cx="4754880" cy="365760"/>
          </a:xfrm>
          <a:prstGeom prst="rect">
            <a:avLst/>
          </a:prstGeom>
          <a:noFill/>
        </p:spPr>
        <p:txBody>
          <a:bodyPr wrap="square">
            <a:spAutoFit/>
          </a:bodyPr>
          <a:lstStyle/>
          <a:p>
            <a:pPr algn="l">
              <a:defRPr sz="2000" b="1">
                <a:solidFill>
                  <a:srgbClr val="2ECC71"/>
                </a:solidFill>
                <a:latin typeface="Calibri"/>
              </a:defRPr>
            </a:pPr>
            <a:r>
              <a:t>After SMOTE</a:t>
            </a:r>
          </a:p>
        </p:txBody>
      </p:sp>
      <p:sp>
        <p:nvSpPr>
          <p:cNvPr id="9" name="TextBox 8"/>
          <p:cNvSpPr txBox="1"/>
          <p:nvPr/>
        </p:nvSpPr>
        <p:spPr>
          <a:xfrm>
            <a:off x="6583680" y="2834640"/>
            <a:ext cx="4754880" cy="1097280"/>
          </a:xfrm>
          <a:prstGeom prst="rect">
            <a:avLst/>
          </a:prstGeom>
          <a:noFill/>
        </p:spPr>
        <p:txBody>
          <a:bodyPr wrap="square">
            <a:spAutoFit/>
          </a:bodyPr>
          <a:lstStyle/>
          <a:p>
            <a:pPr>
              <a:spcAft>
                <a:spcPts val="800"/>
              </a:spcAft>
              <a:defRPr sz="1500">
                <a:solidFill>
                  <a:srgbClr val="232F3E"/>
                </a:solidFill>
                <a:latin typeface="Calibri"/>
              </a:defRPr>
            </a:pPr>
            <a:r>
              <a:t>• Legitimate: 50% (1,031,335 samples)</a:t>
            </a:r>
          </a:p>
          <a:p>
            <a:pPr>
              <a:spcAft>
                <a:spcPts val="800"/>
              </a:spcAft>
              <a:defRPr sz="1500">
                <a:solidFill>
                  <a:srgbClr val="232F3E"/>
                </a:solidFill>
                <a:latin typeface="Calibri"/>
              </a:defRPr>
            </a:pPr>
            <a:r>
              <a:t>• Fraudulent: 50% (1,031,335 synthetic)</a:t>
            </a:r>
          </a:p>
          <a:p>
            <a:pPr>
              <a:spcAft>
                <a:spcPts val="800"/>
              </a:spcAft>
              <a:defRPr sz="1500">
                <a:solidFill>
                  <a:srgbClr val="232F3E"/>
                </a:solidFill>
                <a:latin typeface="Calibri"/>
              </a:defRPr>
            </a:pPr>
            <a:r>
              <a:t>• Total training: 2,062,670 samples</a:t>
            </a:r>
          </a:p>
        </p:txBody>
      </p:sp>
      <p:sp>
        <p:nvSpPr>
          <p:cNvPr id="10" name="Rounded Rectangle 9"/>
          <p:cNvSpPr/>
          <p:nvPr/>
        </p:nvSpPr>
        <p:spPr>
          <a:xfrm>
            <a:off x="731520" y="4572000"/>
            <a:ext cx="10515600" cy="91440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232F3E"/>
                </a:solidFill>
                <a:latin typeface="Calibri"/>
              </a:defRPr>
            </a:pPr>
            <a:r>
              <a:t>SMOTE applied ONLY to training data to prevent data leakage. Test set remains untouched.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82296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FFFFFF"/>
                </a:solidFill>
                <a:latin typeface="Calibri"/>
              </a:defRPr>
            </a:pPr>
            <a:r>
              <a:t>Model Comparison — All Candidates</a:t>
            </a:r>
          </a:p>
        </p:txBody>
      </p:sp>
      <p:sp>
        <p:nvSpPr>
          <p:cNvPr id="3" name="Rounded Rectangle 2"/>
          <p:cNvSpPr/>
          <p:nvPr/>
        </p:nvSpPr>
        <p:spPr>
          <a:xfrm>
            <a:off x="731520" y="1097280"/>
            <a:ext cx="3200400" cy="45720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Model</a:t>
            </a:r>
          </a:p>
        </p:txBody>
      </p:sp>
      <p:sp>
        <p:nvSpPr>
          <p:cNvPr id="4" name="Rounded Rectangle 3"/>
          <p:cNvSpPr/>
          <p:nvPr/>
        </p:nvSpPr>
        <p:spPr>
          <a:xfrm>
            <a:off x="3931920" y="1097280"/>
            <a:ext cx="1463040" cy="45720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Precision</a:t>
            </a:r>
          </a:p>
        </p:txBody>
      </p:sp>
      <p:sp>
        <p:nvSpPr>
          <p:cNvPr id="5" name="Rounded Rectangle 4"/>
          <p:cNvSpPr/>
          <p:nvPr/>
        </p:nvSpPr>
        <p:spPr>
          <a:xfrm>
            <a:off x="5394960" y="1097280"/>
            <a:ext cx="1463040" cy="45720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Recall</a:t>
            </a:r>
          </a:p>
        </p:txBody>
      </p:sp>
      <p:sp>
        <p:nvSpPr>
          <p:cNvPr id="6" name="Rounded Rectangle 5"/>
          <p:cNvSpPr/>
          <p:nvPr/>
        </p:nvSpPr>
        <p:spPr>
          <a:xfrm>
            <a:off x="6858000" y="1097280"/>
            <a:ext cx="1463040" cy="45720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F1-Score</a:t>
            </a:r>
          </a:p>
        </p:txBody>
      </p:sp>
      <p:sp>
        <p:nvSpPr>
          <p:cNvPr id="7" name="Rounded Rectangle 6"/>
          <p:cNvSpPr/>
          <p:nvPr/>
        </p:nvSpPr>
        <p:spPr>
          <a:xfrm>
            <a:off x="8321040" y="1097280"/>
            <a:ext cx="1463040" cy="45720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ROC-AUC</a:t>
            </a:r>
          </a:p>
        </p:txBody>
      </p:sp>
      <p:sp>
        <p:nvSpPr>
          <p:cNvPr id="8" name="Rounded Rectangle 7"/>
          <p:cNvSpPr/>
          <p:nvPr/>
        </p:nvSpPr>
        <p:spPr>
          <a:xfrm>
            <a:off x="9784080" y="1097280"/>
            <a:ext cx="1463040" cy="45720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PR-AUC</a:t>
            </a:r>
          </a:p>
        </p:txBody>
      </p:sp>
      <p:sp>
        <p:nvSpPr>
          <p:cNvPr id="9" name="Rounded Rectangle 8"/>
          <p:cNvSpPr/>
          <p:nvPr/>
        </p:nvSpPr>
        <p:spPr>
          <a:xfrm>
            <a:off x="731520" y="1554480"/>
            <a:ext cx="3200400" cy="438912"/>
          </a:xfrm>
          <a:prstGeom prst="roundRect">
            <a:avLst/>
          </a:prstGeom>
          <a:solidFill>
            <a:srgbClr val="E8FDE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232F3E"/>
                </a:solidFill>
                <a:latin typeface="Calibri"/>
              </a:defRPr>
            </a:pPr>
            <a:r>
              <a:t>XGBoost (SMOTE Tuned)</a:t>
            </a:r>
          </a:p>
        </p:txBody>
      </p:sp>
      <p:sp>
        <p:nvSpPr>
          <p:cNvPr id="10" name="Rounded Rectangle 9"/>
          <p:cNvSpPr/>
          <p:nvPr/>
        </p:nvSpPr>
        <p:spPr>
          <a:xfrm>
            <a:off x="3931920" y="1554480"/>
            <a:ext cx="1463040" cy="438912"/>
          </a:xfrm>
          <a:prstGeom prst="roundRect">
            <a:avLst/>
          </a:prstGeom>
          <a:solidFill>
            <a:srgbClr val="E8FDE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0.949</a:t>
            </a:r>
          </a:p>
        </p:txBody>
      </p:sp>
      <p:sp>
        <p:nvSpPr>
          <p:cNvPr id="11" name="Rounded Rectangle 10"/>
          <p:cNvSpPr/>
          <p:nvPr/>
        </p:nvSpPr>
        <p:spPr>
          <a:xfrm>
            <a:off x="5394960" y="1554480"/>
            <a:ext cx="1463040" cy="438912"/>
          </a:xfrm>
          <a:prstGeom prst="roundRect">
            <a:avLst/>
          </a:prstGeom>
          <a:solidFill>
            <a:srgbClr val="E8FDE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0.887</a:t>
            </a:r>
          </a:p>
        </p:txBody>
      </p:sp>
      <p:sp>
        <p:nvSpPr>
          <p:cNvPr id="12" name="Rounded Rectangle 11"/>
          <p:cNvSpPr/>
          <p:nvPr/>
        </p:nvSpPr>
        <p:spPr>
          <a:xfrm>
            <a:off x="6858000" y="1554480"/>
            <a:ext cx="1463040" cy="438912"/>
          </a:xfrm>
          <a:prstGeom prst="roundRect">
            <a:avLst/>
          </a:prstGeom>
          <a:solidFill>
            <a:srgbClr val="E8FDE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0.920</a:t>
            </a:r>
          </a:p>
        </p:txBody>
      </p:sp>
      <p:sp>
        <p:nvSpPr>
          <p:cNvPr id="13" name="Rounded Rectangle 12"/>
          <p:cNvSpPr/>
          <p:nvPr/>
        </p:nvSpPr>
        <p:spPr>
          <a:xfrm>
            <a:off x="8321040" y="1554480"/>
            <a:ext cx="1463040" cy="438912"/>
          </a:xfrm>
          <a:prstGeom prst="roundRect">
            <a:avLst/>
          </a:prstGeom>
          <a:solidFill>
            <a:srgbClr val="E8FDE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0.998</a:t>
            </a:r>
          </a:p>
        </p:txBody>
      </p:sp>
      <p:sp>
        <p:nvSpPr>
          <p:cNvPr id="14" name="Rounded Rectangle 13"/>
          <p:cNvSpPr/>
          <p:nvPr/>
        </p:nvSpPr>
        <p:spPr>
          <a:xfrm>
            <a:off x="9784080" y="1554480"/>
            <a:ext cx="1463040" cy="438912"/>
          </a:xfrm>
          <a:prstGeom prst="roundRect">
            <a:avLst/>
          </a:prstGeom>
          <a:solidFill>
            <a:srgbClr val="E8FDE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0.968</a:t>
            </a:r>
          </a:p>
        </p:txBody>
      </p:sp>
      <p:sp>
        <p:nvSpPr>
          <p:cNvPr id="15" name="Rounded Rectangle 14"/>
          <p:cNvSpPr/>
          <p:nvPr/>
        </p:nvSpPr>
        <p:spPr>
          <a:xfrm>
            <a:off x="731520" y="1993391"/>
            <a:ext cx="320040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232F3E"/>
                </a:solidFill>
                <a:latin typeface="Calibri"/>
              </a:defRPr>
            </a:pPr>
            <a:r>
              <a:t>XGBoost (SMOTE)</a:t>
            </a:r>
          </a:p>
        </p:txBody>
      </p:sp>
      <p:sp>
        <p:nvSpPr>
          <p:cNvPr id="16" name="Rounded Rectangle 15"/>
          <p:cNvSpPr/>
          <p:nvPr/>
        </p:nvSpPr>
        <p:spPr>
          <a:xfrm>
            <a:off x="3931920" y="1993391"/>
            <a:ext cx="146304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0.818</a:t>
            </a:r>
          </a:p>
        </p:txBody>
      </p:sp>
      <p:sp>
        <p:nvSpPr>
          <p:cNvPr id="17" name="Rounded Rectangle 16"/>
          <p:cNvSpPr/>
          <p:nvPr/>
        </p:nvSpPr>
        <p:spPr>
          <a:xfrm>
            <a:off x="5394960" y="1993391"/>
            <a:ext cx="146304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0.891</a:t>
            </a:r>
          </a:p>
        </p:txBody>
      </p:sp>
      <p:sp>
        <p:nvSpPr>
          <p:cNvPr id="18" name="Rounded Rectangle 17"/>
          <p:cNvSpPr/>
          <p:nvPr/>
        </p:nvSpPr>
        <p:spPr>
          <a:xfrm>
            <a:off x="6858000" y="1993391"/>
            <a:ext cx="146304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0.853</a:t>
            </a:r>
          </a:p>
        </p:txBody>
      </p:sp>
      <p:sp>
        <p:nvSpPr>
          <p:cNvPr id="19" name="Rounded Rectangle 18"/>
          <p:cNvSpPr/>
          <p:nvPr/>
        </p:nvSpPr>
        <p:spPr>
          <a:xfrm>
            <a:off x="8321040" y="1993391"/>
            <a:ext cx="146304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0.996</a:t>
            </a:r>
          </a:p>
        </p:txBody>
      </p:sp>
      <p:sp>
        <p:nvSpPr>
          <p:cNvPr id="20" name="Rounded Rectangle 19"/>
          <p:cNvSpPr/>
          <p:nvPr/>
        </p:nvSpPr>
        <p:spPr>
          <a:xfrm>
            <a:off x="9784080" y="1993391"/>
            <a:ext cx="146304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0.928</a:t>
            </a:r>
          </a:p>
        </p:txBody>
      </p:sp>
      <p:sp>
        <p:nvSpPr>
          <p:cNvPr id="21" name="Rounded Rectangle 20"/>
          <p:cNvSpPr/>
          <p:nvPr/>
        </p:nvSpPr>
        <p:spPr>
          <a:xfrm>
            <a:off x="731520" y="2432304"/>
            <a:ext cx="320040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232F3E"/>
                </a:solidFill>
                <a:latin typeface="Calibri"/>
              </a:defRPr>
            </a:pPr>
            <a:r>
              <a:t>Random Forest (CW)</a:t>
            </a:r>
          </a:p>
        </p:txBody>
      </p:sp>
      <p:sp>
        <p:nvSpPr>
          <p:cNvPr id="22" name="Rounded Rectangle 21"/>
          <p:cNvSpPr/>
          <p:nvPr/>
        </p:nvSpPr>
        <p:spPr>
          <a:xfrm>
            <a:off x="3931920" y="2432304"/>
            <a:ext cx="146304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0.981</a:t>
            </a:r>
          </a:p>
        </p:txBody>
      </p:sp>
      <p:sp>
        <p:nvSpPr>
          <p:cNvPr id="23" name="Rounded Rectangle 22"/>
          <p:cNvSpPr/>
          <p:nvPr/>
        </p:nvSpPr>
        <p:spPr>
          <a:xfrm>
            <a:off x="5394960" y="2432304"/>
            <a:ext cx="146304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0.750</a:t>
            </a:r>
          </a:p>
        </p:txBody>
      </p:sp>
      <p:sp>
        <p:nvSpPr>
          <p:cNvPr id="24" name="Rounded Rectangle 23"/>
          <p:cNvSpPr/>
          <p:nvPr/>
        </p:nvSpPr>
        <p:spPr>
          <a:xfrm>
            <a:off x="6858000" y="2432304"/>
            <a:ext cx="146304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0.850</a:t>
            </a:r>
          </a:p>
        </p:txBody>
      </p:sp>
      <p:sp>
        <p:nvSpPr>
          <p:cNvPr id="25" name="Rounded Rectangle 24"/>
          <p:cNvSpPr/>
          <p:nvPr/>
        </p:nvSpPr>
        <p:spPr>
          <a:xfrm>
            <a:off x="8321040" y="2432304"/>
            <a:ext cx="146304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0.991</a:t>
            </a:r>
          </a:p>
        </p:txBody>
      </p:sp>
      <p:sp>
        <p:nvSpPr>
          <p:cNvPr id="26" name="Rounded Rectangle 25"/>
          <p:cNvSpPr/>
          <p:nvPr/>
        </p:nvSpPr>
        <p:spPr>
          <a:xfrm>
            <a:off x="9784080" y="2432304"/>
            <a:ext cx="146304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0.928</a:t>
            </a:r>
          </a:p>
        </p:txBody>
      </p:sp>
      <p:sp>
        <p:nvSpPr>
          <p:cNvPr id="27" name="Rounded Rectangle 26"/>
          <p:cNvSpPr/>
          <p:nvPr/>
        </p:nvSpPr>
        <p:spPr>
          <a:xfrm>
            <a:off x="731520" y="2871215"/>
            <a:ext cx="320040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232F3E"/>
                </a:solidFill>
                <a:latin typeface="Calibri"/>
              </a:defRPr>
            </a:pPr>
            <a:r>
              <a:t>Random Forest (SMOTE)</a:t>
            </a:r>
          </a:p>
        </p:txBody>
      </p:sp>
      <p:sp>
        <p:nvSpPr>
          <p:cNvPr id="28" name="Rounded Rectangle 27"/>
          <p:cNvSpPr/>
          <p:nvPr/>
        </p:nvSpPr>
        <p:spPr>
          <a:xfrm>
            <a:off x="3931920" y="2871215"/>
            <a:ext cx="146304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0.905</a:t>
            </a:r>
          </a:p>
        </p:txBody>
      </p:sp>
      <p:sp>
        <p:nvSpPr>
          <p:cNvPr id="29" name="Rounded Rectangle 28"/>
          <p:cNvSpPr/>
          <p:nvPr/>
        </p:nvSpPr>
        <p:spPr>
          <a:xfrm>
            <a:off x="5394960" y="2871215"/>
            <a:ext cx="146304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0.813</a:t>
            </a:r>
          </a:p>
        </p:txBody>
      </p:sp>
      <p:sp>
        <p:nvSpPr>
          <p:cNvPr id="30" name="Rounded Rectangle 29"/>
          <p:cNvSpPr/>
          <p:nvPr/>
        </p:nvSpPr>
        <p:spPr>
          <a:xfrm>
            <a:off x="6858000" y="2871215"/>
            <a:ext cx="146304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0.857</a:t>
            </a:r>
          </a:p>
        </p:txBody>
      </p:sp>
      <p:sp>
        <p:nvSpPr>
          <p:cNvPr id="31" name="Rounded Rectangle 30"/>
          <p:cNvSpPr/>
          <p:nvPr/>
        </p:nvSpPr>
        <p:spPr>
          <a:xfrm>
            <a:off x="8321040" y="2871215"/>
            <a:ext cx="146304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0.996</a:t>
            </a:r>
          </a:p>
        </p:txBody>
      </p:sp>
      <p:sp>
        <p:nvSpPr>
          <p:cNvPr id="32" name="Rounded Rectangle 31"/>
          <p:cNvSpPr/>
          <p:nvPr/>
        </p:nvSpPr>
        <p:spPr>
          <a:xfrm>
            <a:off x="9784080" y="2871215"/>
            <a:ext cx="146304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0.911</a:t>
            </a:r>
          </a:p>
        </p:txBody>
      </p:sp>
      <p:sp>
        <p:nvSpPr>
          <p:cNvPr id="33" name="Rounded Rectangle 32"/>
          <p:cNvSpPr/>
          <p:nvPr/>
        </p:nvSpPr>
        <p:spPr>
          <a:xfrm>
            <a:off x="731520" y="3310128"/>
            <a:ext cx="320040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232F3E"/>
                </a:solidFill>
                <a:latin typeface="Calibri"/>
              </a:defRPr>
            </a:pPr>
            <a:r>
              <a:t>Decision Tree (CW)</a:t>
            </a:r>
          </a:p>
        </p:txBody>
      </p:sp>
      <p:sp>
        <p:nvSpPr>
          <p:cNvPr id="34" name="Rounded Rectangle 33"/>
          <p:cNvSpPr/>
          <p:nvPr/>
        </p:nvSpPr>
        <p:spPr>
          <a:xfrm>
            <a:off x="3931920" y="3310128"/>
            <a:ext cx="146304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0.831</a:t>
            </a:r>
          </a:p>
        </p:txBody>
      </p:sp>
      <p:sp>
        <p:nvSpPr>
          <p:cNvPr id="35" name="Rounded Rectangle 34"/>
          <p:cNvSpPr/>
          <p:nvPr/>
        </p:nvSpPr>
        <p:spPr>
          <a:xfrm>
            <a:off x="5394960" y="3310128"/>
            <a:ext cx="146304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0.824</a:t>
            </a:r>
          </a:p>
        </p:txBody>
      </p:sp>
      <p:sp>
        <p:nvSpPr>
          <p:cNvPr id="36" name="Rounded Rectangle 35"/>
          <p:cNvSpPr/>
          <p:nvPr/>
        </p:nvSpPr>
        <p:spPr>
          <a:xfrm>
            <a:off x="6858000" y="3310128"/>
            <a:ext cx="146304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0.828</a:t>
            </a:r>
          </a:p>
        </p:txBody>
      </p:sp>
      <p:sp>
        <p:nvSpPr>
          <p:cNvPr id="37" name="Rounded Rectangle 36"/>
          <p:cNvSpPr/>
          <p:nvPr/>
        </p:nvSpPr>
        <p:spPr>
          <a:xfrm>
            <a:off x="8321040" y="3310128"/>
            <a:ext cx="146304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0.912</a:t>
            </a:r>
          </a:p>
        </p:txBody>
      </p:sp>
      <p:sp>
        <p:nvSpPr>
          <p:cNvPr id="38" name="Rounded Rectangle 37"/>
          <p:cNvSpPr/>
          <p:nvPr/>
        </p:nvSpPr>
        <p:spPr>
          <a:xfrm>
            <a:off x="9784080" y="3310128"/>
            <a:ext cx="146304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0.828</a:t>
            </a:r>
          </a:p>
        </p:txBody>
      </p:sp>
      <p:sp>
        <p:nvSpPr>
          <p:cNvPr id="39" name="Rounded Rectangle 38"/>
          <p:cNvSpPr/>
          <p:nvPr/>
        </p:nvSpPr>
        <p:spPr>
          <a:xfrm>
            <a:off x="731520" y="3749039"/>
            <a:ext cx="320040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232F3E"/>
                </a:solidFill>
                <a:latin typeface="Calibri"/>
              </a:defRPr>
            </a:pPr>
            <a:r>
              <a:t>Decision Tree (SMOTE)</a:t>
            </a:r>
          </a:p>
        </p:txBody>
      </p:sp>
      <p:sp>
        <p:nvSpPr>
          <p:cNvPr id="40" name="Rounded Rectangle 39"/>
          <p:cNvSpPr/>
          <p:nvPr/>
        </p:nvSpPr>
        <p:spPr>
          <a:xfrm>
            <a:off x="3931920" y="3749039"/>
            <a:ext cx="146304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0.657</a:t>
            </a:r>
          </a:p>
        </p:txBody>
      </p:sp>
      <p:sp>
        <p:nvSpPr>
          <p:cNvPr id="41" name="Rounded Rectangle 40"/>
          <p:cNvSpPr/>
          <p:nvPr/>
        </p:nvSpPr>
        <p:spPr>
          <a:xfrm>
            <a:off x="5394960" y="3749039"/>
            <a:ext cx="146304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0.834</a:t>
            </a:r>
          </a:p>
        </p:txBody>
      </p:sp>
      <p:sp>
        <p:nvSpPr>
          <p:cNvPr id="42" name="Rounded Rectangle 41"/>
          <p:cNvSpPr/>
          <p:nvPr/>
        </p:nvSpPr>
        <p:spPr>
          <a:xfrm>
            <a:off x="6858000" y="3749039"/>
            <a:ext cx="146304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0.735</a:t>
            </a:r>
          </a:p>
        </p:txBody>
      </p:sp>
      <p:sp>
        <p:nvSpPr>
          <p:cNvPr id="43" name="Rounded Rectangle 42"/>
          <p:cNvSpPr/>
          <p:nvPr/>
        </p:nvSpPr>
        <p:spPr>
          <a:xfrm>
            <a:off x="8321040" y="3749039"/>
            <a:ext cx="146304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0.917</a:t>
            </a:r>
          </a:p>
        </p:txBody>
      </p:sp>
      <p:sp>
        <p:nvSpPr>
          <p:cNvPr id="44" name="Rounded Rectangle 43"/>
          <p:cNvSpPr/>
          <p:nvPr/>
        </p:nvSpPr>
        <p:spPr>
          <a:xfrm>
            <a:off x="9784080" y="3749039"/>
            <a:ext cx="146304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0.700</a:t>
            </a:r>
          </a:p>
        </p:txBody>
      </p:sp>
      <p:sp>
        <p:nvSpPr>
          <p:cNvPr id="45" name="Rounded Rectangle 44"/>
          <p:cNvSpPr/>
          <p:nvPr/>
        </p:nvSpPr>
        <p:spPr>
          <a:xfrm>
            <a:off x="731520" y="4187952"/>
            <a:ext cx="320040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232F3E"/>
                </a:solidFill>
                <a:latin typeface="Calibri"/>
              </a:defRPr>
            </a:pPr>
            <a:r>
              <a:t>XGBoost (CW)</a:t>
            </a:r>
          </a:p>
        </p:txBody>
      </p:sp>
      <p:sp>
        <p:nvSpPr>
          <p:cNvPr id="46" name="Rounded Rectangle 45"/>
          <p:cNvSpPr/>
          <p:nvPr/>
        </p:nvSpPr>
        <p:spPr>
          <a:xfrm>
            <a:off x="3931920" y="4187952"/>
            <a:ext cx="146304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1.000</a:t>
            </a:r>
          </a:p>
        </p:txBody>
      </p:sp>
      <p:sp>
        <p:nvSpPr>
          <p:cNvPr id="47" name="Rounded Rectangle 46"/>
          <p:cNvSpPr/>
          <p:nvPr/>
        </p:nvSpPr>
        <p:spPr>
          <a:xfrm>
            <a:off x="5394960" y="4187952"/>
            <a:ext cx="146304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0.496</a:t>
            </a:r>
          </a:p>
        </p:txBody>
      </p:sp>
      <p:sp>
        <p:nvSpPr>
          <p:cNvPr id="48" name="Rounded Rectangle 47"/>
          <p:cNvSpPr/>
          <p:nvPr/>
        </p:nvSpPr>
        <p:spPr>
          <a:xfrm>
            <a:off x="6858000" y="4187952"/>
            <a:ext cx="146304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0.663</a:t>
            </a:r>
          </a:p>
        </p:txBody>
      </p:sp>
      <p:sp>
        <p:nvSpPr>
          <p:cNvPr id="49" name="Rounded Rectangle 48"/>
          <p:cNvSpPr/>
          <p:nvPr/>
        </p:nvSpPr>
        <p:spPr>
          <a:xfrm>
            <a:off x="8321040" y="4187952"/>
            <a:ext cx="146304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0.998</a:t>
            </a:r>
          </a:p>
        </p:txBody>
      </p:sp>
      <p:sp>
        <p:nvSpPr>
          <p:cNvPr id="50" name="Rounded Rectangle 49"/>
          <p:cNvSpPr/>
          <p:nvPr/>
        </p:nvSpPr>
        <p:spPr>
          <a:xfrm>
            <a:off x="9784080" y="4187952"/>
            <a:ext cx="1463040"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0.928</a:t>
            </a:r>
          </a:p>
        </p:txBody>
      </p:sp>
      <p:sp>
        <p:nvSpPr>
          <p:cNvPr id="51" name="Rounded Rectangle 50"/>
          <p:cNvSpPr/>
          <p:nvPr/>
        </p:nvSpPr>
        <p:spPr>
          <a:xfrm>
            <a:off x="731520" y="4626864"/>
            <a:ext cx="3200400" cy="438912"/>
          </a:xfrm>
          <a:prstGeom prst="roundRect">
            <a:avLst/>
          </a:prstGeom>
          <a:solidFill>
            <a:srgbClr val="FD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232F3E"/>
                </a:solidFill>
                <a:latin typeface="Calibri"/>
              </a:defRPr>
            </a:pPr>
            <a:r>
              <a:t>Logistic Regression (CW)</a:t>
            </a:r>
          </a:p>
        </p:txBody>
      </p:sp>
      <p:sp>
        <p:nvSpPr>
          <p:cNvPr id="52" name="Rounded Rectangle 51"/>
          <p:cNvSpPr/>
          <p:nvPr/>
        </p:nvSpPr>
        <p:spPr>
          <a:xfrm>
            <a:off x="3931920" y="4626864"/>
            <a:ext cx="1463040" cy="438912"/>
          </a:xfrm>
          <a:prstGeom prst="roundRect">
            <a:avLst/>
          </a:prstGeom>
          <a:solidFill>
            <a:srgbClr val="FD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0.045</a:t>
            </a:r>
          </a:p>
        </p:txBody>
      </p:sp>
      <p:sp>
        <p:nvSpPr>
          <p:cNvPr id="53" name="Rounded Rectangle 52"/>
          <p:cNvSpPr/>
          <p:nvPr/>
        </p:nvSpPr>
        <p:spPr>
          <a:xfrm>
            <a:off x="5394960" y="4626864"/>
            <a:ext cx="1463040" cy="438912"/>
          </a:xfrm>
          <a:prstGeom prst="roundRect">
            <a:avLst/>
          </a:prstGeom>
          <a:solidFill>
            <a:srgbClr val="FD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0.780</a:t>
            </a:r>
          </a:p>
        </p:txBody>
      </p:sp>
      <p:sp>
        <p:nvSpPr>
          <p:cNvPr id="54" name="Rounded Rectangle 53"/>
          <p:cNvSpPr/>
          <p:nvPr/>
        </p:nvSpPr>
        <p:spPr>
          <a:xfrm>
            <a:off x="6858000" y="4626864"/>
            <a:ext cx="1463040" cy="438912"/>
          </a:xfrm>
          <a:prstGeom prst="roundRect">
            <a:avLst/>
          </a:prstGeom>
          <a:solidFill>
            <a:srgbClr val="FD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0.086</a:t>
            </a:r>
          </a:p>
        </p:txBody>
      </p:sp>
      <p:sp>
        <p:nvSpPr>
          <p:cNvPr id="55" name="Rounded Rectangle 54"/>
          <p:cNvSpPr/>
          <p:nvPr/>
        </p:nvSpPr>
        <p:spPr>
          <a:xfrm>
            <a:off x="8321040" y="4626864"/>
            <a:ext cx="1463040" cy="438912"/>
          </a:xfrm>
          <a:prstGeom prst="roundRect">
            <a:avLst/>
          </a:prstGeom>
          <a:solidFill>
            <a:srgbClr val="FD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0.907</a:t>
            </a:r>
          </a:p>
        </p:txBody>
      </p:sp>
      <p:sp>
        <p:nvSpPr>
          <p:cNvPr id="56" name="Rounded Rectangle 55"/>
          <p:cNvSpPr/>
          <p:nvPr/>
        </p:nvSpPr>
        <p:spPr>
          <a:xfrm>
            <a:off x="9784080" y="4626864"/>
            <a:ext cx="1463040" cy="438912"/>
          </a:xfrm>
          <a:prstGeom prst="roundRect">
            <a:avLst/>
          </a:prstGeom>
          <a:solidFill>
            <a:srgbClr val="FD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0.122</a:t>
            </a:r>
          </a:p>
        </p:txBody>
      </p:sp>
      <p:sp>
        <p:nvSpPr>
          <p:cNvPr id="57" name="Rounded Rectangle 56"/>
          <p:cNvSpPr/>
          <p:nvPr/>
        </p:nvSpPr>
        <p:spPr>
          <a:xfrm>
            <a:off x="731520" y="5065776"/>
            <a:ext cx="3200400" cy="438912"/>
          </a:xfrm>
          <a:prstGeom prst="roundRect">
            <a:avLst/>
          </a:prstGeom>
          <a:solidFill>
            <a:srgbClr val="FD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232F3E"/>
                </a:solidFill>
                <a:latin typeface="Calibri"/>
              </a:defRPr>
            </a:pPr>
            <a:r>
              <a:t>LinearSVC (CW)</a:t>
            </a:r>
          </a:p>
        </p:txBody>
      </p:sp>
      <p:sp>
        <p:nvSpPr>
          <p:cNvPr id="58" name="Rounded Rectangle 57"/>
          <p:cNvSpPr/>
          <p:nvPr/>
        </p:nvSpPr>
        <p:spPr>
          <a:xfrm>
            <a:off x="3931920" y="5065776"/>
            <a:ext cx="1463040" cy="438912"/>
          </a:xfrm>
          <a:prstGeom prst="roundRect">
            <a:avLst/>
          </a:prstGeom>
          <a:solidFill>
            <a:srgbClr val="FD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0.053</a:t>
            </a:r>
          </a:p>
        </p:txBody>
      </p:sp>
      <p:sp>
        <p:nvSpPr>
          <p:cNvPr id="59" name="Rounded Rectangle 58"/>
          <p:cNvSpPr/>
          <p:nvPr/>
        </p:nvSpPr>
        <p:spPr>
          <a:xfrm>
            <a:off x="5394960" y="5065776"/>
            <a:ext cx="1463040" cy="438912"/>
          </a:xfrm>
          <a:prstGeom prst="roundRect">
            <a:avLst/>
          </a:prstGeom>
          <a:solidFill>
            <a:srgbClr val="FD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0.780</a:t>
            </a:r>
          </a:p>
        </p:txBody>
      </p:sp>
      <p:sp>
        <p:nvSpPr>
          <p:cNvPr id="60" name="Rounded Rectangle 59"/>
          <p:cNvSpPr/>
          <p:nvPr/>
        </p:nvSpPr>
        <p:spPr>
          <a:xfrm>
            <a:off x="6858000" y="5065776"/>
            <a:ext cx="1463040" cy="438912"/>
          </a:xfrm>
          <a:prstGeom prst="roundRect">
            <a:avLst/>
          </a:prstGeom>
          <a:solidFill>
            <a:srgbClr val="FD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0.100</a:t>
            </a:r>
          </a:p>
        </p:txBody>
      </p:sp>
      <p:sp>
        <p:nvSpPr>
          <p:cNvPr id="61" name="Rounded Rectangle 60"/>
          <p:cNvSpPr/>
          <p:nvPr/>
        </p:nvSpPr>
        <p:spPr>
          <a:xfrm>
            <a:off x="8321040" y="5065776"/>
            <a:ext cx="1463040" cy="438912"/>
          </a:xfrm>
          <a:prstGeom prst="roundRect">
            <a:avLst/>
          </a:prstGeom>
          <a:solidFill>
            <a:srgbClr val="FD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0.907</a:t>
            </a:r>
          </a:p>
        </p:txBody>
      </p:sp>
      <p:sp>
        <p:nvSpPr>
          <p:cNvPr id="62" name="Rounded Rectangle 61"/>
          <p:cNvSpPr/>
          <p:nvPr/>
        </p:nvSpPr>
        <p:spPr>
          <a:xfrm>
            <a:off x="9784080" y="5065776"/>
            <a:ext cx="1463040" cy="438912"/>
          </a:xfrm>
          <a:prstGeom prst="roundRect">
            <a:avLst/>
          </a:prstGeom>
          <a:solidFill>
            <a:srgbClr val="FD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F3E"/>
                </a:solidFill>
                <a:latin typeface="Calibri"/>
              </a:defRPr>
            </a:pPr>
            <a:r>
              <a:t>0.122</a:t>
            </a:r>
          </a:p>
        </p:txBody>
      </p:sp>
      <p:sp>
        <p:nvSpPr>
          <p:cNvPr id="63" name="TextBox 62"/>
          <p:cNvSpPr txBox="1"/>
          <p:nvPr/>
        </p:nvSpPr>
        <p:spPr>
          <a:xfrm>
            <a:off x="731520" y="5760720"/>
            <a:ext cx="10515600" cy="457200"/>
          </a:xfrm>
          <a:prstGeom prst="rect">
            <a:avLst/>
          </a:prstGeom>
          <a:noFill/>
        </p:spPr>
        <p:txBody>
          <a:bodyPr wrap="square">
            <a:spAutoFit/>
          </a:bodyPr>
          <a:lstStyle/>
          <a:p>
            <a:pPr algn="l">
              <a:defRPr sz="1600" b="1">
                <a:solidFill>
                  <a:srgbClr val="2ECC71"/>
                </a:solidFill>
                <a:latin typeface="Calibri"/>
              </a:defRPr>
            </a:pPr>
            <a:r>
              <a:t>XGBoost (SMOTE Tuned) achieves the best balance: 94.9% precision + 88.7% recall + 0.968 PR-AUC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82296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FFFFFF"/>
                </a:solidFill>
                <a:latin typeface="Calibri"/>
              </a:defRPr>
            </a:pPr>
            <a:r>
              <a:t>Hyperparameter Tuning — RandomizedSearchCV</a:t>
            </a:r>
          </a:p>
        </p:txBody>
      </p:sp>
      <p:sp>
        <p:nvSpPr>
          <p:cNvPr id="3" name="TextBox 2"/>
          <p:cNvSpPr txBox="1"/>
          <p:nvPr/>
        </p:nvSpPr>
        <p:spPr>
          <a:xfrm>
            <a:off x="731520" y="1097280"/>
            <a:ext cx="10515600" cy="457200"/>
          </a:xfrm>
          <a:prstGeom prst="rect">
            <a:avLst/>
          </a:prstGeom>
          <a:noFill/>
        </p:spPr>
        <p:txBody>
          <a:bodyPr wrap="square">
            <a:spAutoFit/>
          </a:bodyPr>
          <a:lstStyle/>
          <a:p>
            <a:pPr algn="l">
              <a:defRPr sz="2000" b="1">
                <a:solidFill>
                  <a:srgbClr val="232F3E"/>
                </a:solidFill>
                <a:latin typeface="Calibri"/>
              </a:defRPr>
            </a:pPr>
            <a:r>
              <a:t>Search Configuration:</a:t>
            </a:r>
          </a:p>
        </p:txBody>
      </p:sp>
      <p:sp>
        <p:nvSpPr>
          <p:cNvPr id="4" name="TextBox 3"/>
          <p:cNvSpPr txBox="1"/>
          <p:nvPr/>
        </p:nvSpPr>
        <p:spPr>
          <a:xfrm>
            <a:off x="731520" y="1554480"/>
            <a:ext cx="5029200" cy="1371600"/>
          </a:xfrm>
          <a:prstGeom prst="rect">
            <a:avLst/>
          </a:prstGeom>
          <a:noFill/>
        </p:spPr>
        <p:txBody>
          <a:bodyPr wrap="square">
            <a:spAutoFit/>
          </a:bodyPr>
          <a:lstStyle/>
          <a:p>
            <a:pPr>
              <a:spcAft>
                <a:spcPts val="800"/>
              </a:spcAft>
              <a:defRPr sz="1500">
                <a:solidFill>
                  <a:srgbClr val="232F3E"/>
                </a:solidFill>
                <a:latin typeface="Calibri"/>
              </a:defRPr>
            </a:pPr>
            <a:r>
              <a:t>• Method: RandomizedSearchCV</a:t>
            </a:r>
          </a:p>
          <a:p>
            <a:pPr>
              <a:spcAft>
                <a:spcPts val="800"/>
              </a:spcAft>
              <a:defRPr sz="1500">
                <a:solidFill>
                  <a:srgbClr val="232F3E"/>
                </a:solidFill>
                <a:latin typeface="Calibri"/>
              </a:defRPr>
            </a:pPr>
            <a:r>
              <a:t>• Cross-validation: 3-fold</a:t>
            </a:r>
          </a:p>
          <a:p>
            <a:pPr>
              <a:spcAft>
                <a:spcPts val="800"/>
              </a:spcAft>
              <a:defRPr sz="1500">
                <a:solidFill>
                  <a:srgbClr val="232F3E"/>
                </a:solidFill>
                <a:latin typeface="Calibri"/>
              </a:defRPr>
            </a:pPr>
            <a:r>
              <a:t>• Iterations: 50 candidates (150 total fits)</a:t>
            </a:r>
          </a:p>
          <a:p>
            <a:pPr>
              <a:spcAft>
                <a:spcPts val="800"/>
              </a:spcAft>
              <a:defRPr sz="1500">
                <a:solidFill>
                  <a:srgbClr val="232F3E"/>
                </a:solidFill>
                <a:latin typeface="Calibri"/>
              </a:defRPr>
            </a:pPr>
            <a:r>
              <a:t>• Scoring: PR-AUC (average_precision)</a:t>
            </a:r>
          </a:p>
          <a:p>
            <a:pPr>
              <a:spcAft>
                <a:spcPts val="800"/>
              </a:spcAft>
              <a:defRPr sz="1500">
                <a:solidFill>
                  <a:srgbClr val="232F3E"/>
                </a:solidFill>
                <a:latin typeface="Calibri"/>
              </a:defRPr>
            </a:pPr>
            <a:r>
              <a:t>• Training data: SMOTE-balanced</a:t>
            </a:r>
          </a:p>
        </p:txBody>
      </p:sp>
      <p:sp>
        <p:nvSpPr>
          <p:cNvPr id="5" name="TextBox 4"/>
          <p:cNvSpPr txBox="1"/>
          <p:nvPr/>
        </p:nvSpPr>
        <p:spPr>
          <a:xfrm>
            <a:off x="6400800" y="1097280"/>
            <a:ext cx="4572000" cy="457200"/>
          </a:xfrm>
          <a:prstGeom prst="rect">
            <a:avLst/>
          </a:prstGeom>
          <a:noFill/>
        </p:spPr>
        <p:txBody>
          <a:bodyPr wrap="square">
            <a:spAutoFit/>
          </a:bodyPr>
          <a:lstStyle/>
          <a:p>
            <a:pPr algn="l">
              <a:defRPr sz="2000" b="1">
                <a:solidFill>
                  <a:srgbClr val="232F3E"/>
                </a:solidFill>
                <a:latin typeface="Calibri"/>
              </a:defRPr>
            </a:pPr>
            <a:r>
              <a:t>Search Space:</a:t>
            </a:r>
          </a:p>
        </p:txBody>
      </p:sp>
      <p:sp>
        <p:nvSpPr>
          <p:cNvPr id="6" name="TextBox 5"/>
          <p:cNvSpPr txBox="1"/>
          <p:nvPr/>
        </p:nvSpPr>
        <p:spPr>
          <a:xfrm>
            <a:off x="6400800" y="1554480"/>
            <a:ext cx="5029200" cy="1371600"/>
          </a:xfrm>
          <a:prstGeom prst="rect">
            <a:avLst/>
          </a:prstGeom>
          <a:noFill/>
        </p:spPr>
        <p:txBody>
          <a:bodyPr wrap="square">
            <a:spAutoFit/>
          </a:bodyPr>
          <a:lstStyle/>
          <a:p>
            <a:pPr>
              <a:spcAft>
                <a:spcPts val="800"/>
              </a:spcAft>
              <a:defRPr sz="1400">
                <a:solidFill>
                  <a:srgbClr val="232F3E"/>
                </a:solidFill>
                <a:latin typeface="Calibri"/>
              </a:defRPr>
            </a:pPr>
            <a:r>
              <a:t>• n_estimators: [100, 200, 300, 400, 500]</a:t>
            </a:r>
          </a:p>
          <a:p>
            <a:pPr>
              <a:spcAft>
                <a:spcPts val="800"/>
              </a:spcAft>
              <a:defRPr sz="1400">
                <a:solidFill>
                  <a:srgbClr val="232F3E"/>
                </a:solidFill>
                <a:latin typeface="Calibri"/>
              </a:defRPr>
            </a:pPr>
            <a:r>
              <a:t>• learning_rate: [0.01, 0.05, 0.1, 0.2]</a:t>
            </a:r>
          </a:p>
          <a:p>
            <a:pPr>
              <a:spcAft>
                <a:spcPts val="800"/>
              </a:spcAft>
              <a:defRPr sz="1400">
                <a:solidFill>
                  <a:srgbClr val="232F3E"/>
                </a:solidFill>
                <a:latin typeface="Calibri"/>
              </a:defRPr>
            </a:pPr>
            <a:r>
              <a:t>• max_depth: [3, 4, 5, 6, 7]</a:t>
            </a:r>
          </a:p>
          <a:p>
            <a:pPr>
              <a:spcAft>
                <a:spcPts val="800"/>
              </a:spcAft>
              <a:defRPr sz="1400">
                <a:solidFill>
                  <a:srgbClr val="232F3E"/>
                </a:solidFill>
                <a:latin typeface="Calibri"/>
              </a:defRPr>
            </a:pPr>
            <a:r>
              <a:t>• subsample: [0.6, 0.7, 0.8, 0.9, 1.0]</a:t>
            </a:r>
          </a:p>
          <a:p>
            <a:pPr>
              <a:spcAft>
                <a:spcPts val="800"/>
              </a:spcAft>
              <a:defRPr sz="1400">
                <a:solidFill>
                  <a:srgbClr val="232F3E"/>
                </a:solidFill>
                <a:latin typeface="Calibri"/>
              </a:defRPr>
            </a:pPr>
            <a:r>
              <a:t>• colsample_bytree: [0.6, 0.7, 0.8, 0.9, 1.0]</a:t>
            </a:r>
          </a:p>
          <a:p>
            <a:pPr>
              <a:spcAft>
                <a:spcPts val="800"/>
              </a:spcAft>
              <a:defRPr sz="1400">
                <a:solidFill>
                  <a:srgbClr val="232F3E"/>
                </a:solidFill>
                <a:latin typeface="Calibri"/>
              </a:defRPr>
            </a:pPr>
            <a:r>
              <a:t>• gamma: [0, 0.1, 0.2, 0.3]</a:t>
            </a:r>
          </a:p>
          <a:p>
            <a:pPr>
              <a:spcAft>
                <a:spcPts val="800"/>
              </a:spcAft>
              <a:defRPr sz="1400">
                <a:solidFill>
                  <a:srgbClr val="232F3E"/>
                </a:solidFill>
                <a:latin typeface="Calibri"/>
              </a:defRPr>
            </a:pPr>
            <a:r>
              <a:t>• reg_alpha: [0, 0.001, 0.01, 0.1]</a:t>
            </a:r>
          </a:p>
          <a:p>
            <a:pPr>
              <a:spcAft>
                <a:spcPts val="800"/>
              </a:spcAft>
              <a:defRPr sz="1400">
                <a:solidFill>
                  <a:srgbClr val="232F3E"/>
                </a:solidFill>
                <a:latin typeface="Calibri"/>
              </a:defRPr>
            </a:pPr>
            <a:r>
              <a:t>• reg_lambda: [1, 10, 100]</a:t>
            </a:r>
          </a:p>
        </p:txBody>
      </p:sp>
      <p:sp>
        <p:nvSpPr>
          <p:cNvPr id="7" name="TextBox 6"/>
          <p:cNvSpPr txBox="1"/>
          <p:nvPr/>
        </p:nvSpPr>
        <p:spPr>
          <a:xfrm>
            <a:off x="731520" y="3657600"/>
            <a:ext cx="10515600" cy="457200"/>
          </a:xfrm>
          <a:prstGeom prst="rect">
            <a:avLst/>
          </a:prstGeom>
          <a:noFill/>
        </p:spPr>
        <p:txBody>
          <a:bodyPr wrap="square">
            <a:spAutoFit/>
          </a:bodyPr>
          <a:lstStyle/>
          <a:p>
            <a:pPr algn="l">
              <a:defRPr sz="2000" b="1">
                <a:solidFill>
                  <a:srgbClr val="2ECC71"/>
                </a:solidFill>
                <a:latin typeface="Calibri"/>
              </a:defRPr>
            </a:pPr>
            <a:r>
              <a:t>Best Parameters Found:</a:t>
            </a:r>
          </a:p>
        </p:txBody>
      </p:sp>
      <p:sp>
        <p:nvSpPr>
          <p:cNvPr id="8" name="Rounded Rectangle 7"/>
          <p:cNvSpPr/>
          <p:nvPr/>
        </p:nvSpPr>
        <p:spPr>
          <a:xfrm>
            <a:off x="731520" y="4206240"/>
            <a:ext cx="2560320" cy="548640"/>
          </a:xfrm>
          <a:prstGeom prst="roundRect">
            <a:avLst/>
          </a:prstGeom>
          <a:solidFill>
            <a:srgbClr val="E8FDE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232F3E"/>
                </a:solidFill>
                <a:latin typeface="Calibri"/>
              </a:defRPr>
            </a:pPr>
            <a:r>
              <a:t>n_estimators: 400</a:t>
            </a:r>
          </a:p>
        </p:txBody>
      </p:sp>
      <p:sp>
        <p:nvSpPr>
          <p:cNvPr id="9" name="Rounded Rectangle 8"/>
          <p:cNvSpPr/>
          <p:nvPr/>
        </p:nvSpPr>
        <p:spPr>
          <a:xfrm>
            <a:off x="3474720" y="4206240"/>
            <a:ext cx="2560320" cy="548640"/>
          </a:xfrm>
          <a:prstGeom prst="roundRect">
            <a:avLst/>
          </a:prstGeom>
          <a:solidFill>
            <a:srgbClr val="E8FDE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232F3E"/>
                </a:solidFill>
                <a:latin typeface="Calibri"/>
              </a:defRPr>
            </a:pPr>
            <a:r>
              <a:t>learning_rate: 0.2</a:t>
            </a:r>
          </a:p>
        </p:txBody>
      </p:sp>
      <p:sp>
        <p:nvSpPr>
          <p:cNvPr id="10" name="Rounded Rectangle 9"/>
          <p:cNvSpPr/>
          <p:nvPr/>
        </p:nvSpPr>
        <p:spPr>
          <a:xfrm>
            <a:off x="6217920" y="4206240"/>
            <a:ext cx="2560320" cy="548640"/>
          </a:xfrm>
          <a:prstGeom prst="roundRect">
            <a:avLst/>
          </a:prstGeom>
          <a:solidFill>
            <a:srgbClr val="E8FDE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232F3E"/>
                </a:solidFill>
                <a:latin typeface="Calibri"/>
              </a:defRPr>
            </a:pPr>
            <a:r>
              <a:t>max_depth: 7</a:t>
            </a:r>
          </a:p>
        </p:txBody>
      </p:sp>
      <p:sp>
        <p:nvSpPr>
          <p:cNvPr id="11" name="Rounded Rectangle 10"/>
          <p:cNvSpPr/>
          <p:nvPr/>
        </p:nvSpPr>
        <p:spPr>
          <a:xfrm>
            <a:off x="8961120" y="4206240"/>
            <a:ext cx="2560320" cy="548640"/>
          </a:xfrm>
          <a:prstGeom prst="roundRect">
            <a:avLst/>
          </a:prstGeom>
          <a:solidFill>
            <a:srgbClr val="E8FDE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232F3E"/>
                </a:solidFill>
                <a:latin typeface="Calibri"/>
              </a:defRPr>
            </a:pPr>
            <a:r>
              <a:t>subsample: 0.8</a:t>
            </a:r>
          </a:p>
        </p:txBody>
      </p:sp>
      <p:sp>
        <p:nvSpPr>
          <p:cNvPr id="12" name="Rounded Rectangle 11"/>
          <p:cNvSpPr/>
          <p:nvPr/>
        </p:nvSpPr>
        <p:spPr>
          <a:xfrm>
            <a:off x="731520" y="4846320"/>
            <a:ext cx="2560320" cy="548640"/>
          </a:xfrm>
          <a:prstGeom prst="roundRect">
            <a:avLst/>
          </a:prstGeom>
          <a:solidFill>
            <a:srgbClr val="E8FDE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232F3E"/>
                </a:solidFill>
                <a:latin typeface="Calibri"/>
              </a:defRPr>
            </a:pPr>
            <a:r>
              <a:t>colsample_bytree: 0.8</a:t>
            </a:r>
          </a:p>
        </p:txBody>
      </p:sp>
      <p:sp>
        <p:nvSpPr>
          <p:cNvPr id="13" name="Rounded Rectangle 12"/>
          <p:cNvSpPr/>
          <p:nvPr/>
        </p:nvSpPr>
        <p:spPr>
          <a:xfrm>
            <a:off x="3474720" y="4846320"/>
            <a:ext cx="2560320" cy="548640"/>
          </a:xfrm>
          <a:prstGeom prst="roundRect">
            <a:avLst/>
          </a:prstGeom>
          <a:solidFill>
            <a:srgbClr val="E8FDE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232F3E"/>
                </a:solidFill>
                <a:latin typeface="Calibri"/>
              </a:defRPr>
            </a:pPr>
            <a:r>
              <a:t>gamma: 0.3</a:t>
            </a:r>
          </a:p>
        </p:txBody>
      </p:sp>
      <p:sp>
        <p:nvSpPr>
          <p:cNvPr id="14" name="Rounded Rectangle 13"/>
          <p:cNvSpPr/>
          <p:nvPr/>
        </p:nvSpPr>
        <p:spPr>
          <a:xfrm>
            <a:off x="6217920" y="4846320"/>
            <a:ext cx="2560320" cy="548640"/>
          </a:xfrm>
          <a:prstGeom prst="roundRect">
            <a:avLst/>
          </a:prstGeom>
          <a:solidFill>
            <a:srgbClr val="E8FDE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232F3E"/>
                </a:solidFill>
                <a:latin typeface="Calibri"/>
              </a:defRPr>
            </a:pPr>
            <a:r>
              <a:t>reg_alpha: 0.1</a:t>
            </a:r>
          </a:p>
        </p:txBody>
      </p:sp>
      <p:sp>
        <p:nvSpPr>
          <p:cNvPr id="15" name="Rounded Rectangle 14"/>
          <p:cNvSpPr/>
          <p:nvPr/>
        </p:nvSpPr>
        <p:spPr>
          <a:xfrm>
            <a:off x="8961120" y="4846320"/>
            <a:ext cx="2560320" cy="548640"/>
          </a:xfrm>
          <a:prstGeom prst="roundRect">
            <a:avLst/>
          </a:prstGeom>
          <a:solidFill>
            <a:srgbClr val="E8FDE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232F3E"/>
                </a:solidFill>
                <a:latin typeface="Calibri"/>
              </a:defRPr>
            </a:pPr>
            <a:r>
              <a:t>reg_lambda: 10</a:t>
            </a:r>
          </a:p>
        </p:txBody>
      </p:sp>
      <p:sp>
        <p:nvSpPr>
          <p:cNvPr id="16" name="TextBox 15"/>
          <p:cNvSpPr txBox="1"/>
          <p:nvPr/>
        </p:nvSpPr>
        <p:spPr>
          <a:xfrm>
            <a:off x="731520" y="5669280"/>
            <a:ext cx="10515600" cy="457200"/>
          </a:xfrm>
          <a:prstGeom prst="rect">
            <a:avLst/>
          </a:prstGeom>
          <a:noFill/>
        </p:spPr>
        <p:txBody>
          <a:bodyPr wrap="square">
            <a:spAutoFit/>
          </a:bodyPr>
          <a:lstStyle/>
          <a:p>
            <a:pPr algn="l">
              <a:defRPr sz="1800" b="1">
                <a:solidFill>
                  <a:srgbClr val="2ECC71"/>
                </a:solidFill>
                <a:latin typeface="Calibri"/>
              </a:defRPr>
            </a:pPr>
            <a:r>
              <a:t>Best CV PR-AUC Score: 0.9999978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82296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FFFFFF"/>
                </a:solidFill>
                <a:latin typeface="Calibri"/>
              </a:defRPr>
            </a:pPr>
            <a:r>
              <a:t>Final Model — XGBoost (SMOTE Tuned) Performance</a:t>
            </a:r>
          </a:p>
        </p:txBody>
      </p:sp>
      <p:sp>
        <p:nvSpPr>
          <p:cNvPr id="3" name="Rounded Rectangle 2"/>
          <p:cNvSpPr/>
          <p:nvPr/>
        </p:nvSpPr>
        <p:spPr>
          <a:xfrm>
            <a:off x="457200" y="1371600"/>
            <a:ext cx="2103120" cy="164592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2103120" cy="365760"/>
          </a:xfrm>
          <a:prstGeom prst="rect">
            <a:avLst/>
          </a:prstGeom>
          <a:noFill/>
        </p:spPr>
        <p:txBody>
          <a:bodyPr wrap="square">
            <a:spAutoFit/>
          </a:bodyPr>
          <a:lstStyle/>
          <a:p>
            <a:pPr algn="ctr">
              <a:defRPr sz="1600" b="1">
                <a:solidFill>
                  <a:srgbClr val="232F3E"/>
                </a:solidFill>
                <a:latin typeface="Calibri"/>
              </a:defRPr>
            </a:pPr>
            <a:r>
              <a:t>Precision</a:t>
            </a:r>
          </a:p>
        </p:txBody>
      </p:sp>
      <p:sp>
        <p:nvSpPr>
          <p:cNvPr id="5" name="TextBox 4"/>
          <p:cNvSpPr txBox="1"/>
          <p:nvPr/>
        </p:nvSpPr>
        <p:spPr>
          <a:xfrm>
            <a:off x="457200" y="1920240"/>
            <a:ext cx="2103120" cy="548640"/>
          </a:xfrm>
          <a:prstGeom prst="rect">
            <a:avLst/>
          </a:prstGeom>
          <a:noFill/>
        </p:spPr>
        <p:txBody>
          <a:bodyPr wrap="square">
            <a:spAutoFit/>
          </a:bodyPr>
          <a:lstStyle/>
          <a:p>
            <a:pPr algn="ctr">
              <a:defRPr sz="3200" b="1">
                <a:solidFill>
                  <a:srgbClr val="00A3E0"/>
                </a:solidFill>
                <a:latin typeface="Calibri"/>
              </a:defRPr>
            </a:pPr>
            <a:r>
              <a:t>94.9%</a:t>
            </a:r>
          </a:p>
        </p:txBody>
      </p:sp>
      <p:sp>
        <p:nvSpPr>
          <p:cNvPr id="6" name="Rounded Rectangle 5"/>
          <p:cNvSpPr/>
          <p:nvPr/>
        </p:nvSpPr>
        <p:spPr>
          <a:xfrm>
            <a:off x="2743200" y="1371600"/>
            <a:ext cx="2103120" cy="164592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1463040"/>
            <a:ext cx="2103120" cy="365760"/>
          </a:xfrm>
          <a:prstGeom prst="rect">
            <a:avLst/>
          </a:prstGeom>
          <a:noFill/>
        </p:spPr>
        <p:txBody>
          <a:bodyPr wrap="square">
            <a:spAutoFit/>
          </a:bodyPr>
          <a:lstStyle/>
          <a:p>
            <a:pPr algn="ctr">
              <a:defRPr sz="1600" b="1">
                <a:solidFill>
                  <a:srgbClr val="232F3E"/>
                </a:solidFill>
                <a:latin typeface="Calibri"/>
              </a:defRPr>
            </a:pPr>
            <a:r>
              <a:t>Recall</a:t>
            </a:r>
          </a:p>
        </p:txBody>
      </p:sp>
      <p:sp>
        <p:nvSpPr>
          <p:cNvPr id="8" name="TextBox 7"/>
          <p:cNvSpPr txBox="1"/>
          <p:nvPr/>
        </p:nvSpPr>
        <p:spPr>
          <a:xfrm>
            <a:off x="2743200" y="1920240"/>
            <a:ext cx="2103120" cy="548640"/>
          </a:xfrm>
          <a:prstGeom prst="rect">
            <a:avLst/>
          </a:prstGeom>
          <a:noFill/>
        </p:spPr>
        <p:txBody>
          <a:bodyPr wrap="square">
            <a:spAutoFit/>
          </a:bodyPr>
          <a:lstStyle/>
          <a:p>
            <a:pPr algn="ctr">
              <a:defRPr sz="3200" b="1">
                <a:solidFill>
                  <a:srgbClr val="2ECC71"/>
                </a:solidFill>
                <a:latin typeface="Calibri"/>
              </a:defRPr>
            </a:pPr>
            <a:r>
              <a:t>88.7%</a:t>
            </a:r>
          </a:p>
        </p:txBody>
      </p:sp>
      <p:sp>
        <p:nvSpPr>
          <p:cNvPr id="9" name="Rounded Rectangle 8"/>
          <p:cNvSpPr/>
          <p:nvPr/>
        </p:nvSpPr>
        <p:spPr>
          <a:xfrm>
            <a:off x="5029200" y="1371600"/>
            <a:ext cx="2103120" cy="164592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0" y="1463040"/>
            <a:ext cx="2103120" cy="365760"/>
          </a:xfrm>
          <a:prstGeom prst="rect">
            <a:avLst/>
          </a:prstGeom>
          <a:noFill/>
        </p:spPr>
        <p:txBody>
          <a:bodyPr wrap="square">
            <a:spAutoFit/>
          </a:bodyPr>
          <a:lstStyle/>
          <a:p>
            <a:pPr algn="ctr">
              <a:defRPr sz="1600" b="1">
                <a:solidFill>
                  <a:srgbClr val="232F3E"/>
                </a:solidFill>
                <a:latin typeface="Calibri"/>
              </a:defRPr>
            </a:pPr>
            <a:r>
              <a:t>F1-Score</a:t>
            </a:r>
          </a:p>
        </p:txBody>
      </p:sp>
      <p:sp>
        <p:nvSpPr>
          <p:cNvPr id="11" name="TextBox 10"/>
          <p:cNvSpPr txBox="1"/>
          <p:nvPr/>
        </p:nvSpPr>
        <p:spPr>
          <a:xfrm>
            <a:off x="5029200" y="1920240"/>
            <a:ext cx="2103120" cy="548640"/>
          </a:xfrm>
          <a:prstGeom prst="rect">
            <a:avLst/>
          </a:prstGeom>
          <a:noFill/>
        </p:spPr>
        <p:txBody>
          <a:bodyPr wrap="square">
            <a:spAutoFit/>
          </a:bodyPr>
          <a:lstStyle/>
          <a:p>
            <a:pPr algn="ctr">
              <a:defRPr sz="3200" b="1">
                <a:solidFill>
                  <a:srgbClr val="FF9900"/>
                </a:solidFill>
                <a:latin typeface="Calibri"/>
              </a:defRPr>
            </a:pPr>
            <a:r>
              <a:t>92.0%</a:t>
            </a:r>
          </a:p>
        </p:txBody>
      </p:sp>
      <p:sp>
        <p:nvSpPr>
          <p:cNvPr id="12" name="Rounded Rectangle 11"/>
          <p:cNvSpPr/>
          <p:nvPr/>
        </p:nvSpPr>
        <p:spPr>
          <a:xfrm>
            <a:off x="7315200" y="1371600"/>
            <a:ext cx="2103120" cy="164592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463040"/>
            <a:ext cx="2103120" cy="365760"/>
          </a:xfrm>
          <a:prstGeom prst="rect">
            <a:avLst/>
          </a:prstGeom>
          <a:noFill/>
        </p:spPr>
        <p:txBody>
          <a:bodyPr wrap="square">
            <a:spAutoFit/>
          </a:bodyPr>
          <a:lstStyle/>
          <a:p>
            <a:pPr algn="ctr">
              <a:defRPr sz="1600" b="1">
                <a:solidFill>
                  <a:srgbClr val="232F3E"/>
                </a:solidFill>
                <a:latin typeface="Calibri"/>
              </a:defRPr>
            </a:pPr>
            <a:r>
              <a:t>ROC-AUC</a:t>
            </a:r>
          </a:p>
        </p:txBody>
      </p:sp>
      <p:sp>
        <p:nvSpPr>
          <p:cNvPr id="14" name="TextBox 13"/>
          <p:cNvSpPr txBox="1"/>
          <p:nvPr/>
        </p:nvSpPr>
        <p:spPr>
          <a:xfrm>
            <a:off x="7315200" y="1920240"/>
            <a:ext cx="2103120" cy="548640"/>
          </a:xfrm>
          <a:prstGeom prst="rect">
            <a:avLst/>
          </a:prstGeom>
          <a:noFill/>
        </p:spPr>
        <p:txBody>
          <a:bodyPr wrap="square">
            <a:spAutoFit/>
          </a:bodyPr>
          <a:lstStyle/>
          <a:p>
            <a:pPr algn="ctr">
              <a:defRPr sz="3200" b="1">
                <a:solidFill>
                  <a:srgbClr val="8E44AD"/>
                </a:solidFill>
                <a:latin typeface="Calibri"/>
              </a:defRPr>
            </a:pPr>
            <a:r>
              <a:t>99.8%</a:t>
            </a:r>
          </a:p>
        </p:txBody>
      </p:sp>
      <p:sp>
        <p:nvSpPr>
          <p:cNvPr id="15" name="Rounded Rectangle 14"/>
          <p:cNvSpPr/>
          <p:nvPr/>
        </p:nvSpPr>
        <p:spPr>
          <a:xfrm>
            <a:off x="9601200" y="1371600"/>
            <a:ext cx="2103120" cy="164592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0" y="1463040"/>
            <a:ext cx="2103120" cy="365760"/>
          </a:xfrm>
          <a:prstGeom prst="rect">
            <a:avLst/>
          </a:prstGeom>
          <a:noFill/>
        </p:spPr>
        <p:txBody>
          <a:bodyPr wrap="square">
            <a:spAutoFit/>
          </a:bodyPr>
          <a:lstStyle/>
          <a:p>
            <a:pPr algn="ctr">
              <a:defRPr sz="1600" b="1">
                <a:solidFill>
                  <a:srgbClr val="232F3E"/>
                </a:solidFill>
                <a:latin typeface="Calibri"/>
              </a:defRPr>
            </a:pPr>
            <a:r>
              <a:t>PR-AUC</a:t>
            </a:r>
          </a:p>
        </p:txBody>
      </p:sp>
      <p:sp>
        <p:nvSpPr>
          <p:cNvPr id="17" name="TextBox 16"/>
          <p:cNvSpPr txBox="1"/>
          <p:nvPr/>
        </p:nvSpPr>
        <p:spPr>
          <a:xfrm>
            <a:off x="9601200" y="1920240"/>
            <a:ext cx="2103120" cy="548640"/>
          </a:xfrm>
          <a:prstGeom prst="rect">
            <a:avLst/>
          </a:prstGeom>
          <a:noFill/>
        </p:spPr>
        <p:txBody>
          <a:bodyPr wrap="square">
            <a:spAutoFit/>
          </a:bodyPr>
          <a:lstStyle/>
          <a:p>
            <a:pPr algn="ctr">
              <a:defRPr sz="3200" b="1">
                <a:solidFill>
                  <a:srgbClr val="E74C3C"/>
                </a:solidFill>
                <a:latin typeface="Calibri"/>
              </a:defRPr>
            </a:pPr>
            <a:r>
              <a:t>96.8%</a:t>
            </a:r>
          </a:p>
        </p:txBody>
      </p:sp>
      <p:sp>
        <p:nvSpPr>
          <p:cNvPr id="18" name="TextBox 17"/>
          <p:cNvSpPr txBox="1"/>
          <p:nvPr/>
        </p:nvSpPr>
        <p:spPr>
          <a:xfrm>
            <a:off x="731520" y="3474720"/>
            <a:ext cx="4572000" cy="457200"/>
          </a:xfrm>
          <a:prstGeom prst="rect">
            <a:avLst/>
          </a:prstGeom>
          <a:noFill/>
        </p:spPr>
        <p:txBody>
          <a:bodyPr wrap="square">
            <a:spAutoFit/>
          </a:bodyPr>
          <a:lstStyle/>
          <a:p>
            <a:pPr algn="l">
              <a:defRPr sz="2000" b="1">
                <a:solidFill>
                  <a:srgbClr val="232F3E"/>
                </a:solidFill>
                <a:latin typeface="Calibri"/>
              </a:defRPr>
            </a:pPr>
            <a:r>
              <a:t>Confusion Matrix (Test Set):</a:t>
            </a:r>
          </a:p>
        </p:txBody>
      </p:sp>
      <p:sp>
        <p:nvSpPr>
          <p:cNvPr id="19" name="Rounded Rectangle 18"/>
          <p:cNvSpPr/>
          <p:nvPr/>
        </p:nvSpPr>
        <p:spPr>
          <a:xfrm>
            <a:off x="731520" y="4023360"/>
            <a:ext cx="182880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560320" y="4023360"/>
            <a:ext cx="1828800" cy="45720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Pred Legit</a:t>
            </a:r>
          </a:p>
        </p:txBody>
      </p:sp>
      <p:sp>
        <p:nvSpPr>
          <p:cNvPr id="21" name="Rounded Rectangle 20"/>
          <p:cNvSpPr/>
          <p:nvPr/>
        </p:nvSpPr>
        <p:spPr>
          <a:xfrm>
            <a:off x="4389120" y="4023360"/>
            <a:ext cx="1828800" cy="45720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Pred Fraud</a:t>
            </a:r>
          </a:p>
        </p:txBody>
      </p:sp>
      <p:sp>
        <p:nvSpPr>
          <p:cNvPr id="22" name="Rounded Rectangle 21"/>
          <p:cNvSpPr/>
          <p:nvPr/>
        </p:nvSpPr>
        <p:spPr>
          <a:xfrm>
            <a:off x="731520" y="4480560"/>
            <a:ext cx="1828800" cy="45720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Actual Legit</a:t>
            </a:r>
          </a:p>
        </p:txBody>
      </p:sp>
      <p:sp>
        <p:nvSpPr>
          <p:cNvPr id="23" name="Rounded Rectangle 22"/>
          <p:cNvSpPr/>
          <p:nvPr/>
        </p:nvSpPr>
        <p:spPr>
          <a:xfrm>
            <a:off x="2560320" y="4480560"/>
            <a:ext cx="1828800" cy="457200"/>
          </a:xfrm>
          <a:prstGeom prst="roundRect">
            <a:avLst/>
          </a:prstGeom>
          <a:solidFill>
            <a:srgbClr val="E8FDE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2F3E"/>
                </a:solidFill>
                <a:latin typeface="Calibri"/>
              </a:defRPr>
            </a:pPr>
            <a:r>
              <a:t>257,762 (TN)</a:t>
            </a:r>
          </a:p>
        </p:txBody>
      </p:sp>
      <p:sp>
        <p:nvSpPr>
          <p:cNvPr id="24" name="Rounded Rectangle 23"/>
          <p:cNvSpPr/>
          <p:nvPr/>
        </p:nvSpPr>
        <p:spPr>
          <a:xfrm>
            <a:off x="4389120" y="4480560"/>
            <a:ext cx="1828800" cy="457200"/>
          </a:xfrm>
          <a:prstGeom prst="roundRect">
            <a:avLst/>
          </a:prstGeom>
          <a:solidFill>
            <a:srgbClr val="FDF2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232F3E"/>
                </a:solidFill>
                <a:latin typeface="Calibri"/>
              </a:defRPr>
            </a:pPr>
            <a:r>
              <a:t>72 (FP)</a:t>
            </a:r>
          </a:p>
        </p:txBody>
      </p:sp>
      <p:sp>
        <p:nvSpPr>
          <p:cNvPr id="25" name="Rounded Rectangle 24"/>
          <p:cNvSpPr/>
          <p:nvPr/>
        </p:nvSpPr>
        <p:spPr>
          <a:xfrm>
            <a:off x="731520" y="4937760"/>
            <a:ext cx="1828800" cy="45720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Actual Fraud</a:t>
            </a:r>
          </a:p>
        </p:txBody>
      </p:sp>
      <p:sp>
        <p:nvSpPr>
          <p:cNvPr id="26" name="Rounded Rectangle 25"/>
          <p:cNvSpPr/>
          <p:nvPr/>
        </p:nvSpPr>
        <p:spPr>
          <a:xfrm>
            <a:off x="2560320" y="4937760"/>
            <a:ext cx="1828800" cy="457200"/>
          </a:xfrm>
          <a:prstGeom prst="roundRect">
            <a:avLst/>
          </a:prstGeom>
          <a:solidFill>
            <a:srgbClr val="FD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232F3E"/>
                </a:solidFill>
                <a:latin typeface="Calibri"/>
              </a:defRPr>
            </a:pPr>
            <a:r>
              <a:t>170 (FN)</a:t>
            </a:r>
          </a:p>
        </p:txBody>
      </p:sp>
      <p:sp>
        <p:nvSpPr>
          <p:cNvPr id="27" name="Rounded Rectangle 26"/>
          <p:cNvSpPr/>
          <p:nvPr/>
        </p:nvSpPr>
        <p:spPr>
          <a:xfrm>
            <a:off x="4389120" y="4937760"/>
            <a:ext cx="1828800" cy="457200"/>
          </a:xfrm>
          <a:prstGeom prst="roundRect">
            <a:avLst/>
          </a:prstGeom>
          <a:solidFill>
            <a:srgbClr val="E8FDE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2F3E"/>
                </a:solidFill>
                <a:latin typeface="Calibri"/>
              </a:defRPr>
            </a:pPr>
            <a:r>
              <a:t>1,331 (TP)</a:t>
            </a:r>
          </a:p>
        </p:txBody>
      </p:sp>
      <p:sp>
        <p:nvSpPr>
          <p:cNvPr id="28" name="TextBox 27"/>
          <p:cNvSpPr txBox="1"/>
          <p:nvPr/>
        </p:nvSpPr>
        <p:spPr>
          <a:xfrm>
            <a:off x="6858000" y="3474720"/>
            <a:ext cx="4572000" cy="457200"/>
          </a:xfrm>
          <a:prstGeom prst="rect">
            <a:avLst/>
          </a:prstGeom>
          <a:noFill/>
        </p:spPr>
        <p:txBody>
          <a:bodyPr wrap="square">
            <a:spAutoFit/>
          </a:bodyPr>
          <a:lstStyle/>
          <a:p>
            <a:pPr algn="l">
              <a:defRPr sz="2000" b="1">
                <a:solidFill>
                  <a:srgbClr val="232F3E"/>
                </a:solidFill>
                <a:latin typeface="Calibri"/>
              </a:defRPr>
            </a:pPr>
            <a:r>
              <a:t>Key Takeaways:</a:t>
            </a:r>
          </a:p>
        </p:txBody>
      </p:sp>
      <p:sp>
        <p:nvSpPr>
          <p:cNvPr id="29" name="TextBox 28"/>
          <p:cNvSpPr txBox="1"/>
          <p:nvPr/>
        </p:nvSpPr>
        <p:spPr>
          <a:xfrm>
            <a:off x="6858000" y="3931920"/>
            <a:ext cx="4754880" cy="1828800"/>
          </a:xfrm>
          <a:prstGeom prst="rect">
            <a:avLst/>
          </a:prstGeom>
          <a:noFill/>
        </p:spPr>
        <p:txBody>
          <a:bodyPr wrap="square">
            <a:spAutoFit/>
          </a:bodyPr>
          <a:lstStyle/>
          <a:p>
            <a:pPr>
              <a:spcAft>
                <a:spcPts val="800"/>
              </a:spcAft>
              <a:defRPr sz="1500">
                <a:solidFill>
                  <a:srgbClr val="232F3E"/>
                </a:solidFill>
                <a:latin typeface="Calibri"/>
              </a:defRPr>
            </a:pPr>
            <a:r>
              <a:t>• 88.7% of fraud detected (1,331 of 1,501)</a:t>
            </a:r>
          </a:p>
          <a:p>
            <a:pPr>
              <a:spcAft>
                <a:spcPts val="800"/>
              </a:spcAft>
              <a:defRPr sz="1500">
                <a:solidFill>
                  <a:srgbClr val="232F3E"/>
                </a:solidFill>
                <a:latin typeface="Calibri"/>
              </a:defRPr>
            </a:pPr>
            <a:r>
              <a:t>• Only 72 false alarms out of 257,834 legit</a:t>
            </a:r>
          </a:p>
          <a:p>
            <a:pPr>
              <a:spcAft>
                <a:spcPts val="800"/>
              </a:spcAft>
              <a:defRPr sz="1500">
                <a:solidFill>
                  <a:srgbClr val="232F3E"/>
                </a:solidFill>
                <a:latin typeface="Calibri"/>
              </a:defRPr>
            </a:pPr>
            <a:r>
              <a:t>• 170 fraudulent transactions missed</a:t>
            </a:r>
          </a:p>
          <a:p>
            <a:pPr>
              <a:spcAft>
                <a:spcPts val="800"/>
              </a:spcAft>
              <a:defRPr sz="1500">
                <a:solidFill>
                  <a:srgbClr val="232F3E"/>
                </a:solidFill>
                <a:latin typeface="Calibri"/>
              </a:defRPr>
            </a:pPr>
            <a:r>
              <a:t>• 99.9% overall accuracy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82296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FFFFFF"/>
                </a:solidFill>
                <a:latin typeface="Calibri"/>
              </a:defRPr>
            </a:pPr>
            <a:r>
              <a:t>Impact of Hyperparameter Tuning</a:t>
            </a:r>
          </a:p>
        </p:txBody>
      </p:sp>
      <p:sp>
        <p:nvSpPr>
          <p:cNvPr id="3" name="Rounded Rectangle 2"/>
          <p:cNvSpPr/>
          <p:nvPr/>
        </p:nvSpPr>
        <p:spPr>
          <a:xfrm>
            <a:off x="731520" y="1371600"/>
            <a:ext cx="5029200" cy="3200400"/>
          </a:xfrm>
          <a:prstGeom prst="roundRect">
            <a:avLst/>
          </a:prstGeom>
          <a:solidFill>
            <a:srgbClr val="FDF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463040"/>
            <a:ext cx="4754880" cy="365760"/>
          </a:xfrm>
          <a:prstGeom prst="rect">
            <a:avLst/>
          </a:prstGeom>
          <a:noFill/>
        </p:spPr>
        <p:txBody>
          <a:bodyPr wrap="square">
            <a:spAutoFit/>
          </a:bodyPr>
          <a:lstStyle/>
          <a:p>
            <a:pPr algn="l">
              <a:defRPr sz="1800" b="1">
                <a:solidFill>
                  <a:srgbClr val="FF9900"/>
                </a:solidFill>
                <a:latin typeface="Calibri"/>
              </a:defRPr>
            </a:pPr>
            <a:r>
              <a:t>Before Tuning (XGBoost + SMOTE)</a:t>
            </a:r>
          </a:p>
        </p:txBody>
      </p:sp>
      <p:sp>
        <p:nvSpPr>
          <p:cNvPr id="5" name="TextBox 4"/>
          <p:cNvSpPr txBox="1"/>
          <p:nvPr/>
        </p:nvSpPr>
        <p:spPr>
          <a:xfrm>
            <a:off x="914400" y="2011680"/>
            <a:ext cx="4754880" cy="2286000"/>
          </a:xfrm>
          <a:prstGeom prst="rect">
            <a:avLst/>
          </a:prstGeom>
          <a:noFill/>
        </p:spPr>
        <p:txBody>
          <a:bodyPr wrap="square">
            <a:spAutoFit/>
          </a:bodyPr>
          <a:lstStyle/>
          <a:p>
            <a:pPr>
              <a:spcAft>
                <a:spcPts val="800"/>
              </a:spcAft>
              <a:defRPr sz="1600">
                <a:solidFill>
                  <a:srgbClr val="232F3E"/>
                </a:solidFill>
                <a:latin typeface="Calibri"/>
              </a:defRPr>
            </a:pPr>
            <a:r>
              <a:t>• Precision: 0.818</a:t>
            </a:r>
          </a:p>
          <a:p>
            <a:pPr>
              <a:spcAft>
                <a:spcPts val="800"/>
              </a:spcAft>
              <a:defRPr sz="1600">
                <a:solidFill>
                  <a:srgbClr val="232F3E"/>
                </a:solidFill>
                <a:latin typeface="Calibri"/>
              </a:defRPr>
            </a:pPr>
            <a:r>
              <a:t>• Recall: 0.891</a:t>
            </a:r>
          </a:p>
          <a:p>
            <a:pPr>
              <a:spcAft>
                <a:spcPts val="800"/>
              </a:spcAft>
              <a:defRPr sz="1600">
                <a:solidFill>
                  <a:srgbClr val="232F3E"/>
                </a:solidFill>
                <a:latin typeface="Calibri"/>
              </a:defRPr>
            </a:pPr>
            <a:r>
              <a:t>• F1-Score: 0.853</a:t>
            </a:r>
          </a:p>
          <a:p>
            <a:pPr>
              <a:spcAft>
                <a:spcPts val="800"/>
              </a:spcAft>
              <a:defRPr sz="1600">
                <a:solidFill>
                  <a:srgbClr val="232F3E"/>
                </a:solidFill>
                <a:latin typeface="Calibri"/>
              </a:defRPr>
            </a:pPr>
            <a:r>
              <a:t>• PR-AUC: 0.928</a:t>
            </a:r>
          </a:p>
          <a:p>
            <a:pPr>
              <a:spcAft>
                <a:spcPts val="800"/>
              </a:spcAft>
              <a:defRPr sz="1600">
                <a:solidFill>
                  <a:srgbClr val="232F3E"/>
                </a:solidFill>
                <a:latin typeface="Calibri"/>
              </a:defRPr>
            </a:pPr>
            <a:r>
              <a:t>• Default XGBoost parameters</a:t>
            </a:r>
          </a:p>
          <a:p>
            <a:pPr>
              <a:spcAft>
                <a:spcPts val="800"/>
              </a:spcAft>
              <a:defRPr sz="1600">
                <a:solidFill>
                  <a:srgbClr val="232F3E"/>
                </a:solidFill>
                <a:latin typeface="Calibri"/>
              </a:defRPr>
            </a:pPr>
            <a:r>
              <a:t>• Good recall but lower precision</a:t>
            </a:r>
          </a:p>
        </p:txBody>
      </p:sp>
      <p:sp>
        <p:nvSpPr>
          <p:cNvPr id="6" name="Rounded Rectangle 5"/>
          <p:cNvSpPr/>
          <p:nvPr/>
        </p:nvSpPr>
        <p:spPr>
          <a:xfrm>
            <a:off x="6400800" y="1371600"/>
            <a:ext cx="5029200" cy="3200400"/>
          </a:xfrm>
          <a:prstGeom prst="roundRect">
            <a:avLst/>
          </a:prstGeom>
          <a:solidFill>
            <a:srgbClr val="E8F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463040"/>
            <a:ext cx="4754880" cy="365760"/>
          </a:xfrm>
          <a:prstGeom prst="rect">
            <a:avLst/>
          </a:prstGeom>
          <a:noFill/>
        </p:spPr>
        <p:txBody>
          <a:bodyPr wrap="square">
            <a:spAutoFit/>
          </a:bodyPr>
          <a:lstStyle/>
          <a:p>
            <a:pPr algn="l">
              <a:defRPr sz="1800" b="1">
                <a:solidFill>
                  <a:srgbClr val="2ECC71"/>
                </a:solidFill>
                <a:latin typeface="Calibri"/>
              </a:defRPr>
            </a:pPr>
            <a:r>
              <a:t>After Tuning (XGBoost + SMOTE Tuned)</a:t>
            </a:r>
          </a:p>
        </p:txBody>
      </p:sp>
      <p:sp>
        <p:nvSpPr>
          <p:cNvPr id="8" name="TextBox 7"/>
          <p:cNvSpPr txBox="1"/>
          <p:nvPr/>
        </p:nvSpPr>
        <p:spPr>
          <a:xfrm>
            <a:off x="6583680" y="2011680"/>
            <a:ext cx="4754880" cy="2286000"/>
          </a:xfrm>
          <a:prstGeom prst="rect">
            <a:avLst/>
          </a:prstGeom>
          <a:noFill/>
        </p:spPr>
        <p:txBody>
          <a:bodyPr wrap="square">
            <a:spAutoFit/>
          </a:bodyPr>
          <a:lstStyle/>
          <a:p>
            <a:pPr>
              <a:spcAft>
                <a:spcPts val="800"/>
              </a:spcAft>
              <a:defRPr sz="1600">
                <a:solidFill>
                  <a:srgbClr val="232F3E"/>
                </a:solidFill>
                <a:latin typeface="Calibri"/>
              </a:defRPr>
            </a:pPr>
            <a:r>
              <a:t>• Precision: 0.949 (+16%)</a:t>
            </a:r>
          </a:p>
          <a:p>
            <a:pPr>
              <a:spcAft>
                <a:spcPts val="800"/>
              </a:spcAft>
              <a:defRPr sz="1600">
                <a:solidFill>
                  <a:srgbClr val="232F3E"/>
                </a:solidFill>
                <a:latin typeface="Calibri"/>
              </a:defRPr>
            </a:pPr>
            <a:r>
              <a:t>• Recall: 0.887 (-0.4%)</a:t>
            </a:r>
          </a:p>
          <a:p>
            <a:pPr>
              <a:spcAft>
                <a:spcPts val="800"/>
              </a:spcAft>
              <a:defRPr sz="1600">
                <a:solidFill>
                  <a:srgbClr val="232F3E"/>
                </a:solidFill>
                <a:latin typeface="Calibri"/>
              </a:defRPr>
            </a:pPr>
            <a:r>
              <a:t>• F1-Score: 0.920 (+7.8%)</a:t>
            </a:r>
          </a:p>
          <a:p>
            <a:pPr>
              <a:spcAft>
                <a:spcPts val="800"/>
              </a:spcAft>
              <a:defRPr sz="1600">
                <a:solidFill>
                  <a:srgbClr val="232F3E"/>
                </a:solidFill>
                <a:latin typeface="Calibri"/>
              </a:defRPr>
            </a:pPr>
            <a:r>
              <a:t>• PR-AUC: 0.968 (+4.3%)</a:t>
            </a:r>
          </a:p>
          <a:p>
            <a:pPr>
              <a:spcAft>
                <a:spcPts val="800"/>
              </a:spcAft>
              <a:defRPr sz="1600">
                <a:solidFill>
                  <a:srgbClr val="232F3E"/>
                </a:solidFill>
                <a:latin typeface="Calibri"/>
              </a:defRPr>
            </a:pPr>
            <a:r>
              <a:t>• Optimized via RandomizedSearchCV</a:t>
            </a:r>
          </a:p>
          <a:p>
            <a:pPr>
              <a:spcAft>
                <a:spcPts val="800"/>
              </a:spcAft>
              <a:defRPr sz="1600">
                <a:solidFill>
                  <a:srgbClr val="232F3E"/>
                </a:solidFill>
                <a:latin typeface="Calibri"/>
              </a:defRPr>
            </a:pPr>
            <a:r>
              <a:t>• Significant precision gain, minimal recall loss</a:t>
            </a:r>
          </a:p>
        </p:txBody>
      </p:sp>
      <p:sp>
        <p:nvSpPr>
          <p:cNvPr id="9" name="Rounded Rectangle 8"/>
          <p:cNvSpPr/>
          <p:nvPr/>
        </p:nvSpPr>
        <p:spPr>
          <a:xfrm>
            <a:off x="731520" y="5029200"/>
            <a:ext cx="10515600" cy="91440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232F3E"/>
                </a:solidFill>
                <a:latin typeface="Calibri"/>
              </a:defRPr>
            </a:pPr>
            <a:r>
              <a:t>Tuning improved precision by 16 percentage points while sacrificing only 0.4% recall — a major reduction in false alarms with nearly identical fraud detection rate.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82296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FFFFFF"/>
                </a:solidFill>
                <a:latin typeface="Calibri"/>
              </a:defRPr>
            </a:pPr>
            <a:r>
              <a:t>Model Explainability — SHAP Analysis</a:t>
            </a:r>
          </a:p>
        </p:txBody>
      </p:sp>
      <p:sp>
        <p:nvSpPr>
          <p:cNvPr id="3" name="TextBox 2"/>
          <p:cNvSpPr txBox="1"/>
          <p:nvPr/>
        </p:nvSpPr>
        <p:spPr>
          <a:xfrm>
            <a:off x="731520" y="1188720"/>
            <a:ext cx="10515600" cy="731520"/>
          </a:xfrm>
          <a:prstGeom prst="rect">
            <a:avLst/>
          </a:prstGeom>
          <a:noFill/>
        </p:spPr>
        <p:txBody>
          <a:bodyPr wrap="square">
            <a:spAutoFit/>
          </a:bodyPr>
          <a:lstStyle/>
          <a:p>
            <a:pPr algn="l">
              <a:defRPr sz="1800" b="0">
                <a:solidFill>
                  <a:srgbClr val="232F3E"/>
                </a:solidFill>
                <a:latin typeface="Calibri"/>
              </a:defRPr>
            </a:pPr>
            <a:r>
              <a:t>SHAP (SHapley Additive exPlanations) provides both global feature importance and local prediction explanations using game-theoretic Shapley values via TreeExplainer.</a:t>
            </a:r>
          </a:p>
        </p:txBody>
      </p:sp>
      <p:sp>
        <p:nvSpPr>
          <p:cNvPr id="4" name="Rounded Rectangle 3"/>
          <p:cNvSpPr/>
          <p:nvPr/>
        </p:nvSpPr>
        <p:spPr>
          <a:xfrm>
            <a:off x="731520" y="2286000"/>
            <a:ext cx="5029200" cy="320040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377440"/>
            <a:ext cx="4754880" cy="365760"/>
          </a:xfrm>
          <a:prstGeom prst="rect">
            <a:avLst/>
          </a:prstGeom>
          <a:noFill/>
        </p:spPr>
        <p:txBody>
          <a:bodyPr wrap="square">
            <a:spAutoFit/>
          </a:bodyPr>
          <a:lstStyle/>
          <a:p>
            <a:pPr algn="l">
              <a:defRPr sz="2000" b="1">
                <a:solidFill>
                  <a:srgbClr val="00A3E0"/>
                </a:solidFill>
                <a:latin typeface="Calibri"/>
              </a:defRPr>
            </a:pPr>
            <a:r>
              <a:t>Global Explainability</a:t>
            </a:r>
          </a:p>
        </p:txBody>
      </p:sp>
      <p:sp>
        <p:nvSpPr>
          <p:cNvPr id="6" name="TextBox 5"/>
          <p:cNvSpPr txBox="1"/>
          <p:nvPr/>
        </p:nvSpPr>
        <p:spPr>
          <a:xfrm>
            <a:off x="914400" y="2926080"/>
            <a:ext cx="4754880" cy="2286000"/>
          </a:xfrm>
          <a:prstGeom prst="rect">
            <a:avLst/>
          </a:prstGeom>
          <a:noFill/>
        </p:spPr>
        <p:txBody>
          <a:bodyPr wrap="square">
            <a:spAutoFit/>
          </a:bodyPr>
          <a:lstStyle/>
          <a:p>
            <a:pPr>
              <a:spcAft>
                <a:spcPts val="800"/>
              </a:spcAft>
              <a:defRPr sz="1500">
                <a:solidFill>
                  <a:srgbClr val="232F3E"/>
                </a:solidFill>
                <a:latin typeface="Calibri"/>
              </a:defRPr>
            </a:pPr>
            <a:r>
              <a:t>• SHAP Summary Plot ranks features by impact</a:t>
            </a:r>
          </a:p>
          <a:p>
            <a:pPr>
              <a:spcAft>
                <a:spcPts val="800"/>
              </a:spcAft>
              <a:defRPr sz="1500">
                <a:solidFill>
                  <a:srgbClr val="232F3E"/>
                </a:solidFill>
                <a:latin typeface="Calibri"/>
              </a:defRPr>
            </a:pPr>
            <a:r>
              <a:t>• Shows direction and magnitude of effect</a:t>
            </a:r>
          </a:p>
          <a:p>
            <a:pPr>
              <a:spcAft>
                <a:spcPts val="800"/>
              </a:spcAft>
              <a:defRPr sz="1500">
                <a:solidFill>
                  <a:srgbClr val="232F3E"/>
                </a:solidFill>
                <a:latin typeface="Calibri"/>
              </a:defRPr>
            </a:pPr>
            <a:r>
              <a:t>• Computed on 5,000 sample test instances</a:t>
            </a:r>
          </a:p>
          <a:p>
            <a:pPr>
              <a:spcAft>
                <a:spcPts val="800"/>
              </a:spcAft>
              <a:defRPr sz="1500">
                <a:solidFill>
                  <a:srgbClr val="232F3E"/>
                </a:solidFill>
                <a:latin typeface="Calibri"/>
              </a:defRPr>
            </a:pPr>
            <a:r>
              <a:t>• Key drivers: transaction amount, category,</a:t>
            </a:r>
          </a:p>
          <a:p>
            <a:pPr>
              <a:spcAft>
                <a:spcPts val="800"/>
              </a:spcAft>
              <a:defRPr sz="1500">
                <a:solidFill>
                  <a:srgbClr val="232F3E"/>
                </a:solidFill>
                <a:latin typeface="Calibri"/>
              </a:defRPr>
            </a:pPr>
            <a:r>
              <a:t>  merchant, time features, age</a:t>
            </a:r>
          </a:p>
        </p:txBody>
      </p:sp>
      <p:sp>
        <p:nvSpPr>
          <p:cNvPr id="7" name="Rounded Rectangle 6"/>
          <p:cNvSpPr/>
          <p:nvPr/>
        </p:nvSpPr>
        <p:spPr>
          <a:xfrm>
            <a:off x="6400800" y="2286000"/>
            <a:ext cx="5029200" cy="3200400"/>
          </a:xfrm>
          <a:prstGeom prst="roundRect">
            <a:avLst/>
          </a:prstGeom>
          <a:solidFill>
            <a:srgbClr val="FDF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2377440"/>
            <a:ext cx="4754880" cy="365760"/>
          </a:xfrm>
          <a:prstGeom prst="rect">
            <a:avLst/>
          </a:prstGeom>
          <a:noFill/>
        </p:spPr>
        <p:txBody>
          <a:bodyPr wrap="square">
            <a:spAutoFit/>
          </a:bodyPr>
          <a:lstStyle/>
          <a:p>
            <a:pPr algn="l">
              <a:defRPr sz="2000" b="1">
                <a:solidFill>
                  <a:srgbClr val="FF9900"/>
                </a:solidFill>
                <a:latin typeface="Calibri"/>
              </a:defRPr>
            </a:pPr>
            <a:r>
              <a:t>Local Explainability</a:t>
            </a:r>
          </a:p>
        </p:txBody>
      </p:sp>
      <p:sp>
        <p:nvSpPr>
          <p:cNvPr id="9" name="TextBox 8"/>
          <p:cNvSpPr txBox="1"/>
          <p:nvPr/>
        </p:nvSpPr>
        <p:spPr>
          <a:xfrm>
            <a:off x="6583680" y="2926080"/>
            <a:ext cx="4754880" cy="2286000"/>
          </a:xfrm>
          <a:prstGeom prst="rect">
            <a:avLst/>
          </a:prstGeom>
          <a:noFill/>
        </p:spPr>
        <p:txBody>
          <a:bodyPr wrap="square">
            <a:spAutoFit/>
          </a:bodyPr>
          <a:lstStyle/>
          <a:p>
            <a:pPr>
              <a:spcAft>
                <a:spcPts val="800"/>
              </a:spcAft>
              <a:defRPr sz="1400">
                <a:solidFill>
                  <a:srgbClr val="232F3E"/>
                </a:solidFill>
                <a:latin typeface="Calibri"/>
              </a:defRPr>
            </a:pPr>
            <a:r>
              <a:t>• SHAP Force Plots for individual predictions</a:t>
            </a:r>
          </a:p>
          <a:p>
            <a:pPr>
              <a:spcAft>
                <a:spcPts val="800"/>
              </a:spcAft>
              <a:defRPr sz="1400">
                <a:solidFill>
                  <a:srgbClr val="232F3E"/>
                </a:solidFill>
                <a:latin typeface="Calibri"/>
              </a:defRPr>
            </a:pPr>
            <a:r>
              <a:t>• Explains why a specific transaction was</a:t>
            </a:r>
          </a:p>
          <a:p>
            <a:pPr>
              <a:spcAft>
                <a:spcPts val="800"/>
              </a:spcAft>
              <a:defRPr sz="1400">
                <a:solidFill>
                  <a:srgbClr val="232F3E"/>
                </a:solidFill>
                <a:latin typeface="Calibri"/>
              </a:defRPr>
            </a:pPr>
            <a:r>
              <a:t>  flagged as fraud or legitimate</a:t>
            </a:r>
          </a:p>
          <a:p>
            <a:pPr>
              <a:spcAft>
                <a:spcPts val="800"/>
              </a:spcAft>
              <a:defRPr sz="1400">
                <a:solidFill>
                  <a:srgbClr val="232F3E"/>
                </a:solidFill>
                <a:latin typeface="Calibri"/>
              </a:defRPr>
            </a:pPr>
            <a:r>
              <a:t>• True Positive example: shows features</a:t>
            </a:r>
          </a:p>
          <a:p>
            <a:pPr>
              <a:spcAft>
                <a:spcPts val="800"/>
              </a:spcAft>
              <a:defRPr sz="1400">
                <a:solidFill>
                  <a:srgbClr val="232F3E"/>
                </a:solidFill>
                <a:latin typeface="Calibri"/>
              </a:defRPr>
            </a:pPr>
            <a:r>
              <a:t>  pushing toward fraud prediction</a:t>
            </a:r>
          </a:p>
          <a:p>
            <a:pPr>
              <a:spcAft>
                <a:spcPts val="800"/>
              </a:spcAft>
              <a:defRPr sz="1400">
                <a:solidFill>
                  <a:srgbClr val="232F3E"/>
                </a:solidFill>
                <a:latin typeface="Calibri"/>
              </a:defRPr>
            </a:pPr>
            <a:r>
              <a:t>• True Negative example: shows features</a:t>
            </a:r>
          </a:p>
          <a:p>
            <a:pPr>
              <a:spcAft>
                <a:spcPts val="800"/>
              </a:spcAft>
              <a:defRPr sz="1400">
                <a:solidFill>
                  <a:srgbClr val="232F3E"/>
                </a:solidFill>
                <a:latin typeface="Calibri"/>
              </a:defRPr>
            </a:pPr>
            <a:r>
              <a:t>  pushing toward legitimate prediction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82296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FFFFFF"/>
                </a:solidFill>
                <a:latin typeface="Calibri"/>
              </a:defRPr>
            </a:pPr>
            <a:r>
              <a:t>Fairness &amp; Bias Analysis</a:t>
            </a:r>
          </a:p>
        </p:txBody>
      </p:sp>
      <p:sp>
        <p:nvSpPr>
          <p:cNvPr id="3" name="TextBox 2"/>
          <p:cNvSpPr txBox="1"/>
          <p:nvPr/>
        </p:nvSpPr>
        <p:spPr>
          <a:xfrm>
            <a:off x="731520" y="1097280"/>
            <a:ext cx="4572000" cy="457200"/>
          </a:xfrm>
          <a:prstGeom prst="rect">
            <a:avLst/>
          </a:prstGeom>
          <a:noFill/>
        </p:spPr>
        <p:txBody>
          <a:bodyPr wrap="square">
            <a:spAutoFit/>
          </a:bodyPr>
          <a:lstStyle/>
          <a:p>
            <a:pPr algn="l">
              <a:defRPr sz="2000" b="1">
                <a:solidFill>
                  <a:srgbClr val="232F3E"/>
                </a:solidFill>
                <a:latin typeface="Calibri"/>
              </a:defRPr>
            </a:pPr>
            <a:r>
              <a:t>Gender Fairness:</a:t>
            </a:r>
          </a:p>
        </p:txBody>
      </p:sp>
      <p:sp>
        <p:nvSpPr>
          <p:cNvPr id="4" name="Rounded Rectangle 3"/>
          <p:cNvSpPr/>
          <p:nvPr/>
        </p:nvSpPr>
        <p:spPr>
          <a:xfrm>
            <a:off x="731520" y="1645920"/>
            <a:ext cx="2286000" cy="41148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Gender</a:t>
            </a:r>
          </a:p>
        </p:txBody>
      </p:sp>
      <p:sp>
        <p:nvSpPr>
          <p:cNvPr id="5" name="Rounded Rectangle 4"/>
          <p:cNvSpPr/>
          <p:nvPr/>
        </p:nvSpPr>
        <p:spPr>
          <a:xfrm>
            <a:off x="3017520" y="1645920"/>
            <a:ext cx="1371600" cy="41148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Recall</a:t>
            </a:r>
          </a:p>
        </p:txBody>
      </p:sp>
      <p:sp>
        <p:nvSpPr>
          <p:cNvPr id="6" name="Rounded Rectangle 5"/>
          <p:cNvSpPr/>
          <p:nvPr/>
        </p:nvSpPr>
        <p:spPr>
          <a:xfrm>
            <a:off x="4389120" y="1645920"/>
            <a:ext cx="1371600" cy="41148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Precision</a:t>
            </a:r>
          </a:p>
        </p:txBody>
      </p:sp>
      <p:sp>
        <p:nvSpPr>
          <p:cNvPr id="7" name="Rounded Rectangle 6"/>
          <p:cNvSpPr/>
          <p:nvPr/>
        </p:nvSpPr>
        <p:spPr>
          <a:xfrm>
            <a:off x="731520" y="2057400"/>
            <a:ext cx="2286000" cy="4114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2F3E"/>
                </a:solidFill>
                <a:latin typeface="Calibri"/>
              </a:defRPr>
            </a:pPr>
            <a:r>
              <a:t>Female</a:t>
            </a:r>
          </a:p>
        </p:txBody>
      </p:sp>
      <p:sp>
        <p:nvSpPr>
          <p:cNvPr id="8" name="Rounded Rectangle 7"/>
          <p:cNvSpPr/>
          <p:nvPr/>
        </p:nvSpPr>
        <p:spPr>
          <a:xfrm>
            <a:off x="3017520" y="2057400"/>
            <a:ext cx="1371600" cy="4114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232F3E"/>
                </a:solidFill>
                <a:latin typeface="Calibri"/>
              </a:defRPr>
            </a:pPr>
            <a:r>
              <a:t>0.884</a:t>
            </a:r>
          </a:p>
        </p:txBody>
      </p:sp>
      <p:sp>
        <p:nvSpPr>
          <p:cNvPr id="9" name="Rounded Rectangle 8"/>
          <p:cNvSpPr/>
          <p:nvPr/>
        </p:nvSpPr>
        <p:spPr>
          <a:xfrm>
            <a:off x="4389120" y="2057400"/>
            <a:ext cx="1371600" cy="4114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232F3E"/>
                </a:solidFill>
                <a:latin typeface="Calibri"/>
              </a:defRPr>
            </a:pPr>
            <a:r>
              <a:t>0.946</a:t>
            </a:r>
          </a:p>
        </p:txBody>
      </p:sp>
      <p:sp>
        <p:nvSpPr>
          <p:cNvPr id="10" name="Rounded Rectangle 9"/>
          <p:cNvSpPr/>
          <p:nvPr/>
        </p:nvSpPr>
        <p:spPr>
          <a:xfrm>
            <a:off x="731520" y="2468880"/>
            <a:ext cx="228600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2F3E"/>
                </a:solidFill>
                <a:latin typeface="Calibri"/>
              </a:defRPr>
            </a:pPr>
            <a:r>
              <a:t>Male</a:t>
            </a:r>
          </a:p>
        </p:txBody>
      </p:sp>
      <p:sp>
        <p:nvSpPr>
          <p:cNvPr id="11" name="Rounded Rectangle 10"/>
          <p:cNvSpPr/>
          <p:nvPr/>
        </p:nvSpPr>
        <p:spPr>
          <a:xfrm>
            <a:off x="3017520" y="2468880"/>
            <a:ext cx="137160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232F3E"/>
                </a:solidFill>
                <a:latin typeface="Calibri"/>
              </a:defRPr>
            </a:pPr>
            <a:r>
              <a:t>0.890</a:t>
            </a:r>
          </a:p>
        </p:txBody>
      </p:sp>
      <p:sp>
        <p:nvSpPr>
          <p:cNvPr id="12" name="Rounded Rectangle 11"/>
          <p:cNvSpPr/>
          <p:nvPr/>
        </p:nvSpPr>
        <p:spPr>
          <a:xfrm>
            <a:off x="4389120" y="2468880"/>
            <a:ext cx="137160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232F3E"/>
                </a:solidFill>
                <a:latin typeface="Calibri"/>
              </a:defRPr>
            </a:pPr>
            <a:r>
              <a:t>0.952</a:t>
            </a:r>
          </a:p>
        </p:txBody>
      </p:sp>
      <p:sp>
        <p:nvSpPr>
          <p:cNvPr id="13" name="TextBox 12"/>
          <p:cNvSpPr txBox="1"/>
          <p:nvPr/>
        </p:nvSpPr>
        <p:spPr>
          <a:xfrm>
            <a:off x="6400800" y="1097280"/>
            <a:ext cx="4572000" cy="457200"/>
          </a:xfrm>
          <a:prstGeom prst="rect">
            <a:avLst/>
          </a:prstGeom>
          <a:noFill/>
        </p:spPr>
        <p:txBody>
          <a:bodyPr wrap="square">
            <a:spAutoFit/>
          </a:bodyPr>
          <a:lstStyle/>
          <a:p>
            <a:pPr algn="l">
              <a:defRPr sz="2000" b="1">
                <a:solidFill>
                  <a:srgbClr val="232F3E"/>
                </a:solidFill>
                <a:latin typeface="Calibri"/>
              </a:defRPr>
            </a:pPr>
            <a:r>
              <a:t>Age Group Fairness:</a:t>
            </a:r>
          </a:p>
        </p:txBody>
      </p:sp>
      <p:sp>
        <p:nvSpPr>
          <p:cNvPr id="14" name="Rounded Rectangle 13"/>
          <p:cNvSpPr/>
          <p:nvPr/>
        </p:nvSpPr>
        <p:spPr>
          <a:xfrm>
            <a:off x="6400800" y="1645920"/>
            <a:ext cx="1828800" cy="41148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Age Group</a:t>
            </a:r>
          </a:p>
        </p:txBody>
      </p:sp>
      <p:sp>
        <p:nvSpPr>
          <p:cNvPr id="15" name="Rounded Rectangle 14"/>
          <p:cNvSpPr/>
          <p:nvPr/>
        </p:nvSpPr>
        <p:spPr>
          <a:xfrm>
            <a:off x="8229600" y="1645920"/>
            <a:ext cx="1371600" cy="41148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Recall</a:t>
            </a:r>
          </a:p>
        </p:txBody>
      </p:sp>
      <p:sp>
        <p:nvSpPr>
          <p:cNvPr id="16" name="Rounded Rectangle 15"/>
          <p:cNvSpPr/>
          <p:nvPr/>
        </p:nvSpPr>
        <p:spPr>
          <a:xfrm>
            <a:off x="9601200" y="1645920"/>
            <a:ext cx="1371600" cy="41148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FNR</a:t>
            </a:r>
          </a:p>
        </p:txBody>
      </p:sp>
      <p:sp>
        <p:nvSpPr>
          <p:cNvPr id="17" name="Rounded Rectangle 16"/>
          <p:cNvSpPr/>
          <p:nvPr/>
        </p:nvSpPr>
        <p:spPr>
          <a:xfrm>
            <a:off x="6400800" y="2057400"/>
            <a:ext cx="1828800" cy="4114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2F3E"/>
                </a:solidFill>
                <a:latin typeface="Calibri"/>
              </a:defRPr>
            </a:pPr>
            <a:r>
              <a:t>&lt;25</a:t>
            </a:r>
          </a:p>
        </p:txBody>
      </p:sp>
      <p:sp>
        <p:nvSpPr>
          <p:cNvPr id="18" name="Rounded Rectangle 17"/>
          <p:cNvSpPr/>
          <p:nvPr/>
        </p:nvSpPr>
        <p:spPr>
          <a:xfrm>
            <a:off x="8229600" y="2057400"/>
            <a:ext cx="1371600" cy="4114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232F3E"/>
                </a:solidFill>
                <a:latin typeface="Calibri"/>
              </a:defRPr>
            </a:pPr>
            <a:r>
              <a:t>0.871</a:t>
            </a:r>
          </a:p>
        </p:txBody>
      </p:sp>
      <p:sp>
        <p:nvSpPr>
          <p:cNvPr id="19" name="Rounded Rectangle 18"/>
          <p:cNvSpPr/>
          <p:nvPr/>
        </p:nvSpPr>
        <p:spPr>
          <a:xfrm>
            <a:off x="9601200" y="2057400"/>
            <a:ext cx="1371600" cy="4114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232F3E"/>
                </a:solidFill>
                <a:latin typeface="Calibri"/>
              </a:defRPr>
            </a:pPr>
            <a:r>
              <a:t>0.129</a:t>
            </a:r>
          </a:p>
        </p:txBody>
      </p:sp>
      <p:sp>
        <p:nvSpPr>
          <p:cNvPr id="20" name="Rounded Rectangle 19"/>
          <p:cNvSpPr/>
          <p:nvPr/>
        </p:nvSpPr>
        <p:spPr>
          <a:xfrm>
            <a:off x="6400800" y="2468880"/>
            <a:ext cx="182880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2F3E"/>
                </a:solidFill>
                <a:latin typeface="Calibri"/>
              </a:defRPr>
            </a:pPr>
            <a:r>
              <a:t>25-45</a:t>
            </a:r>
          </a:p>
        </p:txBody>
      </p:sp>
      <p:sp>
        <p:nvSpPr>
          <p:cNvPr id="21" name="Rounded Rectangle 20"/>
          <p:cNvSpPr/>
          <p:nvPr/>
        </p:nvSpPr>
        <p:spPr>
          <a:xfrm>
            <a:off x="8229600" y="2468880"/>
            <a:ext cx="137160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232F3E"/>
                </a:solidFill>
                <a:latin typeface="Calibri"/>
              </a:defRPr>
            </a:pPr>
            <a:r>
              <a:t>0.850</a:t>
            </a:r>
          </a:p>
        </p:txBody>
      </p:sp>
      <p:sp>
        <p:nvSpPr>
          <p:cNvPr id="22" name="Rounded Rectangle 21"/>
          <p:cNvSpPr/>
          <p:nvPr/>
        </p:nvSpPr>
        <p:spPr>
          <a:xfrm>
            <a:off x="9601200" y="2468880"/>
            <a:ext cx="137160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232F3E"/>
                </a:solidFill>
                <a:latin typeface="Calibri"/>
              </a:defRPr>
            </a:pPr>
            <a:r>
              <a:t>0.150</a:t>
            </a:r>
          </a:p>
        </p:txBody>
      </p:sp>
      <p:sp>
        <p:nvSpPr>
          <p:cNvPr id="23" name="Rounded Rectangle 22"/>
          <p:cNvSpPr/>
          <p:nvPr/>
        </p:nvSpPr>
        <p:spPr>
          <a:xfrm>
            <a:off x="6400800" y="2880360"/>
            <a:ext cx="1828800" cy="4114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2F3E"/>
                </a:solidFill>
                <a:latin typeface="Calibri"/>
              </a:defRPr>
            </a:pPr>
            <a:r>
              <a:t>45-65</a:t>
            </a:r>
          </a:p>
        </p:txBody>
      </p:sp>
      <p:sp>
        <p:nvSpPr>
          <p:cNvPr id="24" name="Rounded Rectangle 23"/>
          <p:cNvSpPr/>
          <p:nvPr/>
        </p:nvSpPr>
        <p:spPr>
          <a:xfrm>
            <a:off x="8229600" y="2880360"/>
            <a:ext cx="1371600" cy="4114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232F3E"/>
                </a:solidFill>
                <a:latin typeface="Calibri"/>
              </a:defRPr>
            </a:pPr>
            <a:r>
              <a:t>0.902</a:t>
            </a:r>
          </a:p>
        </p:txBody>
      </p:sp>
      <p:sp>
        <p:nvSpPr>
          <p:cNvPr id="25" name="Rounded Rectangle 24"/>
          <p:cNvSpPr/>
          <p:nvPr/>
        </p:nvSpPr>
        <p:spPr>
          <a:xfrm>
            <a:off x="9601200" y="2880360"/>
            <a:ext cx="1371600" cy="4114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232F3E"/>
                </a:solidFill>
                <a:latin typeface="Calibri"/>
              </a:defRPr>
            </a:pPr>
            <a:r>
              <a:t>0.098</a:t>
            </a:r>
          </a:p>
        </p:txBody>
      </p:sp>
      <p:sp>
        <p:nvSpPr>
          <p:cNvPr id="26" name="Rounded Rectangle 25"/>
          <p:cNvSpPr/>
          <p:nvPr/>
        </p:nvSpPr>
        <p:spPr>
          <a:xfrm>
            <a:off x="6400800" y="3291840"/>
            <a:ext cx="182880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2F3E"/>
                </a:solidFill>
                <a:latin typeface="Calibri"/>
              </a:defRPr>
            </a:pPr>
            <a:r>
              <a:t>65+</a:t>
            </a:r>
          </a:p>
        </p:txBody>
      </p:sp>
      <p:sp>
        <p:nvSpPr>
          <p:cNvPr id="27" name="Rounded Rectangle 26"/>
          <p:cNvSpPr/>
          <p:nvPr/>
        </p:nvSpPr>
        <p:spPr>
          <a:xfrm>
            <a:off x="8229600" y="3291840"/>
            <a:ext cx="137160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232F3E"/>
                </a:solidFill>
                <a:latin typeface="Calibri"/>
              </a:defRPr>
            </a:pPr>
            <a:r>
              <a:t>0.933</a:t>
            </a:r>
          </a:p>
        </p:txBody>
      </p:sp>
      <p:sp>
        <p:nvSpPr>
          <p:cNvPr id="28" name="Rounded Rectangle 27"/>
          <p:cNvSpPr/>
          <p:nvPr/>
        </p:nvSpPr>
        <p:spPr>
          <a:xfrm>
            <a:off x="9601200" y="3291840"/>
            <a:ext cx="137160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232F3E"/>
                </a:solidFill>
                <a:latin typeface="Calibri"/>
              </a:defRPr>
            </a:pPr>
            <a:r>
              <a:t>0.067</a:t>
            </a:r>
          </a:p>
        </p:txBody>
      </p:sp>
      <p:sp>
        <p:nvSpPr>
          <p:cNvPr id="29" name="TextBox 28"/>
          <p:cNvSpPr txBox="1"/>
          <p:nvPr/>
        </p:nvSpPr>
        <p:spPr>
          <a:xfrm>
            <a:off x="731520" y="4114800"/>
            <a:ext cx="10515600" cy="457200"/>
          </a:xfrm>
          <a:prstGeom prst="rect">
            <a:avLst/>
          </a:prstGeom>
          <a:noFill/>
        </p:spPr>
        <p:txBody>
          <a:bodyPr wrap="square">
            <a:spAutoFit/>
          </a:bodyPr>
          <a:lstStyle/>
          <a:p>
            <a:pPr algn="l">
              <a:defRPr sz="2000" b="1">
                <a:solidFill>
                  <a:srgbClr val="232F3E"/>
                </a:solidFill>
                <a:latin typeface="Calibri"/>
              </a:defRPr>
            </a:pPr>
            <a:r>
              <a:t>Key Findings:</a:t>
            </a:r>
          </a:p>
        </p:txBody>
      </p:sp>
      <p:sp>
        <p:nvSpPr>
          <p:cNvPr id="30" name="TextBox 29"/>
          <p:cNvSpPr txBox="1"/>
          <p:nvPr/>
        </p:nvSpPr>
        <p:spPr>
          <a:xfrm>
            <a:off x="731520" y="4572000"/>
            <a:ext cx="10515600" cy="1371600"/>
          </a:xfrm>
          <a:prstGeom prst="rect">
            <a:avLst/>
          </a:prstGeom>
          <a:noFill/>
        </p:spPr>
        <p:txBody>
          <a:bodyPr wrap="square">
            <a:spAutoFit/>
          </a:bodyPr>
          <a:lstStyle/>
          <a:p>
            <a:pPr>
              <a:spcAft>
                <a:spcPts val="800"/>
              </a:spcAft>
              <a:defRPr sz="1500">
                <a:solidFill>
                  <a:srgbClr val="232F3E"/>
                </a:solidFill>
                <a:latin typeface="Calibri"/>
              </a:defRPr>
            </a:pPr>
            <a:r>
              <a:t>• Gender: Minimal disparity — recall and precision are comparable across male and female groups</a:t>
            </a:r>
          </a:p>
          <a:p>
            <a:pPr>
              <a:spcAft>
                <a:spcPts val="800"/>
              </a:spcAft>
              <a:defRPr sz="1500">
                <a:solidFill>
                  <a:srgbClr val="232F3E"/>
                </a:solidFill>
                <a:latin typeface="Calibri"/>
              </a:defRPr>
            </a:pPr>
            <a:r>
              <a:t>• Age: Younger groups (25-45) have higher FNR (15%) vs older groups (65+ at 6.7%)</a:t>
            </a:r>
          </a:p>
          <a:p>
            <a:pPr>
              <a:spcAft>
                <a:spcPts val="800"/>
              </a:spcAft>
              <a:defRPr sz="1500">
                <a:solidFill>
                  <a:srgbClr val="232F3E"/>
                </a:solidFill>
                <a:latin typeface="Calibri"/>
              </a:defRPr>
            </a:pPr>
            <a:r>
              <a:t>• Mitigation: Age-group-specific reweighting or threshold adjustment recommended</a:t>
            </a:r>
          </a:p>
          <a:p>
            <a:pPr>
              <a:spcAft>
                <a:spcPts val="800"/>
              </a:spcAft>
              <a:defRPr sz="1500">
                <a:solidFill>
                  <a:srgbClr val="232F3E"/>
                </a:solidFill>
                <a:latin typeface="Calibri"/>
              </a:defRPr>
            </a:pPr>
            <a:r>
              <a:t>• FPR is near zero across all groups — very few false alarms regardless of demographic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82296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FFFFFF"/>
                </a:solidFill>
                <a:latin typeface="Calibri"/>
              </a:defRPr>
            </a:pPr>
            <a:r>
              <a:t>Final Model Configuration &amp; Artifacts</a:t>
            </a:r>
          </a:p>
        </p:txBody>
      </p:sp>
      <p:sp>
        <p:nvSpPr>
          <p:cNvPr id="3" name="Rounded Rectangle 2"/>
          <p:cNvSpPr/>
          <p:nvPr/>
        </p:nvSpPr>
        <p:spPr>
          <a:xfrm>
            <a:off x="731520" y="1371600"/>
            <a:ext cx="5029200" cy="365760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463040"/>
            <a:ext cx="4754880" cy="365760"/>
          </a:xfrm>
          <a:prstGeom prst="rect">
            <a:avLst/>
          </a:prstGeom>
          <a:noFill/>
        </p:spPr>
        <p:txBody>
          <a:bodyPr wrap="square">
            <a:spAutoFit/>
          </a:bodyPr>
          <a:lstStyle/>
          <a:p>
            <a:pPr algn="l">
              <a:defRPr sz="2000" b="1">
                <a:solidFill>
                  <a:srgbClr val="00A3E0"/>
                </a:solidFill>
                <a:latin typeface="Calibri"/>
              </a:defRPr>
            </a:pPr>
            <a:r>
              <a:t>Model Parameters</a:t>
            </a:r>
          </a:p>
        </p:txBody>
      </p:sp>
      <p:sp>
        <p:nvSpPr>
          <p:cNvPr id="5" name="TextBox 4"/>
          <p:cNvSpPr txBox="1"/>
          <p:nvPr/>
        </p:nvSpPr>
        <p:spPr>
          <a:xfrm>
            <a:off x="914400" y="2011680"/>
            <a:ext cx="4754880" cy="2743200"/>
          </a:xfrm>
          <a:prstGeom prst="rect">
            <a:avLst/>
          </a:prstGeom>
          <a:noFill/>
        </p:spPr>
        <p:txBody>
          <a:bodyPr wrap="square">
            <a:spAutoFit/>
          </a:bodyPr>
          <a:lstStyle/>
          <a:p>
            <a:pPr>
              <a:spcAft>
                <a:spcPts val="400"/>
              </a:spcAft>
              <a:defRPr sz="1400">
                <a:solidFill>
                  <a:srgbClr val="232F3E"/>
                </a:solidFill>
                <a:latin typeface="Calibri"/>
              </a:defRPr>
            </a:pPr>
            <a:r>
              <a:t>• objective: binary:logistic</a:t>
            </a:r>
          </a:p>
          <a:p>
            <a:pPr>
              <a:spcAft>
                <a:spcPts val="400"/>
              </a:spcAft>
              <a:defRPr sz="1400">
                <a:solidFill>
                  <a:srgbClr val="232F3E"/>
                </a:solidFill>
                <a:latin typeface="Calibri"/>
              </a:defRPr>
            </a:pPr>
            <a:r>
              <a:t>• eval_metric: logloss</a:t>
            </a:r>
          </a:p>
          <a:p>
            <a:pPr>
              <a:spcAft>
                <a:spcPts val="400"/>
              </a:spcAft>
              <a:defRPr sz="1400">
                <a:solidFill>
                  <a:srgbClr val="232F3E"/>
                </a:solidFill>
                <a:latin typeface="Calibri"/>
              </a:defRPr>
            </a:pPr>
            <a:r>
              <a:t>• n_estimators: 400</a:t>
            </a:r>
          </a:p>
          <a:p>
            <a:pPr>
              <a:spcAft>
                <a:spcPts val="400"/>
              </a:spcAft>
              <a:defRPr sz="1400">
                <a:solidFill>
                  <a:srgbClr val="232F3E"/>
                </a:solidFill>
                <a:latin typeface="Calibri"/>
              </a:defRPr>
            </a:pPr>
            <a:r>
              <a:t>• learning_rate: 0.2</a:t>
            </a:r>
          </a:p>
          <a:p>
            <a:pPr>
              <a:spcAft>
                <a:spcPts val="400"/>
              </a:spcAft>
              <a:defRPr sz="1400">
                <a:solidFill>
                  <a:srgbClr val="232F3E"/>
                </a:solidFill>
                <a:latin typeface="Calibri"/>
              </a:defRPr>
            </a:pPr>
            <a:r>
              <a:t>• max_depth: 7</a:t>
            </a:r>
          </a:p>
          <a:p>
            <a:pPr>
              <a:spcAft>
                <a:spcPts val="400"/>
              </a:spcAft>
              <a:defRPr sz="1400">
                <a:solidFill>
                  <a:srgbClr val="232F3E"/>
                </a:solidFill>
                <a:latin typeface="Calibri"/>
              </a:defRPr>
            </a:pPr>
            <a:r>
              <a:t>• subsample: 0.8</a:t>
            </a:r>
          </a:p>
          <a:p>
            <a:pPr>
              <a:spcAft>
                <a:spcPts val="400"/>
              </a:spcAft>
              <a:defRPr sz="1400">
                <a:solidFill>
                  <a:srgbClr val="232F3E"/>
                </a:solidFill>
                <a:latin typeface="Calibri"/>
              </a:defRPr>
            </a:pPr>
            <a:r>
              <a:t>• colsample_bytree: 0.8</a:t>
            </a:r>
          </a:p>
          <a:p>
            <a:pPr>
              <a:spcAft>
                <a:spcPts val="400"/>
              </a:spcAft>
              <a:defRPr sz="1400">
                <a:solidFill>
                  <a:srgbClr val="232F3E"/>
                </a:solidFill>
                <a:latin typeface="Calibri"/>
              </a:defRPr>
            </a:pPr>
            <a:r>
              <a:t>• gamma: 0.3</a:t>
            </a:r>
          </a:p>
          <a:p>
            <a:pPr>
              <a:spcAft>
                <a:spcPts val="400"/>
              </a:spcAft>
              <a:defRPr sz="1400">
                <a:solidFill>
                  <a:srgbClr val="232F3E"/>
                </a:solidFill>
                <a:latin typeface="Calibri"/>
              </a:defRPr>
            </a:pPr>
            <a:r>
              <a:t>• reg_alpha: 0.1</a:t>
            </a:r>
          </a:p>
          <a:p>
            <a:pPr>
              <a:spcAft>
                <a:spcPts val="400"/>
              </a:spcAft>
              <a:defRPr sz="1400">
                <a:solidFill>
                  <a:srgbClr val="232F3E"/>
                </a:solidFill>
                <a:latin typeface="Calibri"/>
              </a:defRPr>
            </a:pPr>
            <a:r>
              <a:t>• reg_lambda: 10</a:t>
            </a:r>
          </a:p>
          <a:p>
            <a:pPr>
              <a:spcAft>
                <a:spcPts val="400"/>
              </a:spcAft>
              <a:defRPr sz="1400">
                <a:solidFill>
                  <a:srgbClr val="232F3E"/>
                </a:solidFill>
                <a:latin typeface="Calibri"/>
              </a:defRPr>
            </a:pPr>
            <a:r>
              <a:t>• random_state: 42</a:t>
            </a:r>
          </a:p>
        </p:txBody>
      </p:sp>
      <p:sp>
        <p:nvSpPr>
          <p:cNvPr id="6" name="Rounded Rectangle 5"/>
          <p:cNvSpPr/>
          <p:nvPr/>
        </p:nvSpPr>
        <p:spPr>
          <a:xfrm>
            <a:off x="6400800" y="1371600"/>
            <a:ext cx="5029200" cy="3657600"/>
          </a:xfrm>
          <a:prstGeom prst="roundRect">
            <a:avLst/>
          </a:prstGeom>
          <a:solidFill>
            <a:srgbClr val="FDF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463040"/>
            <a:ext cx="4754880" cy="365760"/>
          </a:xfrm>
          <a:prstGeom prst="rect">
            <a:avLst/>
          </a:prstGeom>
          <a:noFill/>
        </p:spPr>
        <p:txBody>
          <a:bodyPr wrap="square">
            <a:spAutoFit/>
          </a:bodyPr>
          <a:lstStyle/>
          <a:p>
            <a:pPr algn="l">
              <a:defRPr sz="2000" b="1">
                <a:solidFill>
                  <a:srgbClr val="FF9900"/>
                </a:solidFill>
                <a:latin typeface="Calibri"/>
              </a:defRPr>
            </a:pPr>
            <a:r>
              <a:t>Saved Artifacts</a:t>
            </a:r>
          </a:p>
        </p:txBody>
      </p:sp>
      <p:sp>
        <p:nvSpPr>
          <p:cNvPr id="8" name="TextBox 7"/>
          <p:cNvSpPr txBox="1"/>
          <p:nvPr/>
        </p:nvSpPr>
        <p:spPr>
          <a:xfrm>
            <a:off x="6583680" y="2011680"/>
            <a:ext cx="4754880" cy="2743200"/>
          </a:xfrm>
          <a:prstGeom prst="rect">
            <a:avLst/>
          </a:prstGeom>
          <a:noFill/>
        </p:spPr>
        <p:txBody>
          <a:bodyPr wrap="square">
            <a:spAutoFit/>
          </a:bodyPr>
          <a:lstStyle/>
          <a:p>
            <a:pPr>
              <a:spcAft>
                <a:spcPts val="200"/>
              </a:spcAft>
              <a:defRPr sz="1400">
                <a:solidFill>
                  <a:srgbClr val="232F3E"/>
                </a:solidFill>
                <a:latin typeface="Calibri"/>
              </a:defRPr>
            </a:pPr>
            <a:r>
              <a:t>• models/xgb_smote_tuned_model.joblib</a:t>
            </a:r>
          </a:p>
          <a:p>
            <a:pPr>
              <a:spcAft>
                <a:spcPts val="200"/>
              </a:spcAft>
              <a:defRPr sz="1400">
                <a:solidFill>
                  <a:srgbClr val="232F3E"/>
                </a:solidFill>
                <a:latin typeface="Calibri"/>
              </a:defRPr>
            </a:pPr>
            <a:r>
              <a:t>  → Trained XGBoost model</a:t>
            </a:r>
          </a:p>
          <a:p>
            <a:pPr>
              <a:spcAft>
                <a:spcPts val="200"/>
              </a:spcAft>
              <a:defRPr sz="1400">
                <a:solidFill>
                  <a:srgbClr val="232F3E"/>
                </a:solidFill>
                <a:latin typeface="Calibri"/>
              </a:defRPr>
            </a:pPr>
          </a:p>
          <a:p>
            <a:pPr>
              <a:spcAft>
                <a:spcPts val="200"/>
              </a:spcAft>
              <a:defRPr sz="1400">
                <a:solidFill>
                  <a:srgbClr val="232F3E"/>
                </a:solidFill>
                <a:latin typeface="Calibri"/>
              </a:defRPr>
            </a:pPr>
            <a:r>
              <a:t>• models/scaler.joblib</a:t>
            </a:r>
          </a:p>
          <a:p>
            <a:pPr>
              <a:spcAft>
                <a:spcPts val="200"/>
              </a:spcAft>
              <a:defRPr sz="1400">
                <a:solidFill>
                  <a:srgbClr val="232F3E"/>
                </a:solidFill>
                <a:latin typeface="Calibri"/>
              </a:defRPr>
            </a:pPr>
            <a:r>
              <a:t>  → StandardScaler for feature scaling</a:t>
            </a:r>
          </a:p>
          <a:p>
            <a:pPr>
              <a:spcAft>
                <a:spcPts val="200"/>
              </a:spcAft>
              <a:defRPr sz="1400">
                <a:solidFill>
                  <a:srgbClr val="232F3E"/>
                </a:solidFill>
                <a:latin typeface="Calibri"/>
              </a:defRPr>
            </a:pPr>
          </a:p>
          <a:p>
            <a:pPr>
              <a:spcAft>
                <a:spcPts val="200"/>
              </a:spcAft>
              <a:defRPr sz="1400">
                <a:solidFill>
                  <a:srgbClr val="232F3E"/>
                </a:solidFill>
                <a:latin typeface="Calibri"/>
              </a:defRPr>
            </a:pPr>
            <a:r>
              <a:t>• models/selector.joblib</a:t>
            </a:r>
          </a:p>
          <a:p>
            <a:pPr>
              <a:spcAft>
                <a:spcPts val="200"/>
              </a:spcAft>
              <a:defRPr sz="1400">
                <a:solidFill>
                  <a:srgbClr val="232F3E"/>
                </a:solidFill>
                <a:latin typeface="Calibri"/>
              </a:defRPr>
            </a:pPr>
            <a:r>
              <a:t>  → SelectKBest feature selector</a:t>
            </a:r>
          </a:p>
          <a:p>
            <a:pPr>
              <a:spcAft>
                <a:spcPts val="200"/>
              </a:spcAft>
              <a:defRPr sz="1400">
                <a:solidFill>
                  <a:srgbClr val="232F3E"/>
                </a:solidFill>
                <a:latin typeface="Calibri"/>
              </a:defRPr>
            </a:pPr>
          </a:p>
          <a:p>
            <a:pPr>
              <a:spcAft>
                <a:spcPts val="200"/>
              </a:spcAft>
              <a:defRPr sz="1400">
                <a:solidFill>
                  <a:srgbClr val="232F3E"/>
                </a:solidFill>
                <a:latin typeface="Calibri"/>
              </a:defRPr>
            </a:pPr>
            <a:r>
              <a:t>• models/selected_features.json</a:t>
            </a:r>
          </a:p>
          <a:p>
            <a:pPr>
              <a:spcAft>
                <a:spcPts val="200"/>
              </a:spcAft>
              <a:defRPr sz="1400">
                <a:solidFill>
                  <a:srgbClr val="232F3E"/>
                </a:solidFill>
                <a:latin typeface="Calibri"/>
              </a:defRPr>
            </a:pPr>
            <a:r>
              <a:t>  → List of 15 selected feature names</a:t>
            </a:r>
          </a:p>
          <a:p>
            <a:pPr>
              <a:spcAft>
                <a:spcPts val="200"/>
              </a:spcAft>
              <a:defRPr sz="1400">
                <a:solidFill>
                  <a:srgbClr val="232F3E"/>
                </a:solidFill>
                <a:latin typeface="Calibri"/>
              </a:defRPr>
            </a:pPr>
          </a:p>
          <a:p>
            <a:pPr>
              <a:spcAft>
                <a:spcPts val="200"/>
              </a:spcAft>
              <a:defRPr sz="1400">
                <a:solidFill>
                  <a:srgbClr val="232F3E"/>
                </a:solidFill>
                <a:latin typeface="Calibri"/>
              </a:defRPr>
            </a:pPr>
            <a:r>
              <a:t>• models/xgb_smote_tuned_model_params.json</a:t>
            </a:r>
          </a:p>
          <a:p>
            <a:pPr>
              <a:spcAft>
                <a:spcPts val="200"/>
              </a:spcAft>
              <a:defRPr sz="1400">
                <a:solidFill>
                  <a:srgbClr val="232F3E"/>
                </a:solidFill>
                <a:latin typeface="Calibri"/>
              </a:defRPr>
            </a:pPr>
            <a:r>
              <a:t>  → Full hyperparameter configuration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82296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FFFFFF"/>
                </a:solidFill>
                <a:latin typeface="Calibri"/>
              </a:defRPr>
            </a:pPr>
            <a:r>
              <a:t>Limitations &amp; Next Steps</a:t>
            </a:r>
          </a:p>
        </p:txBody>
      </p:sp>
      <p:sp>
        <p:nvSpPr>
          <p:cNvPr id="3" name="Rounded Rectangle 2"/>
          <p:cNvSpPr/>
          <p:nvPr/>
        </p:nvSpPr>
        <p:spPr>
          <a:xfrm>
            <a:off x="731520" y="1371600"/>
            <a:ext cx="5029200" cy="3657600"/>
          </a:xfrm>
          <a:prstGeom prst="roundRect">
            <a:avLst/>
          </a:prstGeom>
          <a:solidFill>
            <a:srgbClr val="FD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463040"/>
            <a:ext cx="4754880" cy="365760"/>
          </a:xfrm>
          <a:prstGeom prst="rect">
            <a:avLst/>
          </a:prstGeom>
          <a:noFill/>
        </p:spPr>
        <p:txBody>
          <a:bodyPr wrap="square">
            <a:spAutoFit/>
          </a:bodyPr>
          <a:lstStyle/>
          <a:p>
            <a:pPr algn="l">
              <a:defRPr sz="2000" b="1">
                <a:solidFill>
                  <a:srgbClr val="E74C3C"/>
                </a:solidFill>
                <a:latin typeface="Calibri"/>
              </a:defRPr>
            </a:pPr>
            <a:r>
              <a:t>Limitations</a:t>
            </a:r>
          </a:p>
        </p:txBody>
      </p:sp>
      <p:sp>
        <p:nvSpPr>
          <p:cNvPr id="5" name="TextBox 4"/>
          <p:cNvSpPr txBox="1"/>
          <p:nvPr/>
        </p:nvSpPr>
        <p:spPr>
          <a:xfrm>
            <a:off x="914400" y="2011680"/>
            <a:ext cx="4754880" cy="2743200"/>
          </a:xfrm>
          <a:prstGeom prst="rect">
            <a:avLst/>
          </a:prstGeom>
          <a:noFill/>
        </p:spPr>
        <p:txBody>
          <a:bodyPr wrap="square">
            <a:spAutoFit/>
          </a:bodyPr>
          <a:lstStyle/>
          <a:p>
            <a:pPr>
              <a:spcAft>
                <a:spcPts val="400"/>
              </a:spcAft>
              <a:defRPr sz="1500">
                <a:solidFill>
                  <a:srgbClr val="232F3E"/>
                </a:solidFill>
                <a:latin typeface="Calibri"/>
              </a:defRPr>
            </a:pPr>
            <a:r>
              <a:t>• Severe class imbalance may still affect</a:t>
            </a:r>
          </a:p>
          <a:p>
            <a:pPr>
              <a:spcAft>
                <a:spcPts val="400"/>
              </a:spcAft>
              <a:defRPr sz="1500">
                <a:solidFill>
                  <a:srgbClr val="232F3E"/>
                </a:solidFill>
                <a:latin typeface="Calibri"/>
              </a:defRPr>
            </a:pPr>
            <a:r>
              <a:t>  generalization to production data</a:t>
            </a:r>
          </a:p>
          <a:p>
            <a:pPr>
              <a:spcAft>
                <a:spcPts val="400"/>
              </a:spcAft>
              <a:defRPr sz="1500">
                <a:solidFill>
                  <a:srgbClr val="232F3E"/>
                </a:solidFill>
                <a:latin typeface="Calibri"/>
              </a:defRPr>
            </a:pPr>
          </a:p>
          <a:p>
            <a:pPr>
              <a:spcAft>
                <a:spcPts val="400"/>
              </a:spcAft>
              <a:defRPr sz="1500">
                <a:solidFill>
                  <a:srgbClr val="232F3E"/>
                </a:solidFill>
                <a:latin typeface="Calibri"/>
              </a:defRPr>
            </a:pPr>
            <a:r>
              <a:t>• SMOTE synthetic samples may not fully</a:t>
            </a:r>
          </a:p>
          <a:p>
            <a:pPr>
              <a:spcAft>
                <a:spcPts val="400"/>
              </a:spcAft>
              <a:defRPr sz="1500">
                <a:solidFill>
                  <a:srgbClr val="232F3E"/>
                </a:solidFill>
                <a:latin typeface="Calibri"/>
              </a:defRPr>
            </a:pPr>
            <a:r>
              <a:t>  reflect real-world fraud patterns</a:t>
            </a:r>
          </a:p>
          <a:p>
            <a:pPr>
              <a:spcAft>
                <a:spcPts val="400"/>
              </a:spcAft>
              <a:defRPr sz="1500">
                <a:solidFill>
                  <a:srgbClr val="232F3E"/>
                </a:solidFill>
                <a:latin typeface="Calibri"/>
              </a:defRPr>
            </a:pPr>
          </a:p>
          <a:p>
            <a:pPr>
              <a:spcAft>
                <a:spcPts val="400"/>
              </a:spcAft>
              <a:defRPr sz="1500">
                <a:solidFill>
                  <a:srgbClr val="232F3E"/>
                </a:solidFill>
                <a:latin typeface="Calibri"/>
              </a:defRPr>
            </a:pPr>
            <a:r>
              <a:t>• Model performance may degrade as</a:t>
            </a:r>
          </a:p>
          <a:p>
            <a:pPr>
              <a:spcAft>
                <a:spcPts val="400"/>
              </a:spcAft>
              <a:defRPr sz="1500">
                <a:solidFill>
                  <a:srgbClr val="232F3E"/>
                </a:solidFill>
                <a:latin typeface="Calibri"/>
              </a:defRPr>
            </a:pPr>
            <a:r>
              <a:t>  fraud patterns evolve over time</a:t>
            </a:r>
          </a:p>
          <a:p>
            <a:pPr>
              <a:spcAft>
                <a:spcPts val="400"/>
              </a:spcAft>
              <a:defRPr sz="1500">
                <a:solidFill>
                  <a:srgbClr val="232F3E"/>
                </a:solidFill>
                <a:latin typeface="Calibri"/>
              </a:defRPr>
            </a:pPr>
          </a:p>
          <a:p>
            <a:pPr>
              <a:spcAft>
                <a:spcPts val="400"/>
              </a:spcAft>
              <a:defRPr sz="1500">
                <a:solidFill>
                  <a:srgbClr val="232F3E"/>
                </a:solidFill>
                <a:latin typeface="Calibri"/>
              </a:defRPr>
            </a:pPr>
            <a:r>
              <a:t>• Age-based FNR disparity needs</a:t>
            </a:r>
          </a:p>
          <a:p>
            <a:pPr>
              <a:spcAft>
                <a:spcPts val="400"/>
              </a:spcAft>
              <a:defRPr sz="1500">
                <a:solidFill>
                  <a:srgbClr val="232F3E"/>
                </a:solidFill>
                <a:latin typeface="Calibri"/>
              </a:defRPr>
            </a:pPr>
            <a:r>
              <a:t>  mitigation before production use</a:t>
            </a:r>
          </a:p>
        </p:txBody>
      </p:sp>
      <p:sp>
        <p:nvSpPr>
          <p:cNvPr id="6" name="Rounded Rectangle 5"/>
          <p:cNvSpPr/>
          <p:nvPr/>
        </p:nvSpPr>
        <p:spPr>
          <a:xfrm>
            <a:off x="6400800" y="1371600"/>
            <a:ext cx="5029200" cy="3657600"/>
          </a:xfrm>
          <a:prstGeom prst="roundRect">
            <a:avLst/>
          </a:prstGeom>
          <a:solidFill>
            <a:srgbClr val="E8F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463040"/>
            <a:ext cx="4754880" cy="365760"/>
          </a:xfrm>
          <a:prstGeom prst="rect">
            <a:avLst/>
          </a:prstGeom>
          <a:noFill/>
        </p:spPr>
        <p:txBody>
          <a:bodyPr wrap="square">
            <a:spAutoFit/>
          </a:bodyPr>
          <a:lstStyle/>
          <a:p>
            <a:pPr algn="l">
              <a:defRPr sz="2000" b="1">
                <a:solidFill>
                  <a:srgbClr val="2ECC71"/>
                </a:solidFill>
                <a:latin typeface="Calibri"/>
              </a:defRPr>
            </a:pPr>
            <a:r>
              <a:t>Next Steps</a:t>
            </a:r>
          </a:p>
        </p:txBody>
      </p:sp>
      <p:sp>
        <p:nvSpPr>
          <p:cNvPr id="8" name="TextBox 7"/>
          <p:cNvSpPr txBox="1"/>
          <p:nvPr/>
        </p:nvSpPr>
        <p:spPr>
          <a:xfrm>
            <a:off x="6583680" y="2011680"/>
            <a:ext cx="4754880" cy="2743200"/>
          </a:xfrm>
          <a:prstGeom prst="rect">
            <a:avLst/>
          </a:prstGeom>
          <a:noFill/>
        </p:spPr>
        <p:txBody>
          <a:bodyPr wrap="square">
            <a:spAutoFit/>
          </a:bodyPr>
          <a:lstStyle/>
          <a:p>
            <a:pPr>
              <a:spcAft>
                <a:spcPts val="400"/>
              </a:spcAft>
              <a:defRPr sz="1500">
                <a:solidFill>
                  <a:srgbClr val="232F3E"/>
                </a:solidFill>
                <a:latin typeface="Calibri"/>
              </a:defRPr>
            </a:pPr>
            <a:r>
              <a:t>• Implement model monitoring and drift</a:t>
            </a:r>
          </a:p>
          <a:p>
            <a:pPr>
              <a:spcAft>
                <a:spcPts val="400"/>
              </a:spcAft>
              <a:defRPr sz="1500">
                <a:solidFill>
                  <a:srgbClr val="232F3E"/>
                </a:solidFill>
                <a:latin typeface="Calibri"/>
              </a:defRPr>
            </a:pPr>
            <a:r>
              <a:t>  detection in production</a:t>
            </a:r>
          </a:p>
          <a:p>
            <a:pPr>
              <a:spcAft>
                <a:spcPts val="400"/>
              </a:spcAft>
              <a:defRPr sz="1500">
                <a:solidFill>
                  <a:srgbClr val="232F3E"/>
                </a:solidFill>
                <a:latin typeface="Calibri"/>
              </a:defRPr>
            </a:pPr>
          </a:p>
          <a:p>
            <a:pPr>
              <a:spcAft>
                <a:spcPts val="400"/>
              </a:spcAft>
              <a:defRPr sz="1500">
                <a:solidFill>
                  <a:srgbClr val="232F3E"/>
                </a:solidFill>
                <a:latin typeface="Calibri"/>
              </a:defRPr>
            </a:pPr>
            <a:r>
              <a:t>• Explore threshold optimization per</a:t>
            </a:r>
          </a:p>
          <a:p>
            <a:pPr>
              <a:spcAft>
                <a:spcPts val="400"/>
              </a:spcAft>
              <a:defRPr sz="1500">
                <a:solidFill>
                  <a:srgbClr val="232F3E"/>
                </a:solidFill>
                <a:latin typeface="Calibri"/>
              </a:defRPr>
            </a:pPr>
            <a:r>
              <a:t>  demographic group for fairness</a:t>
            </a:r>
          </a:p>
          <a:p>
            <a:pPr>
              <a:spcAft>
                <a:spcPts val="400"/>
              </a:spcAft>
              <a:defRPr sz="1500">
                <a:solidFill>
                  <a:srgbClr val="232F3E"/>
                </a:solidFill>
                <a:latin typeface="Calibri"/>
              </a:defRPr>
            </a:pPr>
          </a:p>
          <a:p>
            <a:pPr>
              <a:spcAft>
                <a:spcPts val="400"/>
              </a:spcAft>
              <a:defRPr sz="1500">
                <a:solidFill>
                  <a:srgbClr val="232F3E"/>
                </a:solidFill>
                <a:latin typeface="Calibri"/>
              </a:defRPr>
            </a:pPr>
            <a:r>
              <a:t>• Test with real-time streaming data</a:t>
            </a:r>
          </a:p>
          <a:p>
            <a:pPr>
              <a:spcAft>
                <a:spcPts val="400"/>
              </a:spcAft>
              <a:defRPr sz="1500">
                <a:solidFill>
                  <a:srgbClr val="232F3E"/>
                </a:solidFill>
                <a:latin typeface="Calibri"/>
              </a:defRPr>
            </a:pPr>
          </a:p>
          <a:p>
            <a:pPr>
              <a:spcAft>
                <a:spcPts val="400"/>
              </a:spcAft>
              <a:defRPr sz="1500">
                <a:solidFill>
                  <a:srgbClr val="232F3E"/>
                </a:solidFill>
                <a:latin typeface="Calibri"/>
              </a:defRPr>
            </a:pPr>
            <a:r>
              <a:t>• Periodic retraining pipeline to adapt</a:t>
            </a:r>
          </a:p>
          <a:p>
            <a:pPr>
              <a:spcAft>
                <a:spcPts val="400"/>
              </a:spcAft>
              <a:defRPr sz="1500">
                <a:solidFill>
                  <a:srgbClr val="232F3E"/>
                </a:solidFill>
                <a:latin typeface="Calibri"/>
              </a:defRPr>
            </a:pPr>
            <a:r>
              <a:t>  to evolving fraud patterns</a:t>
            </a:r>
          </a:p>
          <a:p>
            <a:pPr>
              <a:spcAft>
                <a:spcPts val="400"/>
              </a:spcAft>
              <a:defRPr sz="1500">
                <a:solidFill>
                  <a:srgbClr val="232F3E"/>
                </a:solidFill>
                <a:latin typeface="Calibri"/>
              </a:defRPr>
            </a:pPr>
          </a:p>
          <a:p>
            <a:pPr>
              <a:spcAft>
                <a:spcPts val="400"/>
              </a:spcAft>
              <a:defRPr sz="1500">
                <a:solidFill>
                  <a:srgbClr val="232F3E"/>
                </a:solidFill>
                <a:latin typeface="Calibri"/>
              </a:defRPr>
            </a:pPr>
            <a:r>
              <a:t>• A/B testing against rule-based systems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