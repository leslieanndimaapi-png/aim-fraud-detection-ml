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1" r:id="rId5"/>
    <p:sldId id="262" r:id="rId6"/>
    <p:sldId id="264" r:id="rId7"/>
    <p:sldId id="265" r:id="rId8"/>
    <p:sldId id="266" r:id="rId9"/>
    <p:sldId id="267" r:id="rId10"/>
    <p:sldId id="269"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38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0"/>
  </p:normalViewPr>
  <p:slideViewPr>
    <p:cSldViewPr snapToGrid="0" snapToObjects="1">
      <p:cViewPr varScale="1">
        <p:scale>
          <a:sx n="113" d="100"/>
          <a:sy n="113" d="100"/>
        </p:scale>
        <p:origin x="71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TextBox 1"/>
          <p:cNvSpPr txBox="1"/>
          <p:nvPr/>
        </p:nvSpPr>
        <p:spPr>
          <a:xfrm>
            <a:off x="914400" y="1645920"/>
            <a:ext cx="10058400" cy="1097280"/>
          </a:xfrm>
          <a:prstGeom prst="rect">
            <a:avLst/>
          </a:prstGeom>
          <a:noFill/>
        </p:spPr>
        <p:txBody>
          <a:bodyPr wrap="square">
            <a:spAutoFit/>
          </a:bodyPr>
          <a:lstStyle/>
          <a:p>
            <a:pPr algn="ctr">
              <a:defRPr sz="4400" b="1">
                <a:solidFill>
                  <a:srgbClr val="FFFFFF"/>
                </a:solidFill>
                <a:latin typeface="Calibri"/>
              </a:defRPr>
            </a:pPr>
            <a:r>
              <a:t>Credit Card Fraud Detection</a:t>
            </a:r>
          </a:p>
        </p:txBody>
      </p:sp>
      <p:sp>
        <p:nvSpPr>
          <p:cNvPr id="3" name="TextBox 2"/>
          <p:cNvSpPr txBox="1"/>
          <p:nvPr/>
        </p:nvSpPr>
        <p:spPr>
          <a:xfrm>
            <a:off x="914400" y="2834640"/>
            <a:ext cx="10058400" cy="731520"/>
          </a:xfrm>
          <a:prstGeom prst="rect">
            <a:avLst/>
          </a:prstGeom>
          <a:noFill/>
        </p:spPr>
        <p:txBody>
          <a:bodyPr wrap="square">
            <a:spAutoFit/>
          </a:bodyPr>
          <a:lstStyle/>
          <a:p>
            <a:pPr algn="ctr">
              <a:defRPr sz="2800" b="0">
                <a:solidFill>
                  <a:srgbClr val="00A3E0"/>
                </a:solidFill>
                <a:latin typeface="Calibri"/>
              </a:defRPr>
            </a:pPr>
            <a:r>
              <a:t>XGBoost with SMOTE &amp; Hyperparameter Tuning</a:t>
            </a:r>
          </a:p>
        </p:txBody>
      </p:sp>
      <p:sp>
        <p:nvSpPr>
          <p:cNvPr id="4" name="TextBox 3"/>
          <p:cNvSpPr txBox="1"/>
          <p:nvPr/>
        </p:nvSpPr>
        <p:spPr>
          <a:xfrm>
            <a:off x="914400" y="3840480"/>
            <a:ext cx="10058400" cy="548640"/>
          </a:xfrm>
          <a:prstGeom prst="rect">
            <a:avLst/>
          </a:prstGeom>
          <a:noFill/>
        </p:spPr>
        <p:txBody>
          <a:bodyPr wrap="square">
            <a:spAutoFit/>
          </a:bodyPr>
          <a:lstStyle/>
          <a:p>
            <a:pPr algn="ctr">
              <a:defRPr sz="2000" b="0">
                <a:solidFill>
                  <a:srgbClr val="AABBCC"/>
                </a:solidFill>
                <a:latin typeface="Calibri"/>
              </a:defRPr>
            </a:pPr>
            <a:r>
              <a:t>Technical Deep Dive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529A9F2-29B0-2B9E-A0DC-7BA6E08F21BE}"/>
              </a:ext>
            </a:extLst>
          </p:cNvPr>
          <p:cNvSpPr/>
          <p:nvPr/>
        </p:nvSpPr>
        <p:spPr>
          <a:xfrm>
            <a:off x="6400800" y="1965960"/>
            <a:ext cx="5029200" cy="2317609"/>
          </a:xfrm>
          <a:prstGeom prst="roundRect">
            <a:avLst/>
          </a:prstGeom>
          <a:solidFill>
            <a:schemeClr val="accent4">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a:extLst>
              <a:ext uri="{FF2B5EF4-FFF2-40B4-BE49-F238E27FC236}">
                <a16:creationId xmlns:a16="http://schemas.microsoft.com/office/drawing/2014/main" id="{14311618-8A78-6092-9D33-63868F422D7D}"/>
              </a:ext>
            </a:extLst>
          </p:cNvPr>
          <p:cNvSpPr/>
          <p:nvPr/>
        </p:nvSpPr>
        <p:spPr>
          <a:xfrm>
            <a:off x="731520" y="2016193"/>
            <a:ext cx="5029200" cy="2317609"/>
          </a:xfrm>
          <a:prstGeom prst="roundRect">
            <a:avLst/>
          </a:prstGeom>
          <a:solidFill>
            <a:schemeClr val="accent3">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rPr dirty="0"/>
              <a:t>Problem Statement</a:t>
            </a:r>
            <a:r>
              <a:rPr lang="en-US" dirty="0"/>
              <a:t> and Dataset Overview</a:t>
            </a:r>
            <a:endParaRPr dirty="0"/>
          </a:p>
        </p:txBody>
      </p:sp>
      <p:sp>
        <p:nvSpPr>
          <p:cNvPr id="3" name="TextBox 2"/>
          <p:cNvSpPr txBox="1"/>
          <p:nvPr/>
        </p:nvSpPr>
        <p:spPr>
          <a:xfrm>
            <a:off x="731520" y="983826"/>
            <a:ext cx="10515600" cy="914400"/>
          </a:xfrm>
          <a:prstGeom prst="rect">
            <a:avLst/>
          </a:prstGeom>
          <a:noFill/>
        </p:spPr>
        <p:txBody>
          <a:bodyPr wrap="square">
            <a:spAutoFit/>
          </a:bodyPr>
          <a:lstStyle/>
          <a:p>
            <a:pPr algn="l">
              <a:defRPr sz="1800" b="0">
                <a:solidFill>
                  <a:srgbClr val="232F3E"/>
                </a:solidFill>
                <a:latin typeface="Calibri"/>
              </a:defRPr>
            </a:pPr>
            <a:r>
              <a:rPr dirty="0"/>
              <a:t>A financial services company processes millions of credit card transactions daily. Fraudulent transactions lead to financial losses and reduced customer trust. The goal is to build an ML model that maximizes detection of fraud (high recall) while maintaining acceptable precision.</a:t>
            </a:r>
          </a:p>
        </p:txBody>
      </p:sp>
      <p:sp>
        <p:nvSpPr>
          <p:cNvPr id="4" name="TextBox 3"/>
          <p:cNvSpPr txBox="1"/>
          <p:nvPr/>
        </p:nvSpPr>
        <p:spPr>
          <a:xfrm>
            <a:off x="914400" y="2093523"/>
            <a:ext cx="4572000" cy="400110"/>
          </a:xfrm>
          <a:prstGeom prst="rect">
            <a:avLst/>
          </a:prstGeom>
          <a:noFill/>
        </p:spPr>
        <p:txBody>
          <a:bodyPr wrap="square">
            <a:spAutoFit/>
          </a:bodyPr>
          <a:lstStyle/>
          <a:p>
            <a:pPr algn="l">
              <a:defRPr sz="2000" b="1">
                <a:solidFill>
                  <a:srgbClr val="232F3E"/>
                </a:solidFill>
                <a:latin typeface="Calibri"/>
              </a:defRPr>
            </a:pPr>
            <a:r>
              <a:rPr dirty="0">
                <a:solidFill>
                  <a:schemeClr val="accent3"/>
                </a:solidFill>
              </a:rPr>
              <a:t>Key Challenges:</a:t>
            </a:r>
          </a:p>
        </p:txBody>
      </p:sp>
      <p:sp>
        <p:nvSpPr>
          <p:cNvPr id="5" name="TextBox 4"/>
          <p:cNvSpPr txBox="1"/>
          <p:nvPr/>
        </p:nvSpPr>
        <p:spPr>
          <a:xfrm>
            <a:off x="914400" y="2478478"/>
            <a:ext cx="5029200" cy="1323439"/>
          </a:xfrm>
          <a:prstGeom prst="rect">
            <a:avLst/>
          </a:prstGeom>
          <a:noFill/>
        </p:spPr>
        <p:txBody>
          <a:bodyPr wrap="square">
            <a:spAutoFit/>
          </a:bodyPr>
          <a:lstStyle/>
          <a:p>
            <a:pPr>
              <a:spcAft>
                <a:spcPts val="800"/>
              </a:spcAft>
              <a:defRPr sz="1600">
                <a:solidFill>
                  <a:srgbClr val="232F3E"/>
                </a:solidFill>
                <a:latin typeface="Calibri"/>
              </a:defRPr>
            </a:pPr>
            <a:r>
              <a:rPr sz="1500" dirty="0"/>
              <a:t>• Severe class imbalance (fraud is rare)</a:t>
            </a:r>
          </a:p>
          <a:p>
            <a:pPr>
              <a:spcAft>
                <a:spcPts val="800"/>
              </a:spcAft>
              <a:defRPr sz="1600">
                <a:solidFill>
                  <a:srgbClr val="232F3E"/>
                </a:solidFill>
                <a:latin typeface="Calibri"/>
              </a:defRPr>
            </a:pPr>
            <a:r>
              <a:rPr sz="1500" dirty="0"/>
              <a:t>• High cost of missed fraud (false negatives)</a:t>
            </a:r>
          </a:p>
          <a:p>
            <a:pPr>
              <a:spcAft>
                <a:spcPts val="800"/>
              </a:spcAft>
              <a:defRPr sz="1600">
                <a:solidFill>
                  <a:srgbClr val="232F3E"/>
                </a:solidFill>
                <a:latin typeface="Calibri"/>
              </a:defRPr>
            </a:pPr>
            <a:r>
              <a:rPr sz="1500" dirty="0"/>
              <a:t>• Need to minimize false alarms (false positives)</a:t>
            </a:r>
          </a:p>
          <a:p>
            <a:pPr>
              <a:spcAft>
                <a:spcPts val="800"/>
              </a:spcAft>
              <a:defRPr sz="1600">
                <a:solidFill>
                  <a:srgbClr val="232F3E"/>
                </a:solidFill>
                <a:latin typeface="Calibri"/>
              </a:defRPr>
            </a:pPr>
            <a:r>
              <a:rPr sz="1500" dirty="0"/>
              <a:t>• Evolving fraud patterns over time</a:t>
            </a:r>
          </a:p>
        </p:txBody>
      </p:sp>
      <p:sp>
        <p:nvSpPr>
          <p:cNvPr id="6" name="TextBox 5"/>
          <p:cNvSpPr txBox="1"/>
          <p:nvPr/>
        </p:nvSpPr>
        <p:spPr>
          <a:xfrm>
            <a:off x="6547557" y="2047803"/>
            <a:ext cx="4572000" cy="400110"/>
          </a:xfrm>
          <a:prstGeom prst="rect">
            <a:avLst/>
          </a:prstGeom>
          <a:noFill/>
        </p:spPr>
        <p:txBody>
          <a:bodyPr wrap="square">
            <a:spAutoFit/>
          </a:bodyPr>
          <a:lstStyle/>
          <a:p>
            <a:pPr algn="l">
              <a:defRPr sz="2000" b="1">
                <a:solidFill>
                  <a:srgbClr val="232F3E"/>
                </a:solidFill>
                <a:latin typeface="Calibri"/>
              </a:defRPr>
            </a:pPr>
            <a:r>
              <a:rPr dirty="0">
                <a:solidFill>
                  <a:schemeClr val="accent4"/>
                </a:solidFill>
              </a:rPr>
              <a:t>Evaluation Metrics:</a:t>
            </a:r>
          </a:p>
        </p:txBody>
      </p:sp>
      <p:sp>
        <p:nvSpPr>
          <p:cNvPr id="7" name="TextBox 6"/>
          <p:cNvSpPr txBox="1"/>
          <p:nvPr/>
        </p:nvSpPr>
        <p:spPr>
          <a:xfrm>
            <a:off x="6547557" y="2514600"/>
            <a:ext cx="5029200" cy="1672253"/>
          </a:xfrm>
          <a:prstGeom prst="rect">
            <a:avLst/>
          </a:prstGeom>
          <a:noFill/>
        </p:spPr>
        <p:txBody>
          <a:bodyPr wrap="square">
            <a:spAutoFit/>
          </a:bodyPr>
          <a:lstStyle/>
          <a:p>
            <a:pPr>
              <a:spcAft>
                <a:spcPts val="800"/>
              </a:spcAft>
              <a:defRPr sz="1600">
                <a:solidFill>
                  <a:srgbClr val="232F3E"/>
                </a:solidFill>
                <a:latin typeface="Calibri"/>
              </a:defRPr>
            </a:pPr>
            <a:r>
              <a:rPr dirty="0"/>
              <a:t>• </a:t>
            </a:r>
            <a:r>
              <a:rPr sz="1500" dirty="0"/>
              <a:t>Recall — catch as much fraud as possible</a:t>
            </a:r>
          </a:p>
          <a:p>
            <a:pPr>
              <a:spcAft>
                <a:spcPts val="800"/>
              </a:spcAft>
              <a:defRPr sz="1600">
                <a:solidFill>
                  <a:srgbClr val="232F3E"/>
                </a:solidFill>
                <a:latin typeface="Calibri"/>
              </a:defRPr>
            </a:pPr>
            <a:r>
              <a:rPr sz="1500" dirty="0"/>
              <a:t>• Precision — minimize false alarms</a:t>
            </a:r>
          </a:p>
          <a:p>
            <a:pPr>
              <a:spcAft>
                <a:spcPts val="800"/>
              </a:spcAft>
              <a:defRPr sz="1600">
                <a:solidFill>
                  <a:srgbClr val="232F3E"/>
                </a:solidFill>
                <a:latin typeface="Calibri"/>
              </a:defRPr>
            </a:pPr>
            <a:r>
              <a:rPr sz="1500" dirty="0"/>
              <a:t>• F1-Score — harmonic mean of precision/recall</a:t>
            </a:r>
          </a:p>
          <a:p>
            <a:pPr>
              <a:spcAft>
                <a:spcPts val="800"/>
              </a:spcAft>
              <a:defRPr sz="1600">
                <a:solidFill>
                  <a:srgbClr val="232F3E"/>
                </a:solidFill>
                <a:latin typeface="Calibri"/>
              </a:defRPr>
            </a:pPr>
            <a:r>
              <a:rPr sz="1500" dirty="0"/>
              <a:t>• PR-AUC — primary metric for imbalanced data</a:t>
            </a:r>
          </a:p>
          <a:p>
            <a:pPr>
              <a:spcAft>
                <a:spcPts val="800"/>
              </a:spcAft>
              <a:defRPr sz="1600">
                <a:solidFill>
                  <a:srgbClr val="232F3E"/>
                </a:solidFill>
                <a:latin typeface="Calibri"/>
              </a:defRPr>
            </a:pPr>
            <a:r>
              <a:rPr sz="1500" dirty="0"/>
              <a:t>• ROC-AUC — overall discrimination ability</a:t>
            </a:r>
          </a:p>
        </p:txBody>
      </p:sp>
      <p:sp>
        <p:nvSpPr>
          <p:cNvPr id="8" name="Rounded Rectangle 7">
            <a:extLst>
              <a:ext uri="{FF2B5EF4-FFF2-40B4-BE49-F238E27FC236}">
                <a16:creationId xmlns:a16="http://schemas.microsoft.com/office/drawing/2014/main" id="{11CE488D-76C1-B14B-17C5-87462480C2D5}"/>
              </a:ext>
            </a:extLst>
          </p:cNvPr>
          <p:cNvSpPr/>
          <p:nvPr/>
        </p:nvSpPr>
        <p:spPr>
          <a:xfrm>
            <a:off x="731520" y="4572000"/>
            <a:ext cx="5029200" cy="18288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52193BA-F7D4-0C5E-6570-66E6A5ADB854}"/>
              </a:ext>
            </a:extLst>
          </p:cNvPr>
          <p:cNvSpPr txBox="1"/>
          <p:nvPr/>
        </p:nvSpPr>
        <p:spPr>
          <a:xfrm>
            <a:off x="914400" y="4663440"/>
            <a:ext cx="4754880" cy="365760"/>
          </a:xfrm>
          <a:prstGeom prst="rect">
            <a:avLst/>
          </a:prstGeom>
          <a:noFill/>
        </p:spPr>
        <p:txBody>
          <a:bodyPr wrap="square">
            <a:spAutoFit/>
          </a:bodyPr>
          <a:lstStyle/>
          <a:p>
            <a:pPr algn="l">
              <a:defRPr sz="2000" b="1">
                <a:solidFill>
                  <a:srgbClr val="00A3E0"/>
                </a:solidFill>
                <a:latin typeface="Calibri"/>
              </a:defRPr>
            </a:pPr>
            <a:r>
              <a:rPr dirty="0"/>
              <a:t>Source</a:t>
            </a:r>
          </a:p>
        </p:txBody>
      </p:sp>
      <p:sp>
        <p:nvSpPr>
          <p:cNvPr id="10" name="TextBox 9">
            <a:extLst>
              <a:ext uri="{FF2B5EF4-FFF2-40B4-BE49-F238E27FC236}">
                <a16:creationId xmlns:a16="http://schemas.microsoft.com/office/drawing/2014/main" id="{DB20773E-54C2-1CBA-0908-F6E8ADDF21E6}"/>
              </a:ext>
            </a:extLst>
          </p:cNvPr>
          <p:cNvSpPr txBox="1"/>
          <p:nvPr/>
        </p:nvSpPr>
        <p:spPr>
          <a:xfrm>
            <a:off x="914400" y="5120640"/>
            <a:ext cx="4754880" cy="1097280"/>
          </a:xfrm>
          <a:prstGeom prst="rect">
            <a:avLst/>
          </a:prstGeom>
          <a:noFill/>
        </p:spPr>
        <p:txBody>
          <a:bodyPr wrap="square">
            <a:spAutoFit/>
          </a:bodyPr>
          <a:lstStyle/>
          <a:p>
            <a:pPr>
              <a:spcAft>
                <a:spcPts val="800"/>
              </a:spcAft>
              <a:defRPr sz="1500">
                <a:solidFill>
                  <a:srgbClr val="232F3E"/>
                </a:solidFill>
                <a:latin typeface="Calibri"/>
              </a:defRPr>
            </a:pPr>
            <a:r>
              <a:rPr dirty="0"/>
              <a:t>• Kaggle: kartik2112/fraud-detection</a:t>
            </a:r>
          </a:p>
          <a:p>
            <a:pPr>
              <a:spcAft>
                <a:spcPts val="800"/>
              </a:spcAft>
              <a:defRPr sz="1500">
                <a:solidFill>
                  <a:srgbClr val="232F3E"/>
                </a:solidFill>
                <a:latin typeface="Calibri"/>
              </a:defRPr>
            </a:pPr>
            <a:r>
              <a:rPr dirty="0"/>
              <a:t>• Transaction-level labeled data</a:t>
            </a:r>
          </a:p>
          <a:p>
            <a:pPr>
              <a:spcAft>
                <a:spcPts val="800"/>
              </a:spcAft>
              <a:defRPr sz="1500">
                <a:solidFill>
                  <a:srgbClr val="232F3E"/>
                </a:solidFill>
                <a:latin typeface="Calibri"/>
              </a:defRPr>
            </a:pPr>
            <a:r>
              <a:rPr dirty="0"/>
              <a:t>• </a:t>
            </a:r>
            <a:r>
              <a:rPr dirty="0" err="1"/>
              <a:t>fraudTrain.csv</a:t>
            </a:r>
            <a:r>
              <a:rPr dirty="0"/>
              <a:t> used for training</a:t>
            </a:r>
          </a:p>
        </p:txBody>
      </p:sp>
      <p:sp>
        <p:nvSpPr>
          <p:cNvPr id="11" name="Rounded Rectangle 10">
            <a:extLst>
              <a:ext uri="{FF2B5EF4-FFF2-40B4-BE49-F238E27FC236}">
                <a16:creationId xmlns:a16="http://schemas.microsoft.com/office/drawing/2014/main" id="{0CB4EBAA-0110-D2E3-550A-AFCE5D1267AE}"/>
              </a:ext>
            </a:extLst>
          </p:cNvPr>
          <p:cNvSpPr/>
          <p:nvPr/>
        </p:nvSpPr>
        <p:spPr>
          <a:xfrm>
            <a:off x="6400800" y="4572000"/>
            <a:ext cx="5029200" cy="182880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ADFCE86E-DE5C-AC0C-474C-549CED27573F}"/>
              </a:ext>
            </a:extLst>
          </p:cNvPr>
          <p:cNvSpPr txBox="1"/>
          <p:nvPr/>
        </p:nvSpPr>
        <p:spPr>
          <a:xfrm>
            <a:off x="6583680" y="4663440"/>
            <a:ext cx="4754880" cy="365760"/>
          </a:xfrm>
          <a:prstGeom prst="rect">
            <a:avLst/>
          </a:prstGeom>
          <a:noFill/>
        </p:spPr>
        <p:txBody>
          <a:bodyPr wrap="square">
            <a:spAutoFit/>
          </a:bodyPr>
          <a:lstStyle/>
          <a:p>
            <a:pPr algn="l">
              <a:defRPr sz="2000" b="1">
                <a:solidFill>
                  <a:srgbClr val="FF9900"/>
                </a:solidFill>
                <a:latin typeface="Calibri"/>
              </a:defRPr>
            </a:pPr>
            <a:r>
              <a:t>Class Distribution</a:t>
            </a:r>
          </a:p>
        </p:txBody>
      </p:sp>
      <p:sp>
        <p:nvSpPr>
          <p:cNvPr id="13" name="TextBox 12">
            <a:extLst>
              <a:ext uri="{FF2B5EF4-FFF2-40B4-BE49-F238E27FC236}">
                <a16:creationId xmlns:a16="http://schemas.microsoft.com/office/drawing/2014/main" id="{193C20DF-0B9A-B565-19CE-7AA781FEC85F}"/>
              </a:ext>
            </a:extLst>
          </p:cNvPr>
          <p:cNvSpPr txBox="1"/>
          <p:nvPr/>
        </p:nvSpPr>
        <p:spPr>
          <a:xfrm>
            <a:off x="6583680" y="5120640"/>
            <a:ext cx="4754880" cy="1097280"/>
          </a:xfrm>
          <a:prstGeom prst="rect">
            <a:avLst/>
          </a:prstGeom>
          <a:noFill/>
        </p:spPr>
        <p:txBody>
          <a:bodyPr wrap="square">
            <a:spAutoFit/>
          </a:bodyPr>
          <a:lstStyle/>
          <a:p>
            <a:pPr>
              <a:spcAft>
                <a:spcPts val="800"/>
              </a:spcAft>
              <a:defRPr sz="1500">
                <a:solidFill>
                  <a:srgbClr val="232F3E"/>
                </a:solidFill>
                <a:latin typeface="Calibri"/>
              </a:defRPr>
            </a:pPr>
            <a:r>
              <a:t>• Highly imbalanced dataset</a:t>
            </a:r>
          </a:p>
          <a:p>
            <a:pPr>
              <a:spcAft>
                <a:spcPts val="800"/>
              </a:spcAft>
              <a:defRPr sz="1500">
                <a:solidFill>
                  <a:srgbClr val="232F3E"/>
                </a:solidFill>
                <a:latin typeface="Calibri"/>
              </a:defRPr>
            </a:pPr>
            <a:r>
              <a:t>• Legitimate: ~99.4%</a:t>
            </a:r>
          </a:p>
          <a:p>
            <a:pPr>
              <a:spcAft>
                <a:spcPts val="800"/>
              </a:spcAft>
              <a:defRPr sz="1500">
                <a:solidFill>
                  <a:srgbClr val="232F3E"/>
                </a:solidFill>
                <a:latin typeface="Calibri"/>
              </a:defRPr>
            </a:pPr>
            <a:r>
              <a:t>• Fraudulent: ~0.6%</a:t>
            </a:r>
          </a:p>
        </p:txBody>
      </p:sp>
      <p:sp>
        <p:nvSpPr>
          <p:cNvPr id="14" name="TextBox 13">
            <a:extLst>
              <a:ext uri="{FF2B5EF4-FFF2-40B4-BE49-F238E27FC236}">
                <a16:creationId xmlns:a16="http://schemas.microsoft.com/office/drawing/2014/main" id="{17AE554A-DE68-2CB0-1AF9-2512E252B9BE}"/>
              </a:ext>
            </a:extLst>
          </p:cNvPr>
          <p:cNvSpPr txBox="1"/>
          <p:nvPr/>
        </p:nvSpPr>
        <p:spPr>
          <a:xfrm>
            <a:off x="731520" y="6492240"/>
            <a:ext cx="10515600" cy="457200"/>
          </a:xfrm>
          <a:prstGeom prst="rect">
            <a:avLst/>
          </a:prstGeom>
          <a:noFill/>
        </p:spPr>
        <p:txBody>
          <a:bodyPr wrap="square">
            <a:spAutoFit/>
          </a:bodyPr>
          <a:lstStyle/>
          <a:p>
            <a:pPr algn="l">
              <a:defRPr sz="1600" b="0">
                <a:solidFill>
                  <a:srgbClr val="232F3E"/>
                </a:solidFill>
                <a:latin typeface="Calibri"/>
              </a:defRPr>
            </a:pPr>
            <a:r>
              <a:rPr dirty="0"/>
              <a:t>Train/Test Split: 80/20 with stratification on target variable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t>ML Pipeline</a:t>
            </a:r>
          </a:p>
        </p:txBody>
      </p:sp>
      <p:sp>
        <p:nvSpPr>
          <p:cNvPr id="3" name="Rounded Rectangle 2"/>
          <p:cNvSpPr/>
          <p:nvPr/>
        </p:nvSpPr>
        <p:spPr>
          <a:xfrm>
            <a:off x="457200" y="1645920"/>
            <a:ext cx="1280160" cy="118872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1. Data</a:t>
            </a:r>
            <a:br/>
            <a:r>
              <a:t>Loading</a:t>
            </a:r>
          </a:p>
        </p:txBody>
      </p:sp>
      <p:sp>
        <p:nvSpPr>
          <p:cNvPr id="4" name="TextBox 3"/>
          <p:cNvSpPr txBox="1"/>
          <p:nvPr/>
        </p:nvSpPr>
        <p:spPr>
          <a:xfrm>
            <a:off x="169164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5" name="Rounded Rectangle 4"/>
          <p:cNvSpPr/>
          <p:nvPr/>
        </p:nvSpPr>
        <p:spPr>
          <a:xfrm>
            <a:off x="1874519" y="1645920"/>
            <a:ext cx="1280160" cy="118872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2. Pre-</a:t>
            </a:r>
            <a:br/>
            <a:r>
              <a:t>processing</a:t>
            </a:r>
          </a:p>
        </p:txBody>
      </p:sp>
      <p:sp>
        <p:nvSpPr>
          <p:cNvPr id="6" name="TextBox 5"/>
          <p:cNvSpPr txBox="1"/>
          <p:nvPr/>
        </p:nvSpPr>
        <p:spPr>
          <a:xfrm>
            <a:off x="310896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7" name="Rounded Rectangle 6"/>
          <p:cNvSpPr/>
          <p:nvPr/>
        </p:nvSpPr>
        <p:spPr>
          <a:xfrm>
            <a:off x="3291840" y="1645920"/>
            <a:ext cx="1280160" cy="118872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3. Feature</a:t>
            </a:r>
            <a:br/>
            <a:r>
              <a:t>Engineering</a:t>
            </a:r>
          </a:p>
        </p:txBody>
      </p:sp>
      <p:sp>
        <p:nvSpPr>
          <p:cNvPr id="8" name="TextBox 7"/>
          <p:cNvSpPr txBox="1"/>
          <p:nvPr/>
        </p:nvSpPr>
        <p:spPr>
          <a:xfrm>
            <a:off x="452628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9" name="Rounded Rectangle 8"/>
          <p:cNvSpPr/>
          <p:nvPr/>
        </p:nvSpPr>
        <p:spPr>
          <a:xfrm>
            <a:off x="4709160" y="1645920"/>
            <a:ext cx="1280160" cy="118872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4. Feature</a:t>
            </a:r>
            <a:br/>
            <a:r>
              <a:t>Selection</a:t>
            </a:r>
          </a:p>
        </p:txBody>
      </p:sp>
      <p:sp>
        <p:nvSpPr>
          <p:cNvPr id="10" name="TextBox 9"/>
          <p:cNvSpPr txBox="1"/>
          <p:nvPr/>
        </p:nvSpPr>
        <p:spPr>
          <a:xfrm>
            <a:off x="594360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11" name="Rounded Rectangle 10"/>
          <p:cNvSpPr/>
          <p:nvPr/>
        </p:nvSpPr>
        <p:spPr>
          <a:xfrm>
            <a:off x="6126480" y="1645920"/>
            <a:ext cx="1280160" cy="118872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5. SMOTE</a:t>
            </a:r>
            <a:br/>
            <a:r>
              <a:t>Balancing</a:t>
            </a:r>
          </a:p>
        </p:txBody>
      </p:sp>
      <p:sp>
        <p:nvSpPr>
          <p:cNvPr id="12" name="TextBox 11"/>
          <p:cNvSpPr txBox="1"/>
          <p:nvPr/>
        </p:nvSpPr>
        <p:spPr>
          <a:xfrm>
            <a:off x="736092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13" name="Rounded Rectangle 12"/>
          <p:cNvSpPr/>
          <p:nvPr/>
        </p:nvSpPr>
        <p:spPr>
          <a:xfrm>
            <a:off x="7543800" y="1645920"/>
            <a:ext cx="1280160" cy="118872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6. Model</a:t>
            </a:r>
            <a:br/>
            <a:r>
              <a:t>Training</a:t>
            </a:r>
          </a:p>
        </p:txBody>
      </p:sp>
      <p:sp>
        <p:nvSpPr>
          <p:cNvPr id="14" name="TextBox 13"/>
          <p:cNvSpPr txBox="1"/>
          <p:nvPr/>
        </p:nvSpPr>
        <p:spPr>
          <a:xfrm>
            <a:off x="877824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15" name="Rounded Rectangle 14"/>
          <p:cNvSpPr/>
          <p:nvPr/>
        </p:nvSpPr>
        <p:spPr>
          <a:xfrm>
            <a:off x="8961120" y="1645920"/>
            <a:ext cx="1280160" cy="1188720"/>
          </a:xfrm>
          <a:prstGeom prst="roundRect">
            <a:avLst/>
          </a:prstGeom>
          <a:solidFill>
            <a:srgbClr val="E8E0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7. Hyper-</a:t>
            </a:r>
            <a:br/>
            <a:r>
              <a:t>parameter</a:t>
            </a:r>
            <a:br/>
            <a:r>
              <a:t>Tuning</a:t>
            </a:r>
          </a:p>
        </p:txBody>
      </p:sp>
      <p:sp>
        <p:nvSpPr>
          <p:cNvPr id="16" name="TextBox 15"/>
          <p:cNvSpPr txBox="1"/>
          <p:nvPr/>
        </p:nvSpPr>
        <p:spPr>
          <a:xfrm>
            <a:off x="10195560" y="1920240"/>
            <a:ext cx="274320" cy="457200"/>
          </a:xfrm>
          <a:prstGeom prst="rect">
            <a:avLst/>
          </a:prstGeom>
          <a:noFill/>
        </p:spPr>
        <p:txBody>
          <a:bodyPr wrap="square">
            <a:spAutoFit/>
          </a:bodyPr>
          <a:lstStyle/>
          <a:p>
            <a:pPr algn="ctr">
              <a:defRPr sz="2200" b="1">
                <a:solidFill>
                  <a:srgbClr val="00A3E0"/>
                </a:solidFill>
                <a:latin typeface="Calibri"/>
              </a:defRPr>
            </a:pPr>
            <a:r>
              <a:t>→</a:t>
            </a:r>
          </a:p>
        </p:txBody>
      </p:sp>
      <p:sp>
        <p:nvSpPr>
          <p:cNvPr id="17" name="Rounded Rectangle 16"/>
          <p:cNvSpPr/>
          <p:nvPr/>
        </p:nvSpPr>
        <p:spPr>
          <a:xfrm>
            <a:off x="10378440" y="1645920"/>
            <a:ext cx="1280160" cy="1188720"/>
          </a:xfrm>
          <a:prstGeom prst="roundRect">
            <a:avLst/>
          </a:prstGeom>
          <a:solidFill>
            <a:srgbClr val="E8E0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8. Eval &amp;</a:t>
            </a:r>
            <a:br/>
            <a:r>
              <a:t>SHAP</a:t>
            </a:r>
          </a:p>
        </p:txBody>
      </p:sp>
      <p:sp>
        <p:nvSpPr>
          <p:cNvPr id="18" name="TextBox 17"/>
          <p:cNvSpPr txBox="1"/>
          <p:nvPr/>
        </p:nvSpPr>
        <p:spPr>
          <a:xfrm>
            <a:off x="731520" y="3291840"/>
            <a:ext cx="10515600" cy="457200"/>
          </a:xfrm>
          <a:prstGeom prst="rect">
            <a:avLst/>
          </a:prstGeom>
          <a:noFill/>
        </p:spPr>
        <p:txBody>
          <a:bodyPr wrap="square">
            <a:spAutoFit/>
          </a:bodyPr>
          <a:lstStyle/>
          <a:p>
            <a:pPr algn="l">
              <a:defRPr sz="2000" b="1">
                <a:solidFill>
                  <a:srgbClr val="232F3E"/>
                </a:solidFill>
                <a:latin typeface="Calibri"/>
              </a:defRPr>
            </a:pPr>
            <a:r>
              <a:t>Key Pipeline Details:</a:t>
            </a:r>
          </a:p>
        </p:txBody>
      </p:sp>
      <p:sp>
        <p:nvSpPr>
          <p:cNvPr id="19" name="TextBox 18"/>
          <p:cNvSpPr txBox="1"/>
          <p:nvPr/>
        </p:nvSpPr>
        <p:spPr>
          <a:xfrm>
            <a:off x="731520" y="3749039"/>
            <a:ext cx="5029200" cy="990015"/>
          </a:xfrm>
          <a:prstGeom prst="rect">
            <a:avLst/>
          </a:prstGeom>
          <a:noFill/>
        </p:spPr>
        <p:txBody>
          <a:bodyPr wrap="square">
            <a:spAutoFit/>
          </a:bodyPr>
          <a:lstStyle/>
          <a:p>
            <a:pPr>
              <a:spcAft>
                <a:spcPts val="800"/>
              </a:spcAft>
              <a:defRPr sz="1500">
                <a:solidFill>
                  <a:srgbClr val="232F3E"/>
                </a:solidFill>
                <a:latin typeface="Calibri"/>
              </a:defRPr>
            </a:pPr>
            <a:r>
              <a:rPr dirty="0"/>
              <a:t>• </a:t>
            </a:r>
            <a:r>
              <a:rPr dirty="0" err="1"/>
              <a:t>Winsorization</a:t>
            </a:r>
            <a:r>
              <a:rPr dirty="0"/>
              <a:t> for outlier handling (amt)</a:t>
            </a:r>
          </a:p>
          <a:p>
            <a:pPr>
              <a:spcAft>
                <a:spcPts val="800"/>
              </a:spcAft>
              <a:defRPr sz="1500">
                <a:solidFill>
                  <a:srgbClr val="232F3E"/>
                </a:solidFill>
                <a:latin typeface="Calibri"/>
              </a:defRPr>
            </a:pPr>
            <a:r>
              <a:rPr dirty="0"/>
              <a:t>• Label encoding for </a:t>
            </a:r>
            <a:r>
              <a:rPr dirty="0" err="1"/>
              <a:t>categoricals</a:t>
            </a:r>
            <a:endParaRPr dirty="0"/>
          </a:p>
          <a:p>
            <a:pPr>
              <a:spcAft>
                <a:spcPts val="800"/>
              </a:spcAft>
              <a:defRPr sz="1500">
                <a:solidFill>
                  <a:srgbClr val="232F3E"/>
                </a:solidFill>
                <a:latin typeface="Calibri"/>
              </a:defRPr>
            </a:pPr>
            <a:r>
              <a:rPr dirty="0"/>
              <a:t>• </a:t>
            </a:r>
            <a:r>
              <a:rPr dirty="0" err="1"/>
              <a:t>StandardScaler</a:t>
            </a:r>
            <a:r>
              <a:rPr dirty="0"/>
              <a:t> for numerical features</a:t>
            </a:r>
          </a:p>
        </p:txBody>
      </p:sp>
      <p:sp>
        <p:nvSpPr>
          <p:cNvPr id="20" name="TextBox 19"/>
          <p:cNvSpPr txBox="1"/>
          <p:nvPr/>
        </p:nvSpPr>
        <p:spPr>
          <a:xfrm>
            <a:off x="6400800" y="3749039"/>
            <a:ext cx="5029200" cy="2286000"/>
          </a:xfrm>
          <a:prstGeom prst="rect">
            <a:avLst/>
          </a:prstGeom>
          <a:noFill/>
        </p:spPr>
        <p:txBody>
          <a:bodyPr wrap="square">
            <a:spAutoFit/>
          </a:bodyPr>
          <a:lstStyle/>
          <a:p>
            <a:pPr>
              <a:spcAft>
                <a:spcPts val="800"/>
              </a:spcAft>
              <a:defRPr sz="1500">
                <a:solidFill>
                  <a:srgbClr val="232F3E"/>
                </a:solidFill>
                <a:latin typeface="Calibri"/>
              </a:defRPr>
            </a:pPr>
            <a:r>
              <a:t>• Time features: hour, day, month, year, day_of_week</a:t>
            </a:r>
          </a:p>
          <a:p>
            <a:pPr>
              <a:spcAft>
                <a:spcPts val="800"/>
              </a:spcAft>
              <a:defRPr sz="1500">
                <a:solidFill>
                  <a:srgbClr val="232F3E"/>
                </a:solidFill>
                <a:latin typeface="Calibri"/>
              </a:defRPr>
            </a:pPr>
            <a:r>
              <a:t>• Age derived from DOB and transaction date</a:t>
            </a:r>
          </a:p>
          <a:p>
            <a:pPr>
              <a:spcAft>
                <a:spcPts val="800"/>
              </a:spcAft>
              <a:defRPr sz="1500">
                <a:solidFill>
                  <a:srgbClr val="232F3E"/>
                </a:solidFill>
                <a:latin typeface="Calibri"/>
              </a:defRPr>
            </a:pPr>
            <a:r>
              <a:t>• Amount binning (5 bins)</a:t>
            </a:r>
          </a:p>
          <a:p>
            <a:pPr>
              <a:spcAft>
                <a:spcPts val="800"/>
              </a:spcAft>
              <a:defRPr sz="1500">
                <a:solidFill>
                  <a:srgbClr val="232F3E"/>
                </a:solidFill>
                <a:latin typeface="Calibri"/>
              </a:defRPr>
            </a:pPr>
            <a:r>
              <a:t>• SelectKBest (f_classif) → 15 features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rPr dirty="0"/>
              <a:t>Handling Class Imbalance </a:t>
            </a:r>
            <a:r>
              <a:rPr lang="en-US" dirty="0"/>
              <a:t>with</a:t>
            </a:r>
            <a:r>
              <a:rPr dirty="0"/>
              <a:t> SMOTE</a:t>
            </a:r>
          </a:p>
        </p:txBody>
      </p:sp>
      <p:sp>
        <p:nvSpPr>
          <p:cNvPr id="3" name="TextBox 2"/>
          <p:cNvSpPr txBox="1"/>
          <p:nvPr/>
        </p:nvSpPr>
        <p:spPr>
          <a:xfrm>
            <a:off x="731520" y="1188720"/>
            <a:ext cx="10515600" cy="731520"/>
          </a:xfrm>
          <a:prstGeom prst="rect">
            <a:avLst/>
          </a:prstGeom>
          <a:noFill/>
        </p:spPr>
        <p:txBody>
          <a:bodyPr wrap="square">
            <a:spAutoFit/>
          </a:bodyPr>
          <a:lstStyle/>
          <a:p>
            <a:pPr algn="l">
              <a:defRPr sz="1800" b="0">
                <a:solidFill>
                  <a:srgbClr val="232F3E"/>
                </a:solidFill>
                <a:latin typeface="Calibri"/>
              </a:defRPr>
            </a:pPr>
            <a:r>
              <a:t>SMOTE (Synthetic Minority Oversampling Technique) generates synthetic samples for the minority class by interpolating between existing minority samples and their nearest neighbors.</a:t>
            </a:r>
          </a:p>
        </p:txBody>
      </p:sp>
      <p:sp>
        <p:nvSpPr>
          <p:cNvPr id="4" name="Rounded Rectangle 3"/>
          <p:cNvSpPr/>
          <p:nvPr/>
        </p:nvSpPr>
        <p:spPr>
          <a:xfrm>
            <a:off x="731520" y="2286000"/>
            <a:ext cx="5029200" cy="1828800"/>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377440"/>
            <a:ext cx="4754880" cy="365760"/>
          </a:xfrm>
          <a:prstGeom prst="rect">
            <a:avLst/>
          </a:prstGeom>
          <a:noFill/>
        </p:spPr>
        <p:txBody>
          <a:bodyPr wrap="square">
            <a:spAutoFit/>
          </a:bodyPr>
          <a:lstStyle/>
          <a:p>
            <a:pPr algn="l">
              <a:defRPr sz="2000" b="1">
                <a:solidFill>
                  <a:srgbClr val="E74C3C"/>
                </a:solidFill>
                <a:latin typeface="Calibri"/>
              </a:defRPr>
            </a:pPr>
            <a:r>
              <a:t>Before SMOTE</a:t>
            </a:r>
          </a:p>
        </p:txBody>
      </p:sp>
      <p:sp>
        <p:nvSpPr>
          <p:cNvPr id="6" name="TextBox 5"/>
          <p:cNvSpPr txBox="1"/>
          <p:nvPr/>
        </p:nvSpPr>
        <p:spPr>
          <a:xfrm>
            <a:off x="914400" y="2834640"/>
            <a:ext cx="4754880" cy="1097280"/>
          </a:xfrm>
          <a:prstGeom prst="rect">
            <a:avLst/>
          </a:prstGeom>
          <a:noFill/>
        </p:spPr>
        <p:txBody>
          <a:bodyPr wrap="square">
            <a:spAutoFit/>
          </a:bodyPr>
          <a:lstStyle/>
          <a:p>
            <a:pPr>
              <a:spcAft>
                <a:spcPts val="800"/>
              </a:spcAft>
              <a:defRPr sz="1500">
                <a:solidFill>
                  <a:srgbClr val="232F3E"/>
                </a:solidFill>
                <a:latin typeface="Calibri"/>
              </a:defRPr>
            </a:pPr>
            <a:r>
              <a:t>• Legitimate: ~99.4% (1,031,335 samples)</a:t>
            </a:r>
          </a:p>
          <a:p>
            <a:pPr>
              <a:spcAft>
                <a:spcPts val="800"/>
              </a:spcAft>
              <a:defRPr sz="1500">
                <a:solidFill>
                  <a:srgbClr val="232F3E"/>
                </a:solidFill>
                <a:latin typeface="Calibri"/>
              </a:defRPr>
            </a:pPr>
            <a:r>
              <a:t>• Fraudulent: ~0.6% (6,005 samples)</a:t>
            </a:r>
          </a:p>
          <a:p>
            <a:pPr>
              <a:spcAft>
                <a:spcPts val="800"/>
              </a:spcAft>
              <a:defRPr sz="1500">
                <a:solidFill>
                  <a:srgbClr val="232F3E"/>
                </a:solidFill>
                <a:latin typeface="Calibri"/>
              </a:defRPr>
            </a:pPr>
            <a:r>
              <a:t>• Ratio: ~172:1</a:t>
            </a:r>
          </a:p>
        </p:txBody>
      </p:sp>
      <p:sp>
        <p:nvSpPr>
          <p:cNvPr id="7" name="Rounded Rectangle 6"/>
          <p:cNvSpPr/>
          <p:nvPr/>
        </p:nvSpPr>
        <p:spPr>
          <a:xfrm>
            <a:off x="6400800" y="2286000"/>
            <a:ext cx="5029200" cy="182880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2377440"/>
            <a:ext cx="4754880" cy="365760"/>
          </a:xfrm>
          <a:prstGeom prst="rect">
            <a:avLst/>
          </a:prstGeom>
          <a:noFill/>
        </p:spPr>
        <p:txBody>
          <a:bodyPr wrap="square">
            <a:spAutoFit/>
          </a:bodyPr>
          <a:lstStyle/>
          <a:p>
            <a:pPr algn="l">
              <a:defRPr sz="2000" b="1">
                <a:solidFill>
                  <a:srgbClr val="2ECC71"/>
                </a:solidFill>
                <a:latin typeface="Calibri"/>
              </a:defRPr>
            </a:pPr>
            <a:r>
              <a:t>After SMOTE</a:t>
            </a:r>
          </a:p>
        </p:txBody>
      </p:sp>
      <p:sp>
        <p:nvSpPr>
          <p:cNvPr id="9" name="TextBox 8"/>
          <p:cNvSpPr txBox="1"/>
          <p:nvPr/>
        </p:nvSpPr>
        <p:spPr>
          <a:xfrm>
            <a:off x="6583680" y="2834640"/>
            <a:ext cx="4754880" cy="1097280"/>
          </a:xfrm>
          <a:prstGeom prst="rect">
            <a:avLst/>
          </a:prstGeom>
          <a:noFill/>
        </p:spPr>
        <p:txBody>
          <a:bodyPr wrap="square">
            <a:spAutoFit/>
          </a:bodyPr>
          <a:lstStyle/>
          <a:p>
            <a:pPr>
              <a:spcAft>
                <a:spcPts val="800"/>
              </a:spcAft>
              <a:defRPr sz="1500">
                <a:solidFill>
                  <a:srgbClr val="232F3E"/>
                </a:solidFill>
                <a:latin typeface="Calibri"/>
              </a:defRPr>
            </a:pPr>
            <a:r>
              <a:t>• Legitimate: 50% (1,031,335 samples)</a:t>
            </a:r>
          </a:p>
          <a:p>
            <a:pPr>
              <a:spcAft>
                <a:spcPts val="800"/>
              </a:spcAft>
              <a:defRPr sz="1500">
                <a:solidFill>
                  <a:srgbClr val="232F3E"/>
                </a:solidFill>
                <a:latin typeface="Calibri"/>
              </a:defRPr>
            </a:pPr>
            <a:r>
              <a:t>• Fraudulent: 50% (1,031,335 synthetic)</a:t>
            </a:r>
          </a:p>
          <a:p>
            <a:pPr>
              <a:spcAft>
                <a:spcPts val="800"/>
              </a:spcAft>
              <a:defRPr sz="1500">
                <a:solidFill>
                  <a:srgbClr val="232F3E"/>
                </a:solidFill>
                <a:latin typeface="Calibri"/>
              </a:defRPr>
            </a:pPr>
            <a:r>
              <a:t>• Total training: 2,062,670 samples</a:t>
            </a:r>
          </a:p>
        </p:txBody>
      </p:sp>
      <p:sp>
        <p:nvSpPr>
          <p:cNvPr id="10" name="Rounded Rectangle 9"/>
          <p:cNvSpPr/>
          <p:nvPr/>
        </p:nvSpPr>
        <p:spPr>
          <a:xfrm>
            <a:off x="731520" y="4572000"/>
            <a:ext cx="10515600" cy="9144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232F3E"/>
                </a:solidFill>
                <a:latin typeface="Calibri"/>
              </a:defRPr>
            </a:pPr>
            <a:r>
              <a:t>SMOTE applied ONLY to training data to prevent data leakage. Test set remains untouched.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rPr dirty="0"/>
              <a:t>Model Compariso</a:t>
            </a:r>
            <a:r>
              <a:rPr lang="en-US" dirty="0"/>
              <a:t>n</a:t>
            </a:r>
            <a:endParaRPr dirty="0"/>
          </a:p>
        </p:txBody>
      </p:sp>
      <p:sp>
        <p:nvSpPr>
          <p:cNvPr id="3" name="Rounded Rectangle 2"/>
          <p:cNvSpPr/>
          <p:nvPr/>
        </p:nvSpPr>
        <p:spPr>
          <a:xfrm>
            <a:off x="731520" y="1097280"/>
            <a:ext cx="320040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Model</a:t>
            </a:r>
          </a:p>
        </p:txBody>
      </p:sp>
      <p:sp>
        <p:nvSpPr>
          <p:cNvPr id="4" name="Rounded Rectangle 3"/>
          <p:cNvSpPr/>
          <p:nvPr/>
        </p:nvSpPr>
        <p:spPr>
          <a:xfrm>
            <a:off x="3931920" y="1097280"/>
            <a:ext cx="146304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Precision</a:t>
            </a:r>
          </a:p>
        </p:txBody>
      </p:sp>
      <p:sp>
        <p:nvSpPr>
          <p:cNvPr id="5" name="Rounded Rectangle 4"/>
          <p:cNvSpPr/>
          <p:nvPr/>
        </p:nvSpPr>
        <p:spPr>
          <a:xfrm>
            <a:off x="5394960" y="1097280"/>
            <a:ext cx="146304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Recall</a:t>
            </a:r>
          </a:p>
        </p:txBody>
      </p:sp>
      <p:sp>
        <p:nvSpPr>
          <p:cNvPr id="6" name="Rounded Rectangle 5"/>
          <p:cNvSpPr/>
          <p:nvPr/>
        </p:nvSpPr>
        <p:spPr>
          <a:xfrm>
            <a:off x="6858000" y="1097280"/>
            <a:ext cx="146304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F1-Score</a:t>
            </a:r>
          </a:p>
        </p:txBody>
      </p:sp>
      <p:sp>
        <p:nvSpPr>
          <p:cNvPr id="7" name="Rounded Rectangle 6"/>
          <p:cNvSpPr/>
          <p:nvPr/>
        </p:nvSpPr>
        <p:spPr>
          <a:xfrm>
            <a:off x="8321040" y="1097280"/>
            <a:ext cx="146304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ROC-AUC</a:t>
            </a:r>
          </a:p>
        </p:txBody>
      </p:sp>
      <p:sp>
        <p:nvSpPr>
          <p:cNvPr id="8" name="Rounded Rectangle 7"/>
          <p:cNvSpPr/>
          <p:nvPr/>
        </p:nvSpPr>
        <p:spPr>
          <a:xfrm>
            <a:off x="9784080" y="1097280"/>
            <a:ext cx="146304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PR-AUC</a:t>
            </a:r>
          </a:p>
        </p:txBody>
      </p:sp>
      <p:sp>
        <p:nvSpPr>
          <p:cNvPr id="9" name="Rounded Rectangle 8"/>
          <p:cNvSpPr/>
          <p:nvPr/>
        </p:nvSpPr>
        <p:spPr>
          <a:xfrm>
            <a:off x="731520" y="1554480"/>
            <a:ext cx="320040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XGBoost (SMOTE Tuned)</a:t>
            </a:r>
          </a:p>
        </p:txBody>
      </p:sp>
      <p:sp>
        <p:nvSpPr>
          <p:cNvPr id="10" name="Rounded Rectangle 9"/>
          <p:cNvSpPr/>
          <p:nvPr/>
        </p:nvSpPr>
        <p:spPr>
          <a:xfrm>
            <a:off x="3931920" y="1554480"/>
            <a:ext cx="146304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0.949</a:t>
            </a:r>
          </a:p>
        </p:txBody>
      </p:sp>
      <p:sp>
        <p:nvSpPr>
          <p:cNvPr id="11" name="Rounded Rectangle 10"/>
          <p:cNvSpPr/>
          <p:nvPr/>
        </p:nvSpPr>
        <p:spPr>
          <a:xfrm>
            <a:off x="5394960" y="1554480"/>
            <a:ext cx="146304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0.887</a:t>
            </a:r>
          </a:p>
        </p:txBody>
      </p:sp>
      <p:sp>
        <p:nvSpPr>
          <p:cNvPr id="12" name="Rounded Rectangle 11"/>
          <p:cNvSpPr/>
          <p:nvPr/>
        </p:nvSpPr>
        <p:spPr>
          <a:xfrm>
            <a:off x="6858000" y="1554480"/>
            <a:ext cx="146304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0.920</a:t>
            </a:r>
          </a:p>
        </p:txBody>
      </p:sp>
      <p:sp>
        <p:nvSpPr>
          <p:cNvPr id="13" name="Rounded Rectangle 12"/>
          <p:cNvSpPr/>
          <p:nvPr/>
        </p:nvSpPr>
        <p:spPr>
          <a:xfrm>
            <a:off x="8321040" y="1554480"/>
            <a:ext cx="146304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0.998</a:t>
            </a:r>
          </a:p>
        </p:txBody>
      </p:sp>
      <p:sp>
        <p:nvSpPr>
          <p:cNvPr id="14" name="Rounded Rectangle 13"/>
          <p:cNvSpPr/>
          <p:nvPr/>
        </p:nvSpPr>
        <p:spPr>
          <a:xfrm>
            <a:off x="9784080" y="1554480"/>
            <a:ext cx="1463040" cy="43891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0.968</a:t>
            </a:r>
          </a:p>
        </p:txBody>
      </p:sp>
      <p:sp>
        <p:nvSpPr>
          <p:cNvPr id="15" name="Rounded Rectangle 14"/>
          <p:cNvSpPr/>
          <p:nvPr/>
        </p:nvSpPr>
        <p:spPr>
          <a:xfrm>
            <a:off x="731520" y="1993391"/>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XGBoost (SMOTE)</a:t>
            </a:r>
          </a:p>
        </p:txBody>
      </p:sp>
      <p:sp>
        <p:nvSpPr>
          <p:cNvPr id="16" name="Rounded Rectangle 15"/>
          <p:cNvSpPr/>
          <p:nvPr/>
        </p:nvSpPr>
        <p:spPr>
          <a:xfrm>
            <a:off x="3931920" y="1993391"/>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0.818</a:t>
            </a:r>
          </a:p>
        </p:txBody>
      </p:sp>
      <p:sp>
        <p:nvSpPr>
          <p:cNvPr id="17" name="Rounded Rectangle 16"/>
          <p:cNvSpPr/>
          <p:nvPr/>
        </p:nvSpPr>
        <p:spPr>
          <a:xfrm>
            <a:off x="5394960" y="1993391"/>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0.891</a:t>
            </a:r>
          </a:p>
        </p:txBody>
      </p:sp>
      <p:sp>
        <p:nvSpPr>
          <p:cNvPr id="18" name="Rounded Rectangle 17"/>
          <p:cNvSpPr/>
          <p:nvPr/>
        </p:nvSpPr>
        <p:spPr>
          <a:xfrm>
            <a:off x="6858000" y="1993391"/>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0.853</a:t>
            </a:r>
          </a:p>
        </p:txBody>
      </p:sp>
      <p:sp>
        <p:nvSpPr>
          <p:cNvPr id="19" name="Rounded Rectangle 18"/>
          <p:cNvSpPr/>
          <p:nvPr/>
        </p:nvSpPr>
        <p:spPr>
          <a:xfrm>
            <a:off x="8321040" y="1993391"/>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0.996</a:t>
            </a:r>
          </a:p>
        </p:txBody>
      </p:sp>
      <p:sp>
        <p:nvSpPr>
          <p:cNvPr id="20" name="Rounded Rectangle 19"/>
          <p:cNvSpPr/>
          <p:nvPr/>
        </p:nvSpPr>
        <p:spPr>
          <a:xfrm>
            <a:off x="9784080" y="1993391"/>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0.928</a:t>
            </a:r>
          </a:p>
        </p:txBody>
      </p:sp>
      <p:sp>
        <p:nvSpPr>
          <p:cNvPr id="21" name="Rounded Rectangle 20"/>
          <p:cNvSpPr/>
          <p:nvPr/>
        </p:nvSpPr>
        <p:spPr>
          <a:xfrm>
            <a:off x="731520" y="2432304"/>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Random Forest (CW)</a:t>
            </a:r>
          </a:p>
        </p:txBody>
      </p:sp>
      <p:sp>
        <p:nvSpPr>
          <p:cNvPr id="22" name="Rounded Rectangle 21"/>
          <p:cNvSpPr/>
          <p:nvPr/>
        </p:nvSpPr>
        <p:spPr>
          <a:xfrm>
            <a:off x="3931920" y="2432304"/>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0.981</a:t>
            </a:r>
          </a:p>
        </p:txBody>
      </p:sp>
      <p:sp>
        <p:nvSpPr>
          <p:cNvPr id="23" name="Rounded Rectangle 22"/>
          <p:cNvSpPr/>
          <p:nvPr/>
        </p:nvSpPr>
        <p:spPr>
          <a:xfrm>
            <a:off x="5394960" y="2432304"/>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0.750</a:t>
            </a:r>
          </a:p>
        </p:txBody>
      </p:sp>
      <p:sp>
        <p:nvSpPr>
          <p:cNvPr id="24" name="Rounded Rectangle 23"/>
          <p:cNvSpPr/>
          <p:nvPr/>
        </p:nvSpPr>
        <p:spPr>
          <a:xfrm>
            <a:off x="6858000" y="2432304"/>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0.850</a:t>
            </a:r>
          </a:p>
        </p:txBody>
      </p:sp>
      <p:sp>
        <p:nvSpPr>
          <p:cNvPr id="25" name="Rounded Rectangle 24"/>
          <p:cNvSpPr/>
          <p:nvPr/>
        </p:nvSpPr>
        <p:spPr>
          <a:xfrm>
            <a:off x="8321040" y="2432304"/>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0.991</a:t>
            </a:r>
          </a:p>
        </p:txBody>
      </p:sp>
      <p:sp>
        <p:nvSpPr>
          <p:cNvPr id="26" name="Rounded Rectangle 25"/>
          <p:cNvSpPr/>
          <p:nvPr/>
        </p:nvSpPr>
        <p:spPr>
          <a:xfrm>
            <a:off x="9784080" y="2432304"/>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0.928</a:t>
            </a:r>
          </a:p>
        </p:txBody>
      </p:sp>
      <p:sp>
        <p:nvSpPr>
          <p:cNvPr id="27" name="Rounded Rectangle 26"/>
          <p:cNvSpPr/>
          <p:nvPr/>
        </p:nvSpPr>
        <p:spPr>
          <a:xfrm>
            <a:off x="731520" y="2871215"/>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Random Forest (SMOTE)</a:t>
            </a:r>
          </a:p>
        </p:txBody>
      </p:sp>
      <p:sp>
        <p:nvSpPr>
          <p:cNvPr id="28" name="Rounded Rectangle 27"/>
          <p:cNvSpPr/>
          <p:nvPr/>
        </p:nvSpPr>
        <p:spPr>
          <a:xfrm>
            <a:off x="3931920" y="2871215"/>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0.905</a:t>
            </a:r>
          </a:p>
        </p:txBody>
      </p:sp>
      <p:sp>
        <p:nvSpPr>
          <p:cNvPr id="29" name="Rounded Rectangle 28"/>
          <p:cNvSpPr/>
          <p:nvPr/>
        </p:nvSpPr>
        <p:spPr>
          <a:xfrm>
            <a:off x="5394960" y="2871215"/>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0.813</a:t>
            </a:r>
          </a:p>
        </p:txBody>
      </p:sp>
      <p:sp>
        <p:nvSpPr>
          <p:cNvPr id="30" name="Rounded Rectangle 29"/>
          <p:cNvSpPr/>
          <p:nvPr/>
        </p:nvSpPr>
        <p:spPr>
          <a:xfrm>
            <a:off x="6858000" y="2871215"/>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0.857</a:t>
            </a:r>
          </a:p>
        </p:txBody>
      </p:sp>
      <p:sp>
        <p:nvSpPr>
          <p:cNvPr id="31" name="Rounded Rectangle 30"/>
          <p:cNvSpPr/>
          <p:nvPr/>
        </p:nvSpPr>
        <p:spPr>
          <a:xfrm>
            <a:off x="8321040" y="2871215"/>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0.996</a:t>
            </a:r>
          </a:p>
        </p:txBody>
      </p:sp>
      <p:sp>
        <p:nvSpPr>
          <p:cNvPr id="32" name="Rounded Rectangle 31"/>
          <p:cNvSpPr/>
          <p:nvPr/>
        </p:nvSpPr>
        <p:spPr>
          <a:xfrm>
            <a:off x="9784080" y="2871215"/>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0.911</a:t>
            </a:r>
          </a:p>
        </p:txBody>
      </p:sp>
      <p:sp>
        <p:nvSpPr>
          <p:cNvPr id="33" name="Rounded Rectangle 32"/>
          <p:cNvSpPr/>
          <p:nvPr/>
        </p:nvSpPr>
        <p:spPr>
          <a:xfrm>
            <a:off x="731520" y="3310128"/>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Decision Tree (CW)</a:t>
            </a:r>
          </a:p>
        </p:txBody>
      </p:sp>
      <p:sp>
        <p:nvSpPr>
          <p:cNvPr id="34" name="Rounded Rectangle 33"/>
          <p:cNvSpPr/>
          <p:nvPr/>
        </p:nvSpPr>
        <p:spPr>
          <a:xfrm>
            <a:off x="3931920" y="3310128"/>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0.831</a:t>
            </a:r>
          </a:p>
        </p:txBody>
      </p:sp>
      <p:sp>
        <p:nvSpPr>
          <p:cNvPr id="35" name="Rounded Rectangle 34"/>
          <p:cNvSpPr/>
          <p:nvPr/>
        </p:nvSpPr>
        <p:spPr>
          <a:xfrm>
            <a:off x="5394960" y="3310128"/>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0.824</a:t>
            </a:r>
          </a:p>
        </p:txBody>
      </p:sp>
      <p:sp>
        <p:nvSpPr>
          <p:cNvPr id="36" name="Rounded Rectangle 35"/>
          <p:cNvSpPr/>
          <p:nvPr/>
        </p:nvSpPr>
        <p:spPr>
          <a:xfrm>
            <a:off x="6858000" y="3310128"/>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0.828</a:t>
            </a:r>
          </a:p>
        </p:txBody>
      </p:sp>
      <p:sp>
        <p:nvSpPr>
          <p:cNvPr id="37" name="Rounded Rectangle 36"/>
          <p:cNvSpPr/>
          <p:nvPr/>
        </p:nvSpPr>
        <p:spPr>
          <a:xfrm>
            <a:off x="8321040" y="3310128"/>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0.912</a:t>
            </a:r>
          </a:p>
        </p:txBody>
      </p:sp>
      <p:sp>
        <p:nvSpPr>
          <p:cNvPr id="38" name="Rounded Rectangle 37"/>
          <p:cNvSpPr/>
          <p:nvPr/>
        </p:nvSpPr>
        <p:spPr>
          <a:xfrm>
            <a:off x="9784080" y="3310128"/>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0.828</a:t>
            </a:r>
          </a:p>
        </p:txBody>
      </p:sp>
      <p:sp>
        <p:nvSpPr>
          <p:cNvPr id="39" name="Rounded Rectangle 38"/>
          <p:cNvSpPr/>
          <p:nvPr/>
        </p:nvSpPr>
        <p:spPr>
          <a:xfrm>
            <a:off x="731520" y="3749039"/>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Decision Tree (SMOTE)</a:t>
            </a:r>
          </a:p>
        </p:txBody>
      </p:sp>
      <p:sp>
        <p:nvSpPr>
          <p:cNvPr id="40" name="Rounded Rectangle 39"/>
          <p:cNvSpPr/>
          <p:nvPr/>
        </p:nvSpPr>
        <p:spPr>
          <a:xfrm>
            <a:off x="3931920" y="3749039"/>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0.657</a:t>
            </a:r>
          </a:p>
        </p:txBody>
      </p:sp>
      <p:sp>
        <p:nvSpPr>
          <p:cNvPr id="41" name="Rounded Rectangle 40"/>
          <p:cNvSpPr/>
          <p:nvPr/>
        </p:nvSpPr>
        <p:spPr>
          <a:xfrm>
            <a:off x="5394960" y="3749039"/>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0.834</a:t>
            </a:r>
          </a:p>
        </p:txBody>
      </p:sp>
      <p:sp>
        <p:nvSpPr>
          <p:cNvPr id="42" name="Rounded Rectangle 41"/>
          <p:cNvSpPr/>
          <p:nvPr/>
        </p:nvSpPr>
        <p:spPr>
          <a:xfrm>
            <a:off x="6858000" y="3749039"/>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0.735</a:t>
            </a:r>
          </a:p>
        </p:txBody>
      </p:sp>
      <p:sp>
        <p:nvSpPr>
          <p:cNvPr id="43" name="Rounded Rectangle 42"/>
          <p:cNvSpPr/>
          <p:nvPr/>
        </p:nvSpPr>
        <p:spPr>
          <a:xfrm>
            <a:off x="8321040" y="3749039"/>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0.917</a:t>
            </a:r>
          </a:p>
        </p:txBody>
      </p:sp>
      <p:sp>
        <p:nvSpPr>
          <p:cNvPr id="44" name="Rounded Rectangle 43"/>
          <p:cNvSpPr/>
          <p:nvPr/>
        </p:nvSpPr>
        <p:spPr>
          <a:xfrm>
            <a:off x="9784080" y="3749039"/>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0.700</a:t>
            </a:r>
          </a:p>
        </p:txBody>
      </p:sp>
      <p:sp>
        <p:nvSpPr>
          <p:cNvPr id="45" name="Rounded Rectangle 44"/>
          <p:cNvSpPr/>
          <p:nvPr/>
        </p:nvSpPr>
        <p:spPr>
          <a:xfrm>
            <a:off x="731520" y="4187952"/>
            <a:ext cx="320040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XGBoost (CW)</a:t>
            </a:r>
          </a:p>
        </p:txBody>
      </p:sp>
      <p:sp>
        <p:nvSpPr>
          <p:cNvPr id="46" name="Rounded Rectangle 45"/>
          <p:cNvSpPr/>
          <p:nvPr/>
        </p:nvSpPr>
        <p:spPr>
          <a:xfrm>
            <a:off x="3931920" y="4187952"/>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1.000</a:t>
            </a:r>
          </a:p>
        </p:txBody>
      </p:sp>
      <p:sp>
        <p:nvSpPr>
          <p:cNvPr id="47" name="Rounded Rectangle 46"/>
          <p:cNvSpPr/>
          <p:nvPr/>
        </p:nvSpPr>
        <p:spPr>
          <a:xfrm>
            <a:off x="5394960" y="4187952"/>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0.496</a:t>
            </a:r>
          </a:p>
        </p:txBody>
      </p:sp>
      <p:sp>
        <p:nvSpPr>
          <p:cNvPr id="48" name="Rounded Rectangle 47"/>
          <p:cNvSpPr/>
          <p:nvPr/>
        </p:nvSpPr>
        <p:spPr>
          <a:xfrm>
            <a:off x="6858000" y="4187952"/>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0.663</a:t>
            </a:r>
          </a:p>
        </p:txBody>
      </p:sp>
      <p:sp>
        <p:nvSpPr>
          <p:cNvPr id="49" name="Rounded Rectangle 48"/>
          <p:cNvSpPr/>
          <p:nvPr/>
        </p:nvSpPr>
        <p:spPr>
          <a:xfrm>
            <a:off x="8321040" y="4187952"/>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0.998</a:t>
            </a:r>
          </a:p>
        </p:txBody>
      </p:sp>
      <p:sp>
        <p:nvSpPr>
          <p:cNvPr id="50" name="Rounded Rectangle 49"/>
          <p:cNvSpPr/>
          <p:nvPr/>
        </p:nvSpPr>
        <p:spPr>
          <a:xfrm>
            <a:off x="9784080" y="4187952"/>
            <a:ext cx="1463040" cy="4389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0.928</a:t>
            </a:r>
          </a:p>
        </p:txBody>
      </p:sp>
      <p:sp>
        <p:nvSpPr>
          <p:cNvPr id="51" name="Rounded Rectangle 50"/>
          <p:cNvSpPr/>
          <p:nvPr/>
        </p:nvSpPr>
        <p:spPr>
          <a:xfrm>
            <a:off x="731520" y="4626864"/>
            <a:ext cx="320040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Logistic Regression (CW)</a:t>
            </a:r>
          </a:p>
        </p:txBody>
      </p:sp>
      <p:sp>
        <p:nvSpPr>
          <p:cNvPr id="52" name="Rounded Rectangle 51"/>
          <p:cNvSpPr/>
          <p:nvPr/>
        </p:nvSpPr>
        <p:spPr>
          <a:xfrm>
            <a:off x="3931920" y="4626864"/>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0.045</a:t>
            </a:r>
          </a:p>
        </p:txBody>
      </p:sp>
      <p:sp>
        <p:nvSpPr>
          <p:cNvPr id="53" name="Rounded Rectangle 52"/>
          <p:cNvSpPr/>
          <p:nvPr/>
        </p:nvSpPr>
        <p:spPr>
          <a:xfrm>
            <a:off x="5394960" y="4626864"/>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0.780</a:t>
            </a:r>
          </a:p>
        </p:txBody>
      </p:sp>
      <p:sp>
        <p:nvSpPr>
          <p:cNvPr id="54" name="Rounded Rectangle 53"/>
          <p:cNvSpPr/>
          <p:nvPr/>
        </p:nvSpPr>
        <p:spPr>
          <a:xfrm>
            <a:off x="6858000" y="4626864"/>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0.086</a:t>
            </a:r>
          </a:p>
        </p:txBody>
      </p:sp>
      <p:sp>
        <p:nvSpPr>
          <p:cNvPr id="55" name="Rounded Rectangle 54"/>
          <p:cNvSpPr/>
          <p:nvPr/>
        </p:nvSpPr>
        <p:spPr>
          <a:xfrm>
            <a:off x="8321040" y="4626864"/>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0.907</a:t>
            </a:r>
          </a:p>
        </p:txBody>
      </p:sp>
      <p:sp>
        <p:nvSpPr>
          <p:cNvPr id="56" name="Rounded Rectangle 55"/>
          <p:cNvSpPr/>
          <p:nvPr/>
        </p:nvSpPr>
        <p:spPr>
          <a:xfrm>
            <a:off x="9784080" y="4626864"/>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0.122</a:t>
            </a:r>
          </a:p>
        </p:txBody>
      </p:sp>
      <p:sp>
        <p:nvSpPr>
          <p:cNvPr id="57" name="Rounded Rectangle 56"/>
          <p:cNvSpPr/>
          <p:nvPr/>
        </p:nvSpPr>
        <p:spPr>
          <a:xfrm>
            <a:off x="731520" y="5065776"/>
            <a:ext cx="320040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232F3E"/>
                </a:solidFill>
                <a:latin typeface="Calibri"/>
              </a:defRPr>
            </a:pPr>
            <a:r>
              <a:t>LinearSVC (CW)</a:t>
            </a:r>
          </a:p>
        </p:txBody>
      </p:sp>
      <p:sp>
        <p:nvSpPr>
          <p:cNvPr id="58" name="Rounded Rectangle 57"/>
          <p:cNvSpPr/>
          <p:nvPr/>
        </p:nvSpPr>
        <p:spPr>
          <a:xfrm>
            <a:off x="3931920" y="5065776"/>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0.053</a:t>
            </a:r>
          </a:p>
        </p:txBody>
      </p:sp>
      <p:sp>
        <p:nvSpPr>
          <p:cNvPr id="59" name="Rounded Rectangle 58"/>
          <p:cNvSpPr/>
          <p:nvPr/>
        </p:nvSpPr>
        <p:spPr>
          <a:xfrm>
            <a:off x="5394960" y="5065776"/>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0.780</a:t>
            </a:r>
          </a:p>
        </p:txBody>
      </p:sp>
      <p:sp>
        <p:nvSpPr>
          <p:cNvPr id="60" name="Rounded Rectangle 59"/>
          <p:cNvSpPr/>
          <p:nvPr/>
        </p:nvSpPr>
        <p:spPr>
          <a:xfrm>
            <a:off x="6858000" y="5065776"/>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0.100</a:t>
            </a:r>
          </a:p>
        </p:txBody>
      </p:sp>
      <p:sp>
        <p:nvSpPr>
          <p:cNvPr id="61" name="Rounded Rectangle 60"/>
          <p:cNvSpPr/>
          <p:nvPr/>
        </p:nvSpPr>
        <p:spPr>
          <a:xfrm>
            <a:off x="8321040" y="5065776"/>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0.907</a:t>
            </a:r>
          </a:p>
        </p:txBody>
      </p:sp>
      <p:sp>
        <p:nvSpPr>
          <p:cNvPr id="62" name="Rounded Rectangle 61"/>
          <p:cNvSpPr/>
          <p:nvPr/>
        </p:nvSpPr>
        <p:spPr>
          <a:xfrm>
            <a:off x="9784080" y="5065776"/>
            <a:ext cx="1463040" cy="43891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0">
                <a:solidFill>
                  <a:srgbClr val="232F3E"/>
                </a:solidFill>
                <a:latin typeface="Calibri"/>
              </a:defRPr>
            </a:pPr>
            <a:r>
              <a:t>0.122</a:t>
            </a:r>
          </a:p>
        </p:txBody>
      </p:sp>
      <p:sp>
        <p:nvSpPr>
          <p:cNvPr id="63" name="TextBox 62"/>
          <p:cNvSpPr txBox="1"/>
          <p:nvPr/>
        </p:nvSpPr>
        <p:spPr>
          <a:xfrm>
            <a:off x="731520" y="5760720"/>
            <a:ext cx="10515600" cy="457200"/>
          </a:xfrm>
          <a:prstGeom prst="rect">
            <a:avLst/>
          </a:prstGeom>
          <a:noFill/>
        </p:spPr>
        <p:txBody>
          <a:bodyPr wrap="square">
            <a:spAutoFit/>
          </a:bodyPr>
          <a:lstStyle/>
          <a:p>
            <a:pPr algn="l">
              <a:defRPr sz="1600" b="1">
                <a:solidFill>
                  <a:srgbClr val="2ECC71"/>
                </a:solidFill>
                <a:latin typeface="Calibri"/>
              </a:defRPr>
            </a:pPr>
            <a:r>
              <a:t>XGBoost (SMOTE Tuned) achieves the best balance: 94.9% precision + 88.7% recall + 0.968 PR-AUC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rPr dirty="0"/>
              <a:t>Final Model</a:t>
            </a:r>
            <a:r>
              <a:rPr lang="en-US" dirty="0"/>
              <a:t>: </a:t>
            </a:r>
            <a:r>
              <a:rPr dirty="0" err="1"/>
              <a:t>XGBoost</a:t>
            </a:r>
            <a:r>
              <a:rPr dirty="0"/>
              <a:t> (SMOTE Tuned) Performance</a:t>
            </a:r>
          </a:p>
        </p:txBody>
      </p:sp>
      <p:sp>
        <p:nvSpPr>
          <p:cNvPr id="3" name="Rounded Rectangle 2"/>
          <p:cNvSpPr/>
          <p:nvPr/>
        </p:nvSpPr>
        <p:spPr>
          <a:xfrm>
            <a:off x="457200" y="1371600"/>
            <a:ext cx="2103120" cy="16459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2103120" cy="365760"/>
          </a:xfrm>
          <a:prstGeom prst="rect">
            <a:avLst/>
          </a:prstGeom>
          <a:noFill/>
        </p:spPr>
        <p:txBody>
          <a:bodyPr wrap="square">
            <a:spAutoFit/>
          </a:bodyPr>
          <a:lstStyle/>
          <a:p>
            <a:pPr algn="ctr">
              <a:defRPr sz="1600" b="1">
                <a:solidFill>
                  <a:srgbClr val="232F3E"/>
                </a:solidFill>
                <a:latin typeface="Calibri"/>
              </a:defRPr>
            </a:pPr>
            <a:r>
              <a:t>Precision</a:t>
            </a:r>
          </a:p>
        </p:txBody>
      </p:sp>
      <p:sp>
        <p:nvSpPr>
          <p:cNvPr id="5" name="TextBox 4"/>
          <p:cNvSpPr txBox="1"/>
          <p:nvPr/>
        </p:nvSpPr>
        <p:spPr>
          <a:xfrm>
            <a:off x="457200" y="1920240"/>
            <a:ext cx="2103120" cy="548640"/>
          </a:xfrm>
          <a:prstGeom prst="rect">
            <a:avLst/>
          </a:prstGeom>
          <a:noFill/>
        </p:spPr>
        <p:txBody>
          <a:bodyPr wrap="square">
            <a:spAutoFit/>
          </a:bodyPr>
          <a:lstStyle/>
          <a:p>
            <a:pPr algn="ctr">
              <a:defRPr sz="3200" b="1">
                <a:solidFill>
                  <a:srgbClr val="00A3E0"/>
                </a:solidFill>
                <a:latin typeface="Calibri"/>
              </a:defRPr>
            </a:pPr>
            <a:r>
              <a:t>94.9%</a:t>
            </a:r>
          </a:p>
        </p:txBody>
      </p:sp>
      <p:sp>
        <p:nvSpPr>
          <p:cNvPr id="6" name="Rounded Rectangle 5"/>
          <p:cNvSpPr/>
          <p:nvPr/>
        </p:nvSpPr>
        <p:spPr>
          <a:xfrm>
            <a:off x="2743200" y="1371600"/>
            <a:ext cx="2103120" cy="16459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0" y="1463040"/>
            <a:ext cx="2103120" cy="365760"/>
          </a:xfrm>
          <a:prstGeom prst="rect">
            <a:avLst/>
          </a:prstGeom>
          <a:noFill/>
        </p:spPr>
        <p:txBody>
          <a:bodyPr wrap="square">
            <a:spAutoFit/>
          </a:bodyPr>
          <a:lstStyle/>
          <a:p>
            <a:pPr algn="ctr">
              <a:defRPr sz="1600" b="1">
                <a:solidFill>
                  <a:srgbClr val="232F3E"/>
                </a:solidFill>
                <a:latin typeface="Calibri"/>
              </a:defRPr>
            </a:pPr>
            <a:r>
              <a:t>Recall</a:t>
            </a:r>
          </a:p>
        </p:txBody>
      </p:sp>
      <p:sp>
        <p:nvSpPr>
          <p:cNvPr id="8" name="TextBox 7"/>
          <p:cNvSpPr txBox="1"/>
          <p:nvPr/>
        </p:nvSpPr>
        <p:spPr>
          <a:xfrm>
            <a:off x="2743200" y="1920240"/>
            <a:ext cx="2103120" cy="548640"/>
          </a:xfrm>
          <a:prstGeom prst="rect">
            <a:avLst/>
          </a:prstGeom>
          <a:noFill/>
        </p:spPr>
        <p:txBody>
          <a:bodyPr wrap="square">
            <a:spAutoFit/>
          </a:bodyPr>
          <a:lstStyle/>
          <a:p>
            <a:pPr algn="ctr">
              <a:defRPr sz="3200" b="1">
                <a:solidFill>
                  <a:srgbClr val="2ECC71"/>
                </a:solidFill>
                <a:latin typeface="Calibri"/>
              </a:defRPr>
            </a:pPr>
            <a:r>
              <a:t>88.7%</a:t>
            </a:r>
          </a:p>
        </p:txBody>
      </p:sp>
      <p:sp>
        <p:nvSpPr>
          <p:cNvPr id="9" name="Rounded Rectangle 8"/>
          <p:cNvSpPr/>
          <p:nvPr/>
        </p:nvSpPr>
        <p:spPr>
          <a:xfrm>
            <a:off x="5029200" y="1371600"/>
            <a:ext cx="2103120" cy="16459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0" y="1463040"/>
            <a:ext cx="2103120" cy="365760"/>
          </a:xfrm>
          <a:prstGeom prst="rect">
            <a:avLst/>
          </a:prstGeom>
          <a:noFill/>
        </p:spPr>
        <p:txBody>
          <a:bodyPr wrap="square">
            <a:spAutoFit/>
          </a:bodyPr>
          <a:lstStyle/>
          <a:p>
            <a:pPr algn="ctr">
              <a:defRPr sz="1600" b="1">
                <a:solidFill>
                  <a:srgbClr val="232F3E"/>
                </a:solidFill>
                <a:latin typeface="Calibri"/>
              </a:defRPr>
            </a:pPr>
            <a:r>
              <a:t>F1-Score</a:t>
            </a:r>
          </a:p>
        </p:txBody>
      </p:sp>
      <p:sp>
        <p:nvSpPr>
          <p:cNvPr id="11" name="TextBox 10"/>
          <p:cNvSpPr txBox="1"/>
          <p:nvPr/>
        </p:nvSpPr>
        <p:spPr>
          <a:xfrm>
            <a:off x="5029200" y="1920240"/>
            <a:ext cx="2103120" cy="548640"/>
          </a:xfrm>
          <a:prstGeom prst="rect">
            <a:avLst/>
          </a:prstGeom>
          <a:noFill/>
        </p:spPr>
        <p:txBody>
          <a:bodyPr wrap="square">
            <a:spAutoFit/>
          </a:bodyPr>
          <a:lstStyle/>
          <a:p>
            <a:pPr algn="ctr">
              <a:defRPr sz="3200" b="1">
                <a:solidFill>
                  <a:srgbClr val="FF9900"/>
                </a:solidFill>
                <a:latin typeface="Calibri"/>
              </a:defRPr>
            </a:pPr>
            <a:r>
              <a:t>92.0%</a:t>
            </a:r>
          </a:p>
        </p:txBody>
      </p:sp>
      <p:sp>
        <p:nvSpPr>
          <p:cNvPr id="12" name="Rounded Rectangle 11"/>
          <p:cNvSpPr/>
          <p:nvPr/>
        </p:nvSpPr>
        <p:spPr>
          <a:xfrm>
            <a:off x="7315200" y="1371600"/>
            <a:ext cx="2103120" cy="16459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0" y="1463040"/>
            <a:ext cx="2103120" cy="365760"/>
          </a:xfrm>
          <a:prstGeom prst="rect">
            <a:avLst/>
          </a:prstGeom>
          <a:noFill/>
        </p:spPr>
        <p:txBody>
          <a:bodyPr wrap="square">
            <a:spAutoFit/>
          </a:bodyPr>
          <a:lstStyle/>
          <a:p>
            <a:pPr algn="ctr">
              <a:defRPr sz="1600" b="1">
                <a:solidFill>
                  <a:srgbClr val="232F3E"/>
                </a:solidFill>
                <a:latin typeface="Calibri"/>
              </a:defRPr>
            </a:pPr>
            <a:r>
              <a:t>ROC-AUC</a:t>
            </a:r>
          </a:p>
        </p:txBody>
      </p:sp>
      <p:sp>
        <p:nvSpPr>
          <p:cNvPr id="14" name="TextBox 13"/>
          <p:cNvSpPr txBox="1"/>
          <p:nvPr/>
        </p:nvSpPr>
        <p:spPr>
          <a:xfrm>
            <a:off x="7315200" y="1920240"/>
            <a:ext cx="2103120" cy="548640"/>
          </a:xfrm>
          <a:prstGeom prst="rect">
            <a:avLst/>
          </a:prstGeom>
          <a:noFill/>
        </p:spPr>
        <p:txBody>
          <a:bodyPr wrap="square">
            <a:spAutoFit/>
          </a:bodyPr>
          <a:lstStyle/>
          <a:p>
            <a:pPr algn="ctr">
              <a:defRPr sz="3200" b="1">
                <a:solidFill>
                  <a:srgbClr val="8E44AD"/>
                </a:solidFill>
                <a:latin typeface="Calibri"/>
              </a:defRPr>
            </a:pPr>
            <a:r>
              <a:t>99.8%</a:t>
            </a:r>
          </a:p>
        </p:txBody>
      </p:sp>
      <p:sp>
        <p:nvSpPr>
          <p:cNvPr id="15" name="Rounded Rectangle 14"/>
          <p:cNvSpPr/>
          <p:nvPr/>
        </p:nvSpPr>
        <p:spPr>
          <a:xfrm>
            <a:off x="9601200" y="1371600"/>
            <a:ext cx="2103120" cy="16459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0" y="1463040"/>
            <a:ext cx="2103120" cy="365760"/>
          </a:xfrm>
          <a:prstGeom prst="rect">
            <a:avLst/>
          </a:prstGeom>
          <a:noFill/>
        </p:spPr>
        <p:txBody>
          <a:bodyPr wrap="square">
            <a:spAutoFit/>
          </a:bodyPr>
          <a:lstStyle/>
          <a:p>
            <a:pPr algn="ctr">
              <a:defRPr sz="1600" b="1">
                <a:solidFill>
                  <a:srgbClr val="232F3E"/>
                </a:solidFill>
                <a:latin typeface="Calibri"/>
              </a:defRPr>
            </a:pPr>
            <a:r>
              <a:t>PR-AUC</a:t>
            </a:r>
          </a:p>
        </p:txBody>
      </p:sp>
      <p:sp>
        <p:nvSpPr>
          <p:cNvPr id="17" name="TextBox 16"/>
          <p:cNvSpPr txBox="1"/>
          <p:nvPr/>
        </p:nvSpPr>
        <p:spPr>
          <a:xfrm>
            <a:off x="9601200" y="1920240"/>
            <a:ext cx="2103120" cy="548640"/>
          </a:xfrm>
          <a:prstGeom prst="rect">
            <a:avLst/>
          </a:prstGeom>
          <a:noFill/>
        </p:spPr>
        <p:txBody>
          <a:bodyPr wrap="square">
            <a:spAutoFit/>
          </a:bodyPr>
          <a:lstStyle/>
          <a:p>
            <a:pPr algn="ctr">
              <a:defRPr sz="3200" b="1">
                <a:solidFill>
                  <a:srgbClr val="E74C3C"/>
                </a:solidFill>
                <a:latin typeface="Calibri"/>
              </a:defRPr>
            </a:pPr>
            <a:r>
              <a:t>96.8%</a:t>
            </a:r>
          </a:p>
        </p:txBody>
      </p:sp>
      <p:sp>
        <p:nvSpPr>
          <p:cNvPr id="18" name="TextBox 17"/>
          <p:cNvSpPr txBox="1"/>
          <p:nvPr/>
        </p:nvSpPr>
        <p:spPr>
          <a:xfrm>
            <a:off x="731520" y="3474720"/>
            <a:ext cx="4572000" cy="457200"/>
          </a:xfrm>
          <a:prstGeom prst="rect">
            <a:avLst/>
          </a:prstGeom>
          <a:noFill/>
        </p:spPr>
        <p:txBody>
          <a:bodyPr wrap="square">
            <a:spAutoFit/>
          </a:bodyPr>
          <a:lstStyle/>
          <a:p>
            <a:pPr algn="l">
              <a:defRPr sz="2000" b="1">
                <a:solidFill>
                  <a:srgbClr val="232F3E"/>
                </a:solidFill>
                <a:latin typeface="Calibri"/>
              </a:defRPr>
            </a:pPr>
            <a:r>
              <a:t>Confusion Matrix (Test Set):</a:t>
            </a:r>
          </a:p>
        </p:txBody>
      </p:sp>
      <p:sp>
        <p:nvSpPr>
          <p:cNvPr id="19" name="Rounded Rectangle 18"/>
          <p:cNvSpPr/>
          <p:nvPr/>
        </p:nvSpPr>
        <p:spPr>
          <a:xfrm>
            <a:off x="731520" y="4023360"/>
            <a:ext cx="18288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560320" y="4023360"/>
            <a:ext cx="182880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Pred Legit</a:t>
            </a:r>
          </a:p>
        </p:txBody>
      </p:sp>
      <p:sp>
        <p:nvSpPr>
          <p:cNvPr id="21" name="Rounded Rectangle 20"/>
          <p:cNvSpPr/>
          <p:nvPr/>
        </p:nvSpPr>
        <p:spPr>
          <a:xfrm>
            <a:off x="4389120" y="4023360"/>
            <a:ext cx="182880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Pred Fraud</a:t>
            </a:r>
          </a:p>
        </p:txBody>
      </p:sp>
      <p:sp>
        <p:nvSpPr>
          <p:cNvPr id="22" name="Rounded Rectangle 21"/>
          <p:cNvSpPr/>
          <p:nvPr/>
        </p:nvSpPr>
        <p:spPr>
          <a:xfrm>
            <a:off x="731520" y="4480560"/>
            <a:ext cx="182880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Actual Legit</a:t>
            </a:r>
          </a:p>
        </p:txBody>
      </p:sp>
      <p:sp>
        <p:nvSpPr>
          <p:cNvPr id="23" name="Rounded Rectangle 22"/>
          <p:cNvSpPr/>
          <p:nvPr/>
        </p:nvSpPr>
        <p:spPr>
          <a:xfrm>
            <a:off x="2560320" y="4480560"/>
            <a:ext cx="1828800" cy="45720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257,762 (TN)</a:t>
            </a:r>
          </a:p>
        </p:txBody>
      </p:sp>
      <p:sp>
        <p:nvSpPr>
          <p:cNvPr id="24" name="Rounded Rectangle 23"/>
          <p:cNvSpPr/>
          <p:nvPr/>
        </p:nvSpPr>
        <p:spPr>
          <a:xfrm>
            <a:off x="4389120" y="4480560"/>
            <a:ext cx="1828800" cy="45720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72 (FP)</a:t>
            </a:r>
          </a:p>
        </p:txBody>
      </p:sp>
      <p:sp>
        <p:nvSpPr>
          <p:cNvPr id="25" name="Rounded Rectangle 24"/>
          <p:cNvSpPr/>
          <p:nvPr/>
        </p:nvSpPr>
        <p:spPr>
          <a:xfrm>
            <a:off x="731520" y="4937760"/>
            <a:ext cx="1828800" cy="4572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Actual Fraud</a:t>
            </a:r>
          </a:p>
        </p:txBody>
      </p:sp>
      <p:sp>
        <p:nvSpPr>
          <p:cNvPr id="26" name="Rounded Rectangle 25"/>
          <p:cNvSpPr/>
          <p:nvPr/>
        </p:nvSpPr>
        <p:spPr>
          <a:xfrm>
            <a:off x="2560320" y="4937760"/>
            <a:ext cx="1828800" cy="457200"/>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170 (FN)</a:t>
            </a:r>
          </a:p>
        </p:txBody>
      </p:sp>
      <p:sp>
        <p:nvSpPr>
          <p:cNvPr id="27" name="Rounded Rectangle 26"/>
          <p:cNvSpPr/>
          <p:nvPr/>
        </p:nvSpPr>
        <p:spPr>
          <a:xfrm>
            <a:off x="4389120" y="4937760"/>
            <a:ext cx="1828800" cy="45720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1,331 (TP)</a:t>
            </a:r>
          </a:p>
        </p:txBody>
      </p:sp>
      <p:sp>
        <p:nvSpPr>
          <p:cNvPr id="28" name="TextBox 27"/>
          <p:cNvSpPr txBox="1"/>
          <p:nvPr/>
        </p:nvSpPr>
        <p:spPr>
          <a:xfrm>
            <a:off x="6858000" y="3474720"/>
            <a:ext cx="4572000" cy="457200"/>
          </a:xfrm>
          <a:prstGeom prst="rect">
            <a:avLst/>
          </a:prstGeom>
          <a:noFill/>
        </p:spPr>
        <p:txBody>
          <a:bodyPr wrap="square">
            <a:spAutoFit/>
          </a:bodyPr>
          <a:lstStyle/>
          <a:p>
            <a:pPr algn="l">
              <a:defRPr sz="2000" b="1">
                <a:solidFill>
                  <a:srgbClr val="232F3E"/>
                </a:solidFill>
                <a:latin typeface="Calibri"/>
              </a:defRPr>
            </a:pPr>
            <a:r>
              <a:t>Key Takeaways:</a:t>
            </a:r>
          </a:p>
        </p:txBody>
      </p:sp>
      <p:sp>
        <p:nvSpPr>
          <p:cNvPr id="29" name="TextBox 28"/>
          <p:cNvSpPr txBox="1"/>
          <p:nvPr/>
        </p:nvSpPr>
        <p:spPr>
          <a:xfrm>
            <a:off x="6858000" y="3931920"/>
            <a:ext cx="4754880" cy="1828800"/>
          </a:xfrm>
          <a:prstGeom prst="rect">
            <a:avLst/>
          </a:prstGeom>
          <a:noFill/>
        </p:spPr>
        <p:txBody>
          <a:bodyPr wrap="square">
            <a:spAutoFit/>
          </a:bodyPr>
          <a:lstStyle/>
          <a:p>
            <a:pPr>
              <a:spcAft>
                <a:spcPts val="800"/>
              </a:spcAft>
              <a:defRPr sz="1500">
                <a:solidFill>
                  <a:srgbClr val="232F3E"/>
                </a:solidFill>
                <a:latin typeface="Calibri"/>
              </a:defRPr>
            </a:pPr>
            <a:r>
              <a:t>• 88.7% of fraud detected (1,331 of 1,501)</a:t>
            </a:r>
          </a:p>
          <a:p>
            <a:pPr>
              <a:spcAft>
                <a:spcPts val="800"/>
              </a:spcAft>
              <a:defRPr sz="1500">
                <a:solidFill>
                  <a:srgbClr val="232F3E"/>
                </a:solidFill>
                <a:latin typeface="Calibri"/>
              </a:defRPr>
            </a:pPr>
            <a:r>
              <a:t>• Only 72 false alarms out of 257,834 legit</a:t>
            </a:r>
          </a:p>
          <a:p>
            <a:pPr>
              <a:spcAft>
                <a:spcPts val="800"/>
              </a:spcAft>
              <a:defRPr sz="1500">
                <a:solidFill>
                  <a:srgbClr val="232F3E"/>
                </a:solidFill>
                <a:latin typeface="Calibri"/>
              </a:defRPr>
            </a:pPr>
            <a:r>
              <a:t>• 170 fraudulent transactions missed</a:t>
            </a:r>
          </a:p>
          <a:p>
            <a:pPr>
              <a:spcAft>
                <a:spcPts val="800"/>
              </a:spcAft>
              <a:defRPr sz="1500">
                <a:solidFill>
                  <a:srgbClr val="232F3E"/>
                </a:solidFill>
                <a:latin typeface="Calibri"/>
              </a:defRPr>
            </a:pPr>
            <a:r>
              <a:t>• 99.9% overall accuracy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t>Impact of Hyperparameter Tuning</a:t>
            </a:r>
          </a:p>
        </p:txBody>
      </p:sp>
      <p:sp>
        <p:nvSpPr>
          <p:cNvPr id="3" name="Rounded Rectangle 2"/>
          <p:cNvSpPr/>
          <p:nvPr/>
        </p:nvSpPr>
        <p:spPr>
          <a:xfrm>
            <a:off x="731520" y="1371600"/>
            <a:ext cx="5029200" cy="320040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463040"/>
            <a:ext cx="4754880" cy="365760"/>
          </a:xfrm>
          <a:prstGeom prst="rect">
            <a:avLst/>
          </a:prstGeom>
          <a:noFill/>
        </p:spPr>
        <p:txBody>
          <a:bodyPr wrap="square">
            <a:spAutoFit/>
          </a:bodyPr>
          <a:lstStyle/>
          <a:p>
            <a:pPr algn="l">
              <a:defRPr sz="1800" b="1">
                <a:solidFill>
                  <a:srgbClr val="FF9900"/>
                </a:solidFill>
                <a:latin typeface="Calibri"/>
              </a:defRPr>
            </a:pPr>
            <a:r>
              <a:t>Before Tuning (XGBoost + SMOTE)</a:t>
            </a:r>
          </a:p>
        </p:txBody>
      </p:sp>
      <p:sp>
        <p:nvSpPr>
          <p:cNvPr id="5" name="TextBox 4"/>
          <p:cNvSpPr txBox="1"/>
          <p:nvPr/>
        </p:nvSpPr>
        <p:spPr>
          <a:xfrm>
            <a:off x="914400" y="2011680"/>
            <a:ext cx="4754880" cy="2286000"/>
          </a:xfrm>
          <a:prstGeom prst="rect">
            <a:avLst/>
          </a:prstGeom>
          <a:noFill/>
        </p:spPr>
        <p:txBody>
          <a:bodyPr wrap="square">
            <a:spAutoFit/>
          </a:bodyPr>
          <a:lstStyle/>
          <a:p>
            <a:pPr>
              <a:spcAft>
                <a:spcPts val="800"/>
              </a:spcAft>
              <a:defRPr sz="1600">
                <a:solidFill>
                  <a:srgbClr val="232F3E"/>
                </a:solidFill>
                <a:latin typeface="Calibri"/>
              </a:defRPr>
            </a:pPr>
            <a:r>
              <a:t>• Precision: 0.818</a:t>
            </a:r>
          </a:p>
          <a:p>
            <a:pPr>
              <a:spcAft>
                <a:spcPts val="800"/>
              </a:spcAft>
              <a:defRPr sz="1600">
                <a:solidFill>
                  <a:srgbClr val="232F3E"/>
                </a:solidFill>
                <a:latin typeface="Calibri"/>
              </a:defRPr>
            </a:pPr>
            <a:r>
              <a:t>• Recall: 0.891</a:t>
            </a:r>
          </a:p>
          <a:p>
            <a:pPr>
              <a:spcAft>
                <a:spcPts val="800"/>
              </a:spcAft>
              <a:defRPr sz="1600">
                <a:solidFill>
                  <a:srgbClr val="232F3E"/>
                </a:solidFill>
                <a:latin typeface="Calibri"/>
              </a:defRPr>
            </a:pPr>
            <a:r>
              <a:t>• F1-Score: 0.853</a:t>
            </a:r>
          </a:p>
          <a:p>
            <a:pPr>
              <a:spcAft>
                <a:spcPts val="800"/>
              </a:spcAft>
              <a:defRPr sz="1600">
                <a:solidFill>
                  <a:srgbClr val="232F3E"/>
                </a:solidFill>
                <a:latin typeface="Calibri"/>
              </a:defRPr>
            </a:pPr>
            <a:r>
              <a:t>• PR-AUC: 0.928</a:t>
            </a:r>
          </a:p>
          <a:p>
            <a:pPr>
              <a:spcAft>
                <a:spcPts val="800"/>
              </a:spcAft>
              <a:defRPr sz="1600">
                <a:solidFill>
                  <a:srgbClr val="232F3E"/>
                </a:solidFill>
                <a:latin typeface="Calibri"/>
              </a:defRPr>
            </a:pPr>
            <a:r>
              <a:t>• Default XGBoost parameters</a:t>
            </a:r>
          </a:p>
          <a:p>
            <a:pPr>
              <a:spcAft>
                <a:spcPts val="800"/>
              </a:spcAft>
              <a:defRPr sz="1600">
                <a:solidFill>
                  <a:srgbClr val="232F3E"/>
                </a:solidFill>
                <a:latin typeface="Calibri"/>
              </a:defRPr>
            </a:pPr>
            <a:r>
              <a:t>• Good recall but lower precision</a:t>
            </a:r>
          </a:p>
        </p:txBody>
      </p:sp>
      <p:sp>
        <p:nvSpPr>
          <p:cNvPr id="6" name="Rounded Rectangle 5"/>
          <p:cNvSpPr/>
          <p:nvPr/>
        </p:nvSpPr>
        <p:spPr>
          <a:xfrm>
            <a:off x="6400800" y="1371600"/>
            <a:ext cx="5029200" cy="3200400"/>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0" y="1463040"/>
            <a:ext cx="4754880" cy="365760"/>
          </a:xfrm>
          <a:prstGeom prst="rect">
            <a:avLst/>
          </a:prstGeom>
          <a:noFill/>
        </p:spPr>
        <p:txBody>
          <a:bodyPr wrap="square">
            <a:spAutoFit/>
          </a:bodyPr>
          <a:lstStyle/>
          <a:p>
            <a:pPr algn="l">
              <a:defRPr sz="1800" b="1">
                <a:solidFill>
                  <a:srgbClr val="2ECC71"/>
                </a:solidFill>
                <a:latin typeface="Calibri"/>
              </a:defRPr>
            </a:pPr>
            <a:r>
              <a:t>After Tuning (XGBoost + SMOTE Tuned)</a:t>
            </a:r>
          </a:p>
        </p:txBody>
      </p:sp>
      <p:sp>
        <p:nvSpPr>
          <p:cNvPr id="8" name="TextBox 7"/>
          <p:cNvSpPr txBox="1"/>
          <p:nvPr/>
        </p:nvSpPr>
        <p:spPr>
          <a:xfrm>
            <a:off x="6583680" y="2011680"/>
            <a:ext cx="4754880" cy="2286000"/>
          </a:xfrm>
          <a:prstGeom prst="rect">
            <a:avLst/>
          </a:prstGeom>
          <a:noFill/>
        </p:spPr>
        <p:txBody>
          <a:bodyPr wrap="square">
            <a:spAutoFit/>
          </a:bodyPr>
          <a:lstStyle/>
          <a:p>
            <a:pPr>
              <a:spcAft>
                <a:spcPts val="800"/>
              </a:spcAft>
              <a:defRPr sz="1600">
                <a:solidFill>
                  <a:srgbClr val="232F3E"/>
                </a:solidFill>
                <a:latin typeface="Calibri"/>
              </a:defRPr>
            </a:pPr>
            <a:r>
              <a:t>• Precision: 0.949 (+16%)</a:t>
            </a:r>
          </a:p>
          <a:p>
            <a:pPr>
              <a:spcAft>
                <a:spcPts val="800"/>
              </a:spcAft>
              <a:defRPr sz="1600">
                <a:solidFill>
                  <a:srgbClr val="232F3E"/>
                </a:solidFill>
                <a:latin typeface="Calibri"/>
              </a:defRPr>
            </a:pPr>
            <a:r>
              <a:t>• Recall: 0.887 (-0.4%)</a:t>
            </a:r>
          </a:p>
          <a:p>
            <a:pPr>
              <a:spcAft>
                <a:spcPts val="800"/>
              </a:spcAft>
              <a:defRPr sz="1600">
                <a:solidFill>
                  <a:srgbClr val="232F3E"/>
                </a:solidFill>
                <a:latin typeface="Calibri"/>
              </a:defRPr>
            </a:pPr>
            <a:r>
              <a:t>• F1-Score: 0.920 (+7.8%)</a:t>
            </a:r>
          </a:p>
          <a:p>
            <a:pPr>
              <a:spcAft>
                <a:spcPts val="800"/>
              </a:spcAft>
              <a:defRPr sz="1600">
                <a:solidFill>
                  <a:srgbClr val="232F3E"/>
                </a:solidFill>
                <a:latin typeface="Calibri"/>
              </a:defRPr>
            </a:pPr>
            <a:r>
              <a:t>• PR-AUC: 0.968 (+4.3%)</a:t>
            </a:r>
          </a:p>
          <a:p>
            <a:pPr>
              <a:spcAft>
                <a:spcPts val="800"/>
              </a:spcAft>
              <a:defRPr sz="1600">
                <a:solidFill>
                  <a:srgbClr val="232F3E"/>
                </a:solidFill>
                <a:latin typeface="Calibri"/>
              </a:defRPr>
            </a:pPr>
            <a:r>
              <a:t>• Optimized via RandomizedSearchCV</a:t>
            </a:r>
          </a:p>
          <a:p>
            <a:pPr>
              <a:spcAft>
                <a:spcPts val="800"/>
              </a:spcAft>
              <a:defRPr sz="1600">
                <a:solidFill>
                  <a:srgbClr val="232F3E"/>
                </a:solidFill>
                <a:latin typeface="Calibri"/>
              </a:defRPr>
            </a:pPr>
            <a:r>
              <a:t>• Significant precision gain, minimal recall loss</a:t>
            </a:r>
          </a:p>
        </p:txBody>
      </p:sp>
      <p:sp>
        <p:nvSpPr>
          <p:cNvPr id="9" name="Rounded Rectangle 8"/>
          <p:cNvSpPr/>
          <p:nvPr/>
        </p:nvSpPr>
        <p:spPr>
          <a:xfrm>
            <a:off x="731520" y="5029200"/>
            <a:ext cx="10515600" cy="9144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232F3E"/>
                </a:solidFill>
                <a:latin typeface="Calibri"/>
              </a:defRPr>
            </a:pPr>
            <a:r>
              <a:rPr dirty="0"/>
              <a:t>Tuning improved precision by 16 percentage points while sacrificing only 0.4% recall </a:t>
            </a:r>
            <a:r>
              <a:rPr lang="en-US" dirty="0"/>
              <a:t>which is</a:t>
            </a:r>
            <a:r>
              <a:rPr dirty="0"/>
              <a:t> a major reduction in false alarms with nearly identical fraud detection rate.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t>Model Explainability — SHAP Analysis</a:t>
            </a:r>
          </a:p>
        </p:txBody>
      </p:sp>
      <p:sp>
        <p:nvSpPr>
          <p:cNvPr id="3" name="TextBox 2"/>
          <p:cNvSpPr txBox="1"/>
          <p:nvPr/>
        </p:nvSpPr>
        <p:spPr>
          <a:xfrm>
            <a:off x="731520" y="1188720"/>
            <a:ext cx="10515600" cy="731520"/>
          </a:xfrm>
          <a:prstGeom prst="rect">
            <a:avLst/>
          </a:prstGeom>
          <a:noFill/>
        </p:spPr>
        <p:txBody>
          <a:bodyPr wrap="square">
            <a:spAutoFit/>
          </a:bodyPr>
          <a:lstStyle/>
          <a:p>
            <a:pPr algn="l">
              <a:defRPr sz="1800" b="0">
                <a:solidFill>
                  <a:srgbClr val="232F3E"/>
                </a:solidFill>
                <a:latin typeface="Calibri"/>
              </a:defRPr>
            </a:pPr>
            <a:r>
              <a:t>SHAP (SHapley Additive exPlanations) provides both global feature importance and local prediction explanations using game-theoretic Shapley values via TreeExplainer.</a:t>
            </a:r>
          </a:p>
        </p:txBody>
      </p:sp>
      <p:sp>
        <p:nvSpPr>
          <p:cNvPr id="4" name="Rounded Rectangle 3"/>
          <p:cNvSpPr/>
          <p:nvPr/>
        </p:nvSpPr>
        <p:spPr>
          <a:xfrm>
            <a:off x="731520" y="2286000"/>
            <a:ext cx="5029200" cy="32004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377440"/>
            <a:ext cx="4754880" cy="365760"/>
          </a:xfrm>
          <a:prstGeom prst="rect">
            <a:avLst/>
          </a:prstGeom>
          <a:noFill/>
        </p:spPr>
        <p:txBody>
          <a:bodyPr wrap="square">
            <a:spAutoFit/>
          </a:bodyPr>
          <a:lstStyle/>
          <a:p>
            <a:pPr algn="l">
              <a:defRPr sz="2000" b="1">
                <a:solidFill>
                  <a:srgbClr val="00A3E0"/>
                </a:solidFill>
                <a:latin typeface="Calibri"/>
              </a:defRPr>
            </a:pPr>
            <a:r>
              <a:t>Global Explainability</a:t>
            </a:r>
          </a:p>
        </p:txBody>
      </p:sp>
      <p:sp>
        <p:nvSpPr>
          <p:cNvPr id="6" name="TextBox 5"/>
          <p:cNvSpPr txBox="1"/>
          <p:nvPr/>
        </p:nvSpPr>
        <p:spPr>
          <a:xfrm>
            <a:off x="914400" y="2926080"/>
            <a:ext cx="4754880" cy="2286000"/>
          </a:xfrm>
          <a:prstGeom prst="rect">
            <a:avLst/>
          </a:prstGeom>
          <a:noFill/>
        </p:spPr>
        <p:txBody>
          <a:bodyPr wrap="square">
            <a:spAutoFit/>
          </a:bodyPr>
          <a:lstStyle/>
          <a:p>
            <a:pPr>
              <a:spcAft>
                <a:spcPts val="800"/>
              </a:spcAft>
              <a:defRPr sz="1500">
                <a:solidFill>
                  <a:srgbClr val="232F3E"/>
                </a:solidFill>
                <a:latin typeface="Calibri"/>
              </a:defRPr>
            </a:pPr>
            <a:r>
              <a:t>• SHAP Summary Plot ranks features by impact</a:t>
            </a:r>
          </a:p>
          <a:p>
            <a:pPr>
              <a:spcAft>
                <a:spcPts val="800"/>
              </a:spcAft>
              <a:defRPr sz="1500">
                <a:solidFill>
                  <a:srgbClr val="232F3E"/>
                </a:solidFill>
                <a:latin typeface="Calibri"/>
              </a:defRPr>
            </a:pPr>
            <a:r>
              <a:t>• Shows direction and magnitude of effect</a:t>
            </a:r>
          </a:p>
          <a:p>
            <a:pPr>
              <a:spcAft>
                <a:spcPts val="800"/>
              </a:spcAft>
              <a:defRPr sz="1500">
                <a:solidFill>
                  <a:srgbClr val="232F3E"/>
                </a:solidFill>
                <a:latin typeface="Calibri"/>
              </a:defRPr>
            </a:pPr>
            <a:r>
              <a:t>• Computed on 5,000 sample test instances</a:t>
            </a:r>
          </a:p>
          <a:p>
            <a:pPr>
              <a:spcAft>
                <a:spcPts val="800"/>
              </a:spcAft>
              <a:defRPr sz="1500">
                <a:solidFill>
                  <a:srgbClr val="232F3E"/>
                </a:solidFill>
                <a:latin typeface="Calibri"/>
              </a:defRPr>
            </a:pPr>
            <a:r>
              <a:t>• Key drivers: transaction amount, category,</a:t>
            </a:r>
          </a:p>
          <a:p>
            <a:pPr>
              <a:spcAft>
                <a:spcPts val="800"/>
              </a:spcAft>
              <a:defRPr sz="1500">
                <a:solidFill>
                  <a:srgbClr val="232F3E"/>
                </a:solidFill>
                <a:latin typeface="Calibri"/>
              </a:defRPr>
            </a:pPr>
            <a:r>
              <a:t>  merchant, time features, age</a:t>
            </a:r>
          </a:p>
        </p:txBody>
      </p:sp>
      <p:sp>
        <p:nvSpPr>
          <p:cNvPr id="7" name="Rounded Rectangle 6"/>
          <p:cNvSpPr/>
          <p:nvPr/>
        </p:nvSpPr>
        <p:spPr>
          <a:xfrm>
            <a:off x="6400800" y="2286000"/>
            <a:ext cx="5029200" cy="3200400"/>
          </a:xfrm>
          <a:prstGeom prst="roundRect">
            <a:avLst/>
          </a:prstGeom>
          <a:solidFill>
            <a:srgbClr val="FDF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2377440"/>
            <a:ext cx="4754880" cy="365760"/>
          </a:xfrm>
          <a:prstGeom prst="rect">
            <a:avLst/>
          </a:prstGeom>
          <a:noFill/>
        </p:spPr>
        <p:txBody>
          <a:bodyPr wrap="square">
            <a:spAutoFit/>
          </a:bodyPr>
          <a:lstStyle/>
          <a:p>
            <a:pPr algn="l">
              <a:defRPr sz="2000" b="1">
                <a:solidFill>
                  <a:srgbClr val="FF9900"/>
                </a:solidFill>
                <a:latin typeface="Calibri"/>
              </a:defRPr>
            </a:pPr>
            <a:r>
              <a:t>Local Explainability</a:t>
            </a:r>
          </a:p>
        </p:txBody>
      </p:sp>
      <p:sp>
        <p:nvSpPr>
          <p:cNvPr id="9" name="TextBox 8"/>
          <p:cNvSpPr txBox="1"/>
          <p:nvPr/>
        </p:nvSpPr>
        <p:spPr>
          <a:xfrm>
            <a:off x="6583680" y="2926080"/>
            <a:ext cx="4754880" cy="2286000"/>
          </a:xfrm>
          <a:prstGeom prst="rect">
            <a:avLst/>
          </a:prstGeom>
          <a:noFill/>
        </p:spPr>
        <p:txBody>
          <a:bodyPr wrap="square">
            <a:spAutoFit/>
          </a:bodyPr>
          <a:lstStyle/>
          <a:p>
            <a:pPr>
              <a:spcAft>
                <a:spcPts val="800"/>
              </a:spcAft>
              <a:defRPr sz="1400">
                <a:solidFill>
                  <a:srgbClr val="232F3E"/>
                </a:solidFill>
                <a:latin typeface="Calibri"/>
              </a:defRPr>
            </a:pPr>
            <a:r>
              <a:t>• SHAP Force Plots for individual predictions</a:t>
            </a:r>
          </a:p>
          <a:p>
            <a:pPr>
              <a:spcAft>
                <a:spcPts val="800"/>
              </a:spcAft>
              <a:defRPr sz="1400">
                <a:solidFill>
                  <a:srgbClr val="232F3E"/>
                </a:solidFill>
                <a:latin typeface="Calibri"/>
              </a:defRPr>
            </a:pPr>
            <a:r>
              <a:t>• Explains why a specific transaction was</a:t>
            </a:r>
          </a:p>
          <a:p>
            <a:pPr>
              <a:spcAft>
                <a:spcPts val="800"/>
              </a:spcAft>
              <a:defRPr sz="1400">
                <a:solidFill>
                  <a:srgbClr val="232F3E"/>
                </a:solidFill>
                <a:latin typeface="Calibri"/>
              </a:defRPr>
            </a:pPr>
            <a:r>
              <a:t>  flagged as fraud or legitimate</a:t>
            </a:r>
          </a:p>
          <a:p>
            <a:pPr>
              <a:spcAft>
                <a:spcPts val="800"/>
              </a:spcAft>
              <a:defRPr sz="1400">
                <a:solidFill>
                  <a:srgbClr val="232F3E"/>
                </a:solidFill>
                <a:latin typeface="Calibri"/>
              </a:defRPr>
            </a:pPr>
            <a:r>
              <a:t>• True Positive example: shows features</a:t>
            </a:r>
          </a:p>
          <a:p>
            <a:pPr>
              <a:spcAft>
                <a:spcPts val="800"/>
              </a:spcAft>
              <a:defRPr sz="1400">
                <a:solidFill>
                  <a:srgbClr val="232F3E"/>
                </a:solidFill>
                <a:latin typeface="Calibri"/>
              </a:defRPr>
            </a:pPr>
            <a:r>
              <a:t>  pushing toward fraud prediction</a:t>
            </a:r>
          </a:p>
          <a:p>
            <a:pPr>
              <a:spcAft>
                <a:spcPts val="800"/>
              </a:spcAft>
              <a:defRPr sz="1400">
                <a:solidFill>
                  <a:srgbClr val="232F3E"/>
                </a:solidFill>
                <a:latin typeface="Calibri"/>
              </a:defRPr>
            </a:pPr>
            <a:r>
              <a:t>• True Negative example: shows features</a:t>
            </a:r>
          </a:p>
          <a:p>
            <a:pPr>
              <a:spcAft>
                <a:spcPts val="800"/>
              </a:spcAft>
              <a:defRPr sz="1400">
                <a:solidFill>
                  <a:srgbClr val="232F3E"/>
                </a:solidFill>
                <a:latin typeface="Calibri"/>
              </a:defRPr>
            </a:pPr>
            <a:r>
              <a:t>  pushing toward legitimate prediction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t>Fairness &amp; Bias Analysis</a:t>
            </a:r>
          </a:p>
        </p:txBody>
      </p:sp>
      <p:sp>
        <p:nvSpPr>
          <p:cNvPr id="3" name="TextBox 2"/>
          <p:cNvSpPr txBox="1"/>
          <p:nvPr/>
        </p:nvSpPr>
        <p:spPr>
          <a:xfrm>
            <a:off x="731520" y="1097280"/>
            <a:ext cx="4572000" cy="457200"/>
          </a:xfrm>
          <a:prstGeom prst="rect">
            <a:avLst/>
          </a:prstGeom>
          <a:noFill/>
        </p:spPr>
        <p:txBody>
          <a:bodyPr wrap="square">
            <a:spAutoFit/>
          </a:bodyPr>
          <a:lstStyle/>
          <a:p>
            <a:pPr algn="l">
              <a:defRPr sz="2000" b="1">
                <a:solidFill>
                  <a:srgbClr val="232F3E"/>
                </a:solidFill>
                <a:latin typeface="Calibri"/>
              </a:defRPr>
            </a:pPr>
            <a:r>
              <a:t>Gender Fairness:</a:t>
            </a:r>
          </a:p>
        </p:txBody>
      </p:sp>
      <p:sp>
        <p:nvSpPr>
          <p:cNvPr id="4" name="Rounded Rectangle 3"/>
          <p:cNvSpPr/>
          <p:nvPr/>
        </p:nvSpPr>
        <p:spPr>
          <a:xfrm>
            <a:off x="731520" y="1645920"/>
            <a:ext cx="22860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Gender</a:t>
            </a:r>
          </a:p>
        </p:txBody>
      </p:sp>
      <p:sp>
        <p:nvSpPr>
          <p:cNvPr id="5" name="Rounded Rectangle 4"/>
          <p:cNvSpPr/>
          <p:nvPr/>
        </p:nvSpPr>
        <p:spPr>
          <a:xfrm>
            <a:off x="3017520" y="1645920"/>
            <a:ext cx="13716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Recall</a:t>
            </a:r>
          </a:p>
        </p:txBody>
      </p:sp>
      <p:sp>
        <p:nvSpPr>
          <p:cNvPr id="6" name="Rounded Rectangle 5"/>
          <p:cNvSpPr/>
          <p:nvPr/>
        </p:nvSpPr>
        <p:spPr>
          <a:xfrm>
            <a:off x="4389120" y="1645920"/>
            <a:ext cx="13716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Precision</a:t>
            </a:r>
          </a:p>
        </p:txBody>
      </p:sp>
      <p:sp>
        <p:nvSpPr>
          <p:cNvPr id="7" name="Rounded Rectangle 6"/>
          <p:cNvSpPr/>
          <p:nvPr/>
        </p:nvSpPr>
        <p:spPr>
          <a:xfrm>
            <a:off x="731520" y="2057400"/>
            <a:ext cx="22860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Female</a:t>
            </a:r>
          </a:p>
        </p:txBody>
      </p:sp>
      <p:sp>
        <p:nvSpPr>
          <p:cNvPr id="8" name="Rounded Rectangle 7"/>
          <p:cNvSpPr/>
          <p:nvPr/>
        </p:nvSpPr>
        <p:spPr>
          <a:xfrm>
            <a:off x="3017520" y="205740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0.884</a:t>
            </a:r>
          </a:p>
        </p:txBody>
      </p:sp>
      <p:sp>
        <p:nvSpPr>
          <p:cNvPr id="9" name="Rounded Rectangle 8"/>
          <p:cNvSpPr/>
          <p:nvPr/>
        </p:nvSpPr>
        <p:spPr>
          <a:xfrm>
            <a:off x="4389120" y="205740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0.946</a:t>
            </a:r>
          </a:p>
        </p:txBody>
      </p:sp>
      <p:sp>
        <p:nvSpPr>
          <p:cNvPr id="10" name="Rounded Rectangle 9"/>
          <p:cNvSpPr/>
          <p:nvPr/>
        </p:nvSpPr>
        <p:spPr>
          <a:xfrm>
            <a:off x="731520" y="2468880"/>
            <a:ext cx="22860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Male</a:t>
            </a:r>
          </a:p>
        </p:txBody>
      </p:sp>
      <p:sp>
        <p:nvSpPr>
          <p:cNvPr id="11" name="Rounded Rectangle 10"/>
          <p:cNvSpPr/>
          <p:nvPr/>
        </p:nvSpPr>
        <p:spPr>
          <a:xfrm>
            <a:off x="3017520" y="246888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0.890</a:t>
            </a:r>
          </a:p>
        </p:txBody>
      </p:sp>
      <p:sp>
        <p:nvSpPr>
          <p:cNvPr id="12" name="Rounded Rectangle 11"/>
          <p:cNvSpPr/>
          <p:nvPr/>
        </p:nvSpPr>
        <p:spPr>
          <a:xfrm>
            <a:off x="4389120" y="246888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0.952</a:t>
            </a:r>
          </a:p>
        </p:txBody>
      </p:sp>
      <p:sp>
        <p:nvSpPr>
          <p:cNvPr id="13" name="TextBox 12"/>
          <p:cNvSpPr txBox="1"/>
          <p:nvPr/>
        </p:nvSpPr>
        <p:spPr>
          <a:xfrm>
            <a:off x="6400800" y="1097280"/>
            <a:ext cx="4572000" cy="457200"/>
          </a:xfrm>
          <a:prstGeom prst="rect">
            <a:avLst/>
          </a:prstGeom>
          <a:noFill/>
        </p:spPr>
        <p:txBody>
          <a:bodyPr wrap="square">
            <a:spAutoFit/>
          </a:bodyPr>
          <a:lstStyle/>
          <a:p>
            <a:pPr algn="l">
              <a:defRPr sz="2000" b="1">
                <a:solidFill>
                  <a:srgbClr val="232F3E"/>
                </a:solidFill>
                <a:latin typeface="Calibri"/>
              </a:defRPr>
            </a:pPr>
            <a:r>
              <a:t>Age Group Fairness:</a:t>
            </a:r>
          </a:p>
        </p:txBody>
      </p:sp>
      <p:sp>
        <p:nvSpPr>
          <p:cNvPr id="14" name="Rounded Rectangle 13"/>
          <p:cNvSpPr/>
          <p:nvPr/>
        </p:nvSpPr>
        <p:spPr>
          <a:xfrm>
            <a:off x="6400800" y="1645920"/>
            <a:ext cx="18288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Age Group</a:t>
            </a:r>
          </a:p>
        </p:txBody>
      </p:sp>
      <p:sp>
        <p:nvSpPr>
          <p:cNvPr id="15" name="Rounded Rectangle 14"/>
          <p:cNvSpPr/>
          <p:nvPr/>
        </p:nvSpPr>
        <p:spPr>
          <a:xfrm>
            <a:off x="8229600" y="1645920"/>
            <a:ext cx="13716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Recall</a:t>
            </a:r>
          </a:p>
        </p:txBody>
      </p:sp>
      <p:sp>
        <p:nvSpPr>
          <p:cNvPr id="16" name="Rounded Rectangle 15"/>
          <p:cNvSpPr/>
          <p:nvPr/>
        </p:nvSpPr>
        <p:spPr>
          <a:xfrm>
            <a:off x="9601200" y="1645920"/>
            <a:ext cx="1371600" cy="4114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t>FNR</a:t>
            </a:r>
          </a:p>
        </p:txBody>
      </p:sp>
      <p:sp>
        <p:nvSpPr>
          <p:cNvPr id="17" name="Rounded Rectangle 16"/>
          <p:cNvSpPr/>
          <p:nvPr/>
        </p:nvSpPr>
        <p:spPr>
          <a:xfrm>
            <a:off x="6400800" y="2057400"/>
            <a:ext cx="18288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&lt;25</a:t>
            </a:r>
          </a:p>
        </p:txBody>
      </p:sp>
      <p:sp>
        <p:nvSpPr>
          <p:cNvPr id="18" name="Rounded Rectangle 17"/>
          <p:cNvSpPr/>
          <p:nvPr/>
        </p:nvSpPr>
        <p:spPr>
          <a:xfrm>
            <a:off x="8229600" y="205740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0.871</a:t>
            </a:r>
          </a:p>
        </p:txBody>
      </p:sp>
      <p:sp>
        <p:nvSpPr>
          <p:cNvPr id="19" name="Rounded Rectangle 18"/>
          <p:cNvSpPr/>
          <p:nvPr/>
        </p:nvSpPr>
        <p:spPr>
          <a:xfrm>
            <a:off x="9601200" y="205740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0.129</a:t>
            </a:r>
          </a:p>
        </p:txBody>
      </p:sp>
      <p:sp>
        <p:nvSpPr>
          <p:cNvPr id="20" name="Rounded Rectangle 19"/>
          <p:cNvSpPr/>
          <p:nvPr/>
        </p:nvSpPr>
        <p:spPr>
          <a:xfrm>
            <a:off x="6400800" y="2468880"/>
            <a:ext cx="18288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25-45</a:t>
            </a:r>
          </a:p>
        </p:txBody>
      </p:sp>
      <p:sp>
        <p:nvSpPr>
          <p:cNvPr id="21" name="Rounded Rectangle 20"/>
          <p:cNvSpPr/>
          <p:nvPr/>
        </p:nvSpPr>
        <p:spPr>
          <a:xfrm>
            <a:off x="8229600" y="246888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0.850</a:t>
            </a:r>
          </a:p>
        </p:txBody>
      </p:sp>
      <p:sp>
        <p:nvSpPr>
          <p:cNvPr id="22" name="Rounded Rectangle 21"/>
          <p:cNvSpPr/>
          <p:nvPr/>
        </p:nvSpPr>
        <p:spPr>
          <a:xfrm>
            <a:off x="9601200" y="246888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0.150</a:t>
            </a:r>
          </a:p>
        </p:txBody>
      </p:sp>
      <p:sp>
        <p:nvSpPr>
          <p:cNvPr id="23" name="Rounded Rectangle 22"/>
          <p:cNvSpPr/>
          <p:nvPr/>
        </p:nvSpPr>
        <p:spPr>
          <a:xfrm>
            <a:off x="6400800" y="2880360"/>
            <a:ext cx="18288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45-65</a:t>
            </a:r>
          </a:p>
        </p:txBody>
      </p:sp>
      <p:sp>
        <p:nvSpPr>
          <p:cNvPr id="24" name="Rounded Rectangle 23"/>
          <p:cNvSpPr/>
          <p:nvPr/>
        </p:nvSpPr>
        <p:spPr>
          <a:xfrm>
            <a:off x="8229600" y="288036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0.902</a:t>
            </a:r>
          </a:p>
        </p:txBody>
      </p:sp>
      <p:sp>
        <p:nvSpPr>
          <p:cNvPr id="25" name="Rounded Rectangle 24"/>
          <p:cNvSpPr/>
          <p:nvPr/>
        </p:nvSpPr>
        <p:spPr>
          <a:xfrm>
            <a:off x="9601200" y="2880360"/>
            <a:ext cx="1371600" cy="41148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0.098</a:t>
            </a:r>
          </a:p>
        </p:txBody>
      </p:sp>
      <p:sp>
        <p:nvSpPr>
          <p:cNvPr id="26" name="Rounded Rectangle 25"/>
          <p:cNvSpPr/>
          <p:nvPr/>
        </p:nvSpPr>
        <p:spPr>
          <a:xfrm>
            <a:off x="6400800" y="3291840"/>
            <a:ext cx="18288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232F3E"/>
                </a:solidFill>
                <a:latin typeface="Calibri"/>
              </a:defRPr>
            </a:pPr>
            <a:r>
              <a:t>65+</a:t>
            </a:r>
          </a:p>
        </p:txBody>
      </p:sp>
      <p:sp>
        <p:nvSpPr>
          <p:cNvPr id="27" name="Rounded Rectangle 26"/>
          <p:cNvSpPr/>
          <p:nvPr/>
        </p:nvSpPr>
        <p:spPr>
          <a:xfrm>
            <a:off x="8229600" y="329184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0.933</a:t>
            </a:r>
          </a:p>
        </p:txBody>
      </p:sp>
      <p:sp>
        <p:nvSpPr>
          <p:cNvPr id="28" name="Rounded Rectangle 27"/>
          <p:cNvSpPr/>
          <p:nvPr/>
        </p:nvSpPr>
        <p:spPr>
          <a:xfrm>
            <a:off x="9601200" y="3291840"/>
            <a:ext cx="13716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232F3E"/>
                </a:solidFill>
                <a:latin typeface="Calibri"/>
              </a:defRPr>
            </a:pPr>
            <a:r>
              <a:t>0.067</a:t>
            </a:r>
          </a:p>
        </p:txBody>
      </p:sp>
      <p:sp>
        <p:nvSpPr>
          <p:cNvPr id="29" name="TextBox 28"/>
          <p:cNvSpPr txBox="1"/>
          <p:nvPr/>
        </p:nvSpPr>
        <p:spPr>
          <a:xfrm>
            <a:off x="731520" y="4114800"/>
            <a:ext cx="10515600" cy="457200"/>
          </a:xfrm>
          <a:prstGeom prst="rect">
            <a:avLst/>
          </a:prstGeom>
          <a:noFill/>
        </p:spPr>
        <p:txBody>
          <a:bodyPr wrap="square">
            <a:spAutoFit/>
          </a:bodyPr>
          <a:lstStyle/>
          <a:p>
            <a:pPr algn="l">
              <a:defRPr sz="2000" b="1">
                <a:solidFill>
                  <a:srgbClr val="232F3E"/>
                </a:solidFill>
                <a:latin typeface="Calibri"/>
              </a:defRPr>
            </a:pPr>
            <a:r>
              <a:t>Key Findings:</a:t>
            </a:r>
          </a:p>
        </p:txBody>
      </p:sp>
      <p:sp>
        <p:nvSpPr>
          <p:cNvPr id="30" name="TextBox 29"/>
          <p:cNvSpPr txBox="1"/>
          <p:nvPr/>
        </p:nvSpPr>
        <p:spPr>
          <a:xfrm>
            <a:off x="731520" y="4572000"/>
            <a:ext cx="10515600" cy="1371600"/>
          </a:xfrm>
          <a:prstGeom prst="rect">
            <a:avLst/>
          </a:prstGeom>
          <a:noFill/>
        </p:spPr>
        <p:txBody>
          <a:bodyPr wrap="square">
            <a:spAutoFit/>
          </a:bodyPr>
          <a:lstStyle/>
          <a:p>
            <a:pPr>
              <a:spcAft>
                <a:spcPts val="800"/>
              </a:spcAft>
              <a:defRPr sz="1500">
                <a:solidFill>
                  <a:srgbClr val="232F3E"/>
                </a:solidFill>
                <a:latin typeface="Calibri"/>
              </a:defRPr>
            </a:pPr>
            <a:r>
              <a:rPr dirty="0"/>
              <a:t>• Gender: </a:t>
            </a:r>
            <a:r>
              <a:rPr lang="en-US" dirty="0"/>
              <a:t>There is minimal disparity. R</a:t>
            </a:r>
            <a:r>
              <a:rPr dirty="0"/>
              <a:t>ecall and precision are comparable across male and female groups</a:t>
            </a:r>
          </a:p>
          <a:p>
            <a:pPr>
              <a:spcAft>
                <a:spcPts val="800"/>
              </a:spcAft>
              <a:defRPr sz="1500">
                <a:solidFill>
                  <a:srgbClr val="232F3E"/>
                </a:solidFill>
                <a:latin typeface="Calibri"/>
              </a:defRPr>
            </a:pPr>
            <a:r>
              <a:rPr dirty="0"/>
              <a:t>• Age: Younger groups (25-45) have higher FNR (15%) vs older groups (65+ at 6.7%)</a:t>
            </a:r>
          </a:p>
          <a:p>
            <a:pPr>
              <a:spcAft>
                <a:spcPts val="800"/>
              </a:spcAft>
              <a:defRPr sz="1500">
                <a:solidFill>
                  <a:srgbClr val="232F3E"/>
                </a:solidFill>
                <a:latin typeface="Calibri"/>
              </a:defRPr>
            </a:pPr>
            <a:r>
              <a:rPr dirty="0"/>
              <a:t>• Mitigation: Age-group-specific reweighting or threshold adjustment recommended</a:t>
            </a:r>
          </a:p>
          <a:p>
            <a:pPr>
              <a:spcAft>
                <a:spcPts val="800"/>
              </a:spcAft>
              <a:defRPr sz="1500">
                <a:solidFill>
                  <a:srgbClr val="232F3E"/>
                </a:solidFill>
                <a:latin typeface="Calibri"/>
              </a:defRPr>
            </a:pPr>
            <a:r>
              <a:rPr dirty="0"/>
              <a:t>• FPR is near zero across all groups</a:t>
            </a:r>
            <a:r>
              <a:rPr lang="en-US" dirty="0"/>
              <a:t> and there are </a:t>
            </a:r>
            <a:r>
              <a:rPr dirty="0"/>
              <a:t>very few false alarms regardless of demographic</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82296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FFFFF"/>
                </a:solidFill>
                <a:latin typeface="Calibri"/>
              </a:defRPr>
            </a:pPr>
            <a:r>
              <a:t>Limitations &amp; Next Steps</a:t>
            </a:r>
          </a:p>
        </p:txBody>
      </p:sp>
      <p:sp>
        <p:nvSpPr>
          <p:cNvPr id="3" name="Rounded Rectangle 2"/>
          <p:cNvSpPr/>
          <p:nvPr/>
        </p:nvSpPr>
        <p:spPr>
          <a:xfrm>
            <a:off x="640080" y="1123244"/>
            <a:ext cx="5029200" cy="5006622"/>
          </a:xfrm>
          <a:prstGeom prst="round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914400" y="1463040"/>
            <a:ext cx="4754880" cy="365760"/>
          </a:xfrm>
          <a:prstGeom prst="rect">
            <a:avLst/>
          </a:prstGeom>
          <a:noFill/>
        </p:spPr>
        <p:txBody>
          <a:bodyPr wrap="square">
            <a:spAutoFit/>
          </a:bodyPr>
          <a:lstStyle/>
          <a:p>
            <a:pPr algn="l">
              <a:defRPr sz="2000" b="1">
                <a:solidFill>
                  <a:srgbClr val="E74C3C"/>
                </a:solidFill>
                <a:latin typeface="Calibri"/>
              </a:defRPr>
            </a:pPr>
            <a:r>
              <a:t>Limitations</a:t>
            </a:r>
          </a:p>
        </p:txBody>
      </p:sp>
      <p:sp>
        <p:nvSpPr>
          <p:cNvPr id="5" name="TextBox 4"/>
          <p:cNvSpPr txBox="1"/>
          <p:nvPr/>
        </p:nvSpPr>
        <p:spPr>
          <a:xfrm>
            <a:off x="914400" y="2011680"/>
            <a:ext cx="4754880" cy="2743200"/>
          </a:xfrm>
          <a:prstGeom prst="rect">
            <a:avLst/>
          </a:prstGeom>
          <a:noFill/>
        </p:spPr>
        <p:txBody>
          <a:bodyPr wrap="square">
            <a:spAutoFit/>
          </a:bodyPr>
          <a:lstStyle/>
          <a:p>
            <a:pPr>
              <a:spcAft>
                <a:spcPts val="400"/>
              </a:spcAft>
              <a:defRPr sz="1500">
                <a:solidFill>
                  <a:srgbClr val="232F3E"/>
                </a:solidFill>
                <a:latin typeface="Calibri"/>
              </a:defRPr>
            </a:pPr>
            <a:r>
              <a:rPr dirty="0"/>
              <a:t>• Severe class imbalance may still affect</a:t>
            </a:r>
          </a:p>
          <a:p>
            <a:pPr>
              <a:spcAft>
                <a:spcPts val="400"/>
              </a:spcAft>
              <a:defRPr sz="1500">
                <a:solidFill>
                  <a:srgbClr val="232F3E"/>
                </a:solidFill>
                <a:latin typeface="Calibri"/>
              </a:defRPr>
            </a:pPr>
            <a:r>
              <a:rPr dirty="0"/>
              <a:t>  generalization to production data</a:t>
            </a:r>
          </a:p>
          <a:p>
            <a:pPr>
              <a:spcAft>
                <a:spcPts val="400"/>
              </a:spcAft>
              <a:defRPr sz="1500">
                <a:solidFill>
                  <a:srgbClr val="232F3E"/>
                </a:solidFill>
                <a:latin typeface="Calibri"/>
              </a:defRPr>
            </a:pPr>
            <a:endParaRPr dirty="0"/>
          </a:p>
          <a:p>
            <a:pPr>
              <a:spcAft>
                <a:spcPts val="400"/>
              </a:spcAft>
              <a:defRPr sz="1500">
                <a:solidFill>
                  <a:srgbClr val="232F3E"/>
                </a:solidFill>
                <a:latin typeface="Calibri"/>
              </a:defRPr>
            </a:pPr>
            <a:r>
              <a:rPr dirty="0"/>
              <a:t>• SMOTE synthetic samples may not fully</a:t>
            </a:r>
          </a:p>
          <a:p>
            <a:pPr>
              <a:spcAft>
                <a:spcPts val="400"/>
              </a:spcAft>
              <a:defRPr sz="1500">
                <a:solidFill>
                  <a:srgbClr val="232F3E"/>
                </a:solidFill>
                <a:latin typeface="Calibri"/>
              </a:defRPr>
            </a:pPr>
            <a:r>
              <a:rPr dirty="0"/>
              <a:t>  reflect real-world fraud patterns</a:t>
            </a:r>
          </a:p>
          <a:p>
            <a:pPr>
              <a:spcAft>
                <a:spcPts val="400"/>
              </a:spcAft>
              <a:defRPr sz="1500">
                <a:solidFill>
                  <a:srgbClr val="232F3E"/>
                </a:solidFill>
                <a:latin typeface="Calibri"/>
              </a:defRPr>
            </a:pPr>
            <a:endParaRPr dirty="0"/>
          </a:p>
          <a:p>
            <a:pPr>
              <a:spcAft>
                <a:spcPts val="400"/>
              </a:spcAft>
              <a:defRPr sz="1500">
                <a:solidFill>
                  <a:srgbClr val="232F3E"/>
                </a:solidFill>
                <a:latin typeface="Calibri"/>
              </a:defRPr>
            </a:pPr>
            <a:r>
              <a:rPr dirty="0"/>
              <a:t>• Model performance may degrade as</a:t>
            </a:r>
          </a:p>
          <a:p>
            <a:pPr>
              <a:spcAft>
                <a:spcPts val="400"/>
              </a:spcAft>
              <a:defRPr sz="1500">
                <a:solidFill>
                  <a:srgbClr val="232F3E"/>
                </a:solidFill>
                <a:latin typeface="Calibri"/>
              </a:defRPr>
            </a:pPr>
            <a:r>
              <a:rPr dirty="0"/>
              <a:t>  fraud patterns evolve over time</a:t>
            </a:r>
          </a:p>
          <a:p>
            <a:pPr>
              <a:spcAft>
                <a:spcPts val="400"/>
              </a:spcAft>
              <a:defRPr sz="1500">
                <a:solidFill>
                  <a:srgbClr val="232F3E"/>
                </a:solidFill>
                <a:latin typeface="Calibri"/>
              </a:defRPr>
            </a:pPr>
            <a:endParaRPr dirty="0"/>
          </a:p>
          <a:p>
            <a:pPr>
              <a:spcAft>
                <a:spcPts val="400"/>
              </a:spcAft>
              <a:defRPr sz="1500">
                <a:solidFill>
                  <a:srgbClr val="232F3E"/>
                </a:solidFill>
                <a:latin typeface="Calibri"/>
              </a:defRPr>
            </a:pPr>
            <a:r>
              <a:rPr dirty="0"/>
              <a:t>• Age-based FNR disparity needs</a:t>
            </a:r>
          </a:p>
          <a:p>
            <a:pPr>
              <a:spcAft>
                <a:spcPts val="400"/>
              </a:spcAft>
              <a:defRPr sz="1500">
                <a:solidFill>
                  <a:srgbClr val="232F3E"/>
                </a:solidFill>
                <a:latin typeface="Calibri"/>
              </a:defRPr>
            </a:pPr>
            <a:r>
              <a:rPr dirty="0"/>
              <a:t>  mitigation before production use</a:t>
            </a:r>
          </a:p>
        </p:txBody>
      </p:sp>
      <p:sp>
        <p:nvSpPr>
          <p:cNvPr id="6" name="Rounded Rectangle 5"/>
          <p:cNvSpPr/>
          <p:nvPr/>
        </p:nvSpPr>
        <p:spPr>
          <a:xfrm>
            <a:off x="6309360" y="1123244"/>
            <a:ext cx="5029200" cy="5006622"/>
          </a:xfrm>
          <a:prstGeom prst="roundRect">
            <a:avLst/>
          </a:prstGeom>
          <a:solidFill>
            <a:srgbClr val="E8F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0" y="1463040"/>
            <a:ext cx="4754880" cy="365760"/>
          </a:xfrm>
          <a:prstGeom prst="rect">
            <a:avLst/>
          </a:prstGeom>
          <a:noFill/>
        </p:spPr>
        <p:txBody>
          <a:bodyPr wrap="square">
            <a:spAutoFit/>
          </a:bodyPr>
          <a:lstStyle/>
          <a:p>
            <a:pPr algn="l">
              <a:defRPr sz="2000" b="1">
                <a:solidFill>
                  <a:srgbClr val="2ECC71"/>
                </a:solidFill>
                <a:latin typeface="Calibri"/>
              </a:defRPr>
            </a:pPr>
            <a:r>
              <a:t>Next Steps</a:t>
            </a:r>
          </a:p>
        </p:txBody>
      </p:sp>
      <p:sp>
        <p:nvSpPr>
          <p:cNvPr id="8" name="TextBox 7"/>
          <p:cNvSpPr txBox="1"/>
          <p:nvPr/>
        </p:nvSpPr>
        <p:spPr>
          <a:xfrm>
            <a:off x="6583680" y="2011680"/>
            <a:ext cx="4754880" cy="2743200"/>
          </a:xfrm>
          <a:prstGeom prst="rect">
            <a:avLst/>
          </a:prstGeom>
          <a:noFill/>
        </p:spPr>
        <p:txBody>
          <a:bodyPr wrap="square">
            <a:spAutoFit/>
          </a:bodyPr>
          <a:lstStyle/>
          <a:p>
            <a:pPr>
              <a:spcAft>
                <a:spcPts val="400"/>
              </a:spcAft>
              <a:defRPr sz="1500">
                <a:solidFill>
                  <a:srgbClr val="232F3E"/>
                </a:solidFill>
                <a:latin typeface="Calibri"/>
              </a:defRPr>
            </a:pPr>
            <a:r>
              <a:t>• Implement model monitoring and drift</a:t>
            </a:r>
          </a:p>
          <a:p>
            <a:pPr>
              <a:spcAft>
                <a:spcPts val="400"/>
              </a:spcAft>
              <a:defRPr sz="1500">
                <a:solidFill>
                  <a:srgbClr val="232F3E"/>
                </a:solidFill>
                <a:latin typeface="Calibri"/>
              </a:defRPr>
            </a:pPr>
            <a:r>
              <a:t>  detection in production</a:t>
            </a:r>
          </a:p>
          <a:p>
            <a:pPr>
              <a:spcAft>
                <a:spcPts val="400"/>
              </a:spcAft>
              <a:defRPr sz="1500">
                <a:solidFill>
                  <a:srgbClr val="232F3E"/>
                </a:solidFill>
                <a:latin typeface="Calibri"/>
              </a:defRPr>
            </a:pPr>
            <a:endParaRPr/>
          </a:p>
          <a:p>
            <a:pPr>
              <a:spcAft>
                <a:spcPts val="400"/>
              </a:spcAft>
              <a:defRPr sz="1500">
                <a:solidFill>
                  <a:srgbClr val="232F3E"/>
                </a:solidFill>
                <a:latin typeface="Calibri"/>
              </a:defRPr>
            </a:pPr>
            <a:r>
              <a:t>• Explore threshold optimization per</a:t>
            </a:r>
          </a:p>
          <a:p>
            <a:pPr>
              <a:spcAft>
                <a:spcPts val="400"/>
              </a:spcAft>
              <a:defRPr sz="1500">
                <a:solidFill>
                  <a:srgbClr val="232F3E"/>
                </a:solidFill>
                <a:latin typeface="Calibri"/>
              </a:defRPr>
            </a:pPr>
            <a:r>
              <a:t>  demographic group for fairness</a:t>
            </a:r>
          </a:p>
          <a:p>
            <a:pPr>
              <a:spcAft>
                <a:spcPts val="400"/>
              </a:spcAft>
              <a:defRPr sz="1500">
                <a:solidFill>
                  <a:srgbClr val="232F3E"/>
                </a:solidFill>
                <a:latin typeface="Calibri"/>
              </a:defRPr>
            </a:pPr>
            <a:endParaRPr/>
          </a:p>
          <a:p>
            <a:pPr>
              <a:spcAft>
                <a:spcPts val="400"/>
              </a:spcAft>
              <a:defRPr sz="1500">
                <a:solidFill>
                  <a:srgbClr val="232F3E"/>
                </a:solidFill>
                <a:latin typeface="Calibri"/>
              </a:defRPr>
            </a:pPr>
            <a:r>
              <a:t>• Test with real-time streaming data</a:t>
            </a:r>
          </a:p>
          <a:p>
            <a:pPr>
              <a:spcAft>
                <a:spcPts val="400"/>
              </a:spcAft>
              <a:defRPr sz="1500">
                <a:solidFill>
                  <a:srgbClr val="232F3E"/>
                </a:solidFill>
                <a:latin typeface="Calibri"/>
              </a:defRPr>
            </a:pPr>
            <a:endParaRPr/>
          </a:p>
          <a:p>
            <a:pPr>
              <a:spcAft>
                <a:spcPts val="400"/>
              </a:spcAft>
              <a:defRPr sz="1500">
                <a:solidFill>
                  <a:srgbClr val="232F3E"/>
                </a:solidFill>
                <a:latin typeface="Calibri"/>
              </a:defRPr>
            </a:pPr>
            <a:r>
              <a:t>• Periodic retraining pipeline to adapt</a:t>
            </a:r>
          </a:p>
          <a:p>
            <a:pPr>
              <a:spcAft>
                <a:spcPts val="400"/>
              </a:spcAft>
              <a:defRPr sz="1500">
                <a:solidFill>
                  <a:srgbClr val="232F3E"/>
                </a:solidFill>
                <a:latin typeface="Calibri"/>
              </a:defRPr>
            </a:pPr>
            <a:r>
              <a:t>  to evolving fraud patterns</a:t>
            </a:r>
          </a:p>
          <a:p>
            <a:pPr>
              <a:spcAft>
                <a:spcPts val="400"/>
              </a:spcAft>
              <a:defRPr sz="1500">
                <a:solidFill>
                  <a:srgbClr val="232F3E"/>
                </a:solidFill>
                <a:latin typeface="Calibri"/>
              </a:defRPr>
            </a:pPr>
            <a:endParaRPr/>
          </a:p>
          <a:p>
            <a:pPr>
              <a:spcAft>
                <a:spcPts val="400"/>
              </a:spcAft>
              <a:defRPr sz="1500">
                <a:solidFill>
                  <a:srgbClr val="232F3E"/>
                </a:solidFill>
                <a:latin typeface="Calibri"/>
              </a:defRPr>
            </a:pPr>
            <a:r>
              <a:t>• A/B testing against rule-based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1041</Words>
  <Application>Microsoft Macintosh PowerPoint</Application>
  <PresentationFormat>Widescreen</PresentationFormat>
  <Paragraphs>237</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Dimaapi, Leslie Ann</cp:lastModifiedBy>
  <cp:revision>3</cp:revision>
  <dcterms:created xsi:type="dcterms:W3CDTF">2013-01-27T09:14:16Z</dcterms:created>
  <dcterms:modified xsi:type="dcterms:W3CDTF">2026-04-13T14:56:58Z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2026-04-13T14:43:33Z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eb10cbb6-34d6-4868-9275-e6bd745ca827</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